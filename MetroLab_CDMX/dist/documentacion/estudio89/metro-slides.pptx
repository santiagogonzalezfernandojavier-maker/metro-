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1" r:id="rId48"/>
    <p:sldId id="342" r:id="rId49"/>
    <p:sldId id="343" r:id="rId50"/>
    <p:sldId id="278" r:id="rId51"/>
    <p:sldId id="279" r:id="rId52"/>
    <p:sldId id="280" r:id="rId53"/>
    <p:sldId id="281" r:id="rId54"/>
    <p:sldId id="282" r:id="rId55"/>
    <p:sldId id="283" r:id="rId56"/>
    <p:sldId id="284" r:id="rId57"/>
    <p:sldId id="285" r:id="rId58"/>
    <p:sldId id="286" r:id="rId59"/>
    <p:sldId id="287" r:id="rId60"/>
    <p:sldId id="288" r:id="rId61"/>
    <p:sldId id="289" r:id="rId62"/>
    <p:sldId id="290" r:id="rId63"/>
    <p:sldId id="291" r:id="rId64"/>
    <p:sldId id="292" r:id="rId65"/>
    <p:sldId id="293" r:id="rId66"/>
    <p:sldId id="294" r:id="rId67"/>
    <p:sldId id="295" r:id="rId68"/>
    <p:sldId id="296" r:id="rId69"/>
    <p:sldId id="297" r:id="rId70"/>
    <p:sldId id="298" r:id="rId71"/>
    <p:sldId id="299" r:id="rId72"/>
    <p:sldId id="300" r:id="rId73"/>
    <p:sldId id="301" r:id="rId74"/>
    <p:sldId id="302" r:id="rId75"/>
    <p:sldId id="303" r:id="rId76"/>
    <p:sldId id="304" r:id="rId77"/>
    <p:sldId id="305" r:id="rId78"/>
    <p:sldId id="306" r:id="rId79"/>
    <p:sldId id="307" r:id="rId80"/>
    <p:sldId id="308" r:id="rId81"/>
    <p:sldId id="309" r:id="rId82"/>
    <p:sldId id="310" r:id="rId83"/>
    <p:sldId id="311" r:id="rId84"/>
    <p:sldId id="312" r:id="rId85"/>
    <p:sldId id="313" r:id="rId8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4" d="100"/>
          <a:sy n="114"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517AD-ED79-42C9-88D9-98D34C082F2B}" type="datetimeFigureOut">
              <a:rPr lang="es-MX" smtClean="0"/>
              <a:t>03/12/2020</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F2F1B1-006E-4E95-9F5C-6C62151F2C0E}" type="slidenum">
              <a:rPr lang="es-MX" smtClean="0"/>
              <a:t>‹Nº›</a:t>
            </a:fld>
            <a:endParaRPr lang="es-MX"/>
          </a:p>
        </p:txBody>
      </p:sp>
    </p:spTree>
    <p:extLst>
      <p:ext uri="{BB962C8B-B14F-4D97-AF65-F5344CB8AC3E}">
        <p14:creationId xmlns:p14="http://schemas.microsoft.com/office/powerpoint/2010/main" val="1675158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MX" dirty="0"/>
          </a:p>
        </p:txBody>
      </p:sp>
      <p:sp>
        <p:nvSpPr>
          <p:cNvPr id="4" name="3 Marcador de número de diapositiva"/>
          <p:cNvSpPr>
            <a:spLocks noGrp="1"/>
          </p:cNvSpPr>
          <p:nvPr>
            <p:ph type="sldNum" sz="quarter" idx="10"/>
          </p:nvPr>
        </p:nvSpPr>
        <p:spPr/>
        <p:txBody>
          <a:bodyPr/>
          <a:lstStyle/>
          <a:p>
            <a:fld id="{E2F38106-CA12-455F-B0BD-6BA1F7B5FC34}" type="slidenum">
              <a:rPr lang="es-MX" smtClean="0"/>
              <a:t>83</a:t>
            </a:fld>
            <a:endParaRPr lang="es-MX"/>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76B746F4-BB43-492B-B05F-15C8DDEAC375}" type="datetimeFigureOut">
              <a:rPr lang="es-MX" smtClean="0"/>
              <a:t>03/12/2020</a:t>
            </a:fld>
            <a:endParaRPr lang="es-MX"/>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s-MX"/>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9D11202-0223-4B8C-880A-027B99501E13}" type="slidenum">
              <a:rPr lang="es-MX" smtClean="0"/>
              <a:t>‹Nº›</a:t>
            </a:fld>
            <a:endParaRPr lang="es-MX"/>
          </a:p>
        </p:txBody>
      </p:sp>
    </p:spTree>
    <p:extLst>
      <p:ext uri="{BB962C8B-B14F-4D97-AF65-F5344CB8AC3E}">
        <p14:creationId xmlns:p14="http://schemas.microsoft.com/office/powerpoint/2010/main" val="11345767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6B746F4-BB43-492B-B05F-15C8DDEAC375}" type="datetimeFigureOut">
              <a:rPr lang="es-MX" smtClean="0"/>
              <a:t>03/12/2020</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3357301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76B746F4-BB43-492B-B05F-15C8DDEAC375}" type="datetimeFigureOut">
              <a:rPr lang="es-MX" smtClean="0"/>
              <a:t>03/12/2020</a:t>
            </a:fld>
            <a:endParaRPr lang="es-MX"/>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s-MX"/>
          </a:p>
        </p:txBody>
      </p:sp>
      <p:sp>
        <p:nvSpPr>
          <p:cNvPr id="6" name="Slide Number Placeholder 5"/>
          <p:cNvSpPr>
            <a:spLocks noGrp="1"/>
          </p:cNvSpPr>
          <p:nvPr>
            <p:ph type="sldNum" sz="quarter" idx="12"/>
          </p:nvPr>
        </p:nvSpPr>
        <p:spPr>
          <a:xfrm>
            <a:off x="8604504" y="5211060"/>
            <a:ext cx="2112264" cy="228600"/>
          </a:xfrm>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13560858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6B746F4-BB43-492B-B05F-15C8DDEAC375}" type="datetimeFigureOut">
              <a:rPr lang="es-MX" smtClean="0"/>
              <a:t>03/12/2020</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1335564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6B746F4-BB43-492B-B05F-15C8DDEAC375}" type="datetimeFigureOut">
              <a:rPr lang="es-MX" smtClean="0"/>
              <a:t>03/12/2020</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1256018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6B746F4-BB43-492B-B05F-15C8DDEAC375}" type="datetimeFigureOut">
              <a:rPr lang="es-MX" smtClean="0"/>
              <a:t>03/12/2020</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2680286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B746F4-BB43-492B-B05F-15C8DDEAC375}" type="datetimeFigureOut">
              <a:rPr lang="es-MX" smtClean="0"/>
              <a:t>03/12/2020</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5986849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8" name="Date Placeholder 7"/>
          <p:cNvSpPr>
            <a:spLocks noGrp="1"/>
          </p:cNvSpPr>
          <p:nvPr>
            <p:ph type="dt" sz="half" idx="10"/>
          </p:nvPr>
        </p:nvSpPr>
        <p:spPr/>
        <p:txBody>
          <a:bodyPr/>
          <a:lstStyle/>
          <a:p>
            <a:fld id="{76B746F4-BB43-492B-B05F-15C8DDEAC375}" type="datetimeFigureOut">
              <a:rPr lang="es-MX" smtClean="0"/>
              <a:t>03/12/2020</a:t>
            </a:fld>
            <a:endParaRPr lang="es-MX"/>
          </a:p>
        </p:txBody>
      </p:sp>
      <p:sp>
        <p:nvSpPr>
          <p:cNvPr id="9" name="Footer Placeholder 8"/>
          <p:cNvSpPr>
            <a:spLocks noGrp="1"/>
          </p:cNvSpPr>
          <p:nvPr>
            <p:ph type="ftr" sz="quarter" idx="11"/>
          </p:nvPr>
        </p:nvSpPr>
        <p:spPr/>
        <p:txBody>
          <a:bodyPr/>
          <a:lstStyle>
            <a:lvl1pPr algn="r">
              <a:defRPr/>
            </a:lvl1pPr>
          </a:lstStyle>
          <a:p>
            <a:endParaRPr lang="es-MX"/>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9D11202-0223-4B8C-880A-027B99501E13}" type="slidenum">
              <a:rPr lang="es-MX" smtClean="0"/>
              <a:t>‹Nº›</a:t>
            </a:fld>
            <a:endParaRPr lang="es-MX"/>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203530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76B746F4-BB43-492B-B05F-15C8DDEAC375}" type="datetimeFigureOut">
              <a:rPr lang="es-MX" smtClean="0"/>
              <a:t>03/12/2020</a:t>
            </a:fld>
            <a:endParaRPr lang="es-MX"/>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s-MX"/>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9D11202-0223-4B8C-880A-027B99501E13}" type="slidenum">
              <a:rPr lang="es-MX" smtClean="0"/>
              <a:t>‹Nº›</a:t>
            </a:fld>
            <a:endParaRPr lang="es-MX"/>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99960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6B746F4-BB43-492B-B05F-15C8DDEAC375}" type="datetimeFigureOut">
              <a:rPr lang="es-MX" smtClean="0"/>
              <a:t>03/12/2020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41939048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6B746F4-BB43-492B-B05F-15C8DDEAC375}" type="datetimeFigureOut">
              <a:rPr lang="es-MX" smtClean="0"/>
              <a:t>03/12/2020</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49D11202-0223-4B8C-880A-027B99501E13}" type="slidenum">
              <a:rPr lang="es-MX" smtClean="0"/>
              <a:t>‹Nº›</a:t>
            </a:fld>
            <a:endParaRPr lang="es-MX"/>
          </a:p>
        </p:txBody>
      </p:sp>
    </p:spTree>
    <p:extLst>
      <p:ext uri="{BB962C8B-B14F-4D97-AF65-F5344CB8AC3E}">
        <p14:creationId xmlns:p14="http://schemas.microsoft.com/office/powerpoint/2010/main" val="27044413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76B746F4-BB43-492B-B05F-15C8DDEAC375}" type="datetimeFigureOut">
              <a:rPr lang="es-MX" smtClean="0"/>
              <a:t>03/12/2020</a:t>
            </a:fld>
            <a:endParaRPr lang="es-MX"/>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s-MX"/>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9D11202-0223-4B8C-880A-027B99501E13}" type="slidenum">
              <a:rPr lang="es-MX" smtClean="0"/>
              <a:t>‹Nº›</a:t>
            </a:fld>
            <a:endParaRPr lang="es-MX"/>
          </a:p>
        </p:txBody>
      </p:sp>
    </p:spTree>
    <p:extLst>
      <p:ext uri="{BB962C8B-B14F-4D97-AF65-F5344CB8AC3E}">
        <p14:creationId xmlns:p14="http://schemas.microsoft.com/office/powerpoint/2010/main" val="151760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FASES/ELECTRICIDAD1/P&#225;gina%20del%20Sistema%20de%20Transporte%20Colectivo8_files/dt_neumatico1.jpg" TargetMode="External"/><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image" Target="FASES/ELECTRICIDAD1/P&#225;gina%20del%20Sistema%20de%20Transporte%20Colectivo8_files/dt_neumatico2.jpg" TargetMode="External"/><Relationship Id="rId4" Type="http://schemas.openxmlformats.org/officeDocument/2006/relationships/image" Target="../media/image24.jpeg"/></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3.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7.png"/></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8.png"/></Relationships>
</file>

<file path=ppt/slides/_rels/slide8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C406AEE-E404-44D5-A2A9-14F5926E6D44}"/>
              </a:ext>
            </a:extLst>
          </p:cNvPr>
          <p:cNvSpPr>
            <a:spLocks noGrp="1"/>
          </p:cNvSpPr>
          <p:nvPr>
            <p:ph type="title"/>
          </p:nvPr>
        </p:nvSpPr>
        <p:spPr>
          <a:xfrm>
            <a:off x="993010" y="-167640"/>
            <a:ext cx="10058400" cy="1371600"/>
          </a:xfrm>
        </p:spPr>
        <p:txBody>
          <a:bodyPr>
            <a:normAutofit/>
          </a:bodyPr>
          <a:lstStyle/>
          <a:p>
            <a:pPr algn="ctr"/>
            <a:r>
              <a:rPr lang="es-MX" sz="3200" b="1" u="sng" dirty="0"/>
              <a:t>Etapas de Construcción de la red del STC Metro</a:t>
            </a:r>
          </a:p>
        </p:txBody>
      </p:sp>
      <p:sp>
        <p:nvSpPr>
          <p:cNvPr id="5" name="Marcador de contenido 4">
            <a:extLst>
              <a:ext uri="{FF2B5EF4-FFF2-40B4-BE49-F238E27FC236}">
                <a16:creationId xmlns:a16="http://schemas.microsoft.com/office/drawing/2014/main" id="{F376F0D0-C707-4DE0-BBC3-B3B7AF86AB90}"/>
              </a:ext>
            </a:extLst>
          </p:cNvPr>
          <p:cNvSpPr>
            <a:spLocks noGrp="1"/>
          </p:cNvSpPr>
          <p:nvPr>
            <p:ph idx="1"/>
          </p:nvPr>
        </p:nvSpPr>
        <p:spPr>
          <a:xfrm>
            <a:off x="352246" y="1529949"/>
            <a:ext cx="7328713" cy="7638757"/>
          </a:xfrm>
        </p:spPr>
        <p:txBody>
          <a:bodyPr>
            <a:normAutofit/>
          </a:bodyPr>
          <a:lstStyle/>
          <a:p>
            <a:pPr algn="just">
              <a:buFont typeface="Wingdings" panose="05000000000000000000" pitchFamily="2" charset="2"/>
              <a:buChar char="v"/>
            </a:pPr>
            <a:r>
              <a:rPr lang="es-MX" sz="2000" b="1" dirty="0"/>
              <a:t>Primera etapa </a:t>
            </a:r>
            <a:r>
              <a:rPr lang="es-MX" sz="2000" dirty="0"/>
              <a:t>(19 de Junio de 1967-10 de Junio de 1972):</a:t>
            </a:r>
          </a:p>
          <a:p>
            <a:pPr marL="0" indent="0" algn="just">
              <a:buNone/>
            </a:pPr>
            <a:endParaRPr lang="es-MX" sz="2000" dirty="0"/>
          </a:p>
          <a:p>
            <a:pPr marL="0" indent="0" algn="just">
              <a:buNone/>
            </a:pPr>
            <a:r>
              <a:rPr lang="es-ES" sz="2000" dirty="0"/>
              <a:t>estuvo bajo la coordinación del Arquitecto Ángel Borja.</a:t>
            </a:r>
            <a:r>
              <a:rPr lang="es-MX" sz="2000" dirty="0"/>
              <a:t> Participaron entre 1,200 y 4,000 especialistas.</a:t>
            </a:r>
          </a:p>
          <a:p>
            <a:pPr marL="0" indent="0" algn="just">
              <a:buNone/>
            </a:pPr>
            <a:r>
              <a:rPr lang="es-MX" sz="2000" dirty="0"/>
              <a:t>En esta primera etapa de construcción llegaron a laborar 48 mil obreros, 4 mil técnicos y 3 mil administradores, aproximadamente. Lo anterior permitió terminar en promedio un kilometro de Metro por mes.</a:t>
            </a:r>
          </a:p>
          <a:p>
            <a:pPr marL="0" indent="0" algn="just">
              <a:buNone/>
            </a:pPr>
            <a:r>
              <a:rPr lang="es-ES" sz="2000" dirty="0"/>
              <a:t>Los grupos interdisciplinarios permitieron realizar los trazos definitivos de las líneas del Metro, de tal forma que durante su construcción se presentaron un mínimo de contingencias</a:t>
            </a:r>
            <a:r>
              <a:rPr lang="es-ES" dirty="0"/>
              <a:t>. </a:t>
            </a:r>
            <a:endParaRPr lang="es-MX" dirty="0"/>
          </a:p>
          <a:p>
            <a:pPr marL="0" indent="0" algn="just">
              <a:buNone/>
            </a:pPr>
            <a:endParaRPr lang="es-MX" sz="1900" dirty="0"/>
          </a:p>
          <a:p>
            <a:pPr marL="0" indent="0">
              <a:buNone/>
            </a:pPr>
            <a:endParaRPr lang="es-MX" dirty="0"/>
          </a:p>
          <a:p>
            <a:pPr marL="0" indent="0">
              <a:buNone/>
            </a:pPr>
            <a:r>
              <a:rPr lang="es-MX" dirty="0"/>
              <a:t> </a:t>
            </a:r>
          </a:p>
        </p:txBody>
      </p:sp>
      <p:pic>
        <p:nvPicPr>
          <p:cNvPr id="2" name="Picture 2" descr="construccion_1d">
            <a:extLst>
              <a:ext uri="{FF2B5EF4-FFF2-40B4-BE49-F238E27FC236}">
                <a16:creationId xmlns:a16="http://schemas.microsoft.com/office/drawing/2014/main" id="{E1489149-01B5-4EBB-8EA5-485AE4E45B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0276" y="893571"/>
            <a:ext cx="2772718" cy="2835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descr="construccion_1c">
            <a:extLst>
              <a:ext uri="{FF2B5EF4-FFF2-40B4-BE49-F238E27FC236}">
                <a16:creationId xmlns:a16="http://schemas.microsoft.com/office/drawing/2014/main" id="{ABF5820C-7BE4-4F0A-B511-BD21D7C1D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0276" y="3854725"/>
            <a:ext cx="2772718" cy="298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30674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B6AD615-5B03-4E91-B354-4BEDF69E147A}"/>
              </a:ext>
            </a:extLst>
          </p:cNvPr>
          <p:cNvSpPr>
            <a:spLocks noGrp="1"/>
          </p:cNvSpPr>
          <p:nvPr>
            <p:ph idx="1"/>
          </p:nvPr>
        </p:nvSpPr>
        <p:spPr>
          <a:xfrm>
            <a:off x="695738" y="550143"/>
            <a:ext cx="6420678" cy="6154551"/>
          </a:xfrm>
        </p:spPr>
        <p:txBody>
          <a:bodyPr>
            <a:normAutofit lnSpcReduction="10000"/>
          </a:bodyPr>
          <a:lstStyle/>
          <a:p>
            <a:pPr marL="0" indent="0" algn="just">
              <a:buNone/>
            </a:pPr>
            <a:r>
              <a:rPr lang="es-ES" sz="2000" dirty="0"/>
              <a:t>Durante el estudio de los pro y los contra de la red del Metro, se habían identificado ciertas características que debían evitarse a toda costa.</a:t>
            </a:r>
          </a:p>
          <a:p>
            <a:pPr marL="0" indent="0" algn="just">
              <a:buNone/>
            </a:pPr>
            <a:r>
              <a:rPr lang="es-ES" sz="2000" dirty="0"/>
              <a:t>El grupo de arquitectos que se encargó del diseño de las estaciones contó con la asesoría de experimentados maestros, entre ellos Enrique del Moral, Félix Candela, Salvador Ortega y Luis Barragán.</a:t>
            </a:r>
          </a:p>
          <a:p>
            <a:pPr marL="0" indent="0">
              <a:buNone/>
            </a:pPr>
            <a:r>
              <a:rPr lang="es-ES" sz="2000" dirty="0"/>
              <a:t> </a:t>
            </a:r>
          </a:p>
          <a:p>
            <a:pPr marL="0" indent="0" algn="just">
              <a:buNone/>
            </a:pPr>
            <a:r>
              <a:rPr lang="es-ES" sz="2000" dirty="0"/>
              <a:t>Está primera etapa consta de tres líneas: </a:t>
            </a:r>
          </a:p>
          <a:p>
            <a:pPr algn="just">
              <a:buFont typeface="Wingdings" panose="05000000000000000000" pitchFamily="2" charset="2"/>
              <a:buChar char="Ø"/>
            </a:pPr>
            <a:r>
              <a:rPr lang="es-ES" sz="2000" dirty="0"/>
              <a:t>la Línea 1 que corre de poniente a oriente, desde Zaragoza hasta Chapultepec</a:t>
            </a:r>
          </a:p>
          <a:p>
            <a:pPr algn="just">
              <a:buFont typeface="Wingdings" panose="05000000000000000000" pitchFamily="2" charset="2"/>
              <a:buChar char="Ø"/>
            </a:pPr>
            <a:r>
              <a:rPr lang="es-ES" sz="2000" dirty="0"/>
              <a:t>la Línea 2 de Tacuba a Taxqueña  </a:t>
            </a:r>
          </a:p>
          <a:p>
            <a:pPr algn="just">
              <a:buFont typeface="Wingdings" panose="05000000000000000000" pitchFamily="2" charset="2"/>
              <a:buChar char="Ø"/>
            </a:pPr>
            <a:r>
              <a:rPr lang="es-ES" sz="2000" dirty="0"/>
              <a:t>la Línea 3 de Tlatelolco al Hospital General. </a:t>
            </a:r>
          </a:p>
          <a:p>
            <a:pPr marL="0" indent="0" algn="just">
              <a:buNone/>
            </a:pPr>
            <a:endParaRPr lang="es-ES" sz="2000" dirty="0"/>
          </a:p>
          <a:p>
            <a:pPr marL="0" indent="0" algn="just">
              <a:buNone/>
            </a:pPr>
            <a:r>
              <a:rPr lang="es-ES" sz="2000" dirty="0"/>
              <a:t>La longitud total de esta primera red fue de 42.4 kilómetros, con 48 estaciones para el ascenso, descenso y transbordo de los usuarios.</a:t>
            </a:r>
            <a:endParaRPr lang="es-MX" sz="2000" dirty="0"/>
          </a:p>
          <a:p>
            <a:endParaRPr lang="es-MX" dirty="0"/>
          </a:p>
        </p:txBody>
      </p:sp>
      <p:pic>
        <p:nvPicPr>
          <p:cNvPr id="2050" name="Picture 2" descr="construccion_2">
            <a:extLst>
              <a:ext uri="{FF2B5EF4-FFF2-40B4-BE49-F238E27FC236}">
                <a16:creationId xmlns:a16="http://schemas.microsoft.com/office/drawing/2014/main" id="{D4E88D52-DB01-4879-AF33-C5BE9CEF9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3573" y="211792"/>
            <a:ext cx="3063903" cy="306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construccion_1b">
            <a:extLst>
              <a:ext uri="{FF2B5EF4-FFF2-40B4-BE49-F238E27FC236}">
                <a16:creationId xmlns:a16="http://schemas.microsoft.com/office/drawing/2014/main" id="{8477AA22-69D5-4DFA-B61D-F69157BD1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3573" y="3428999"/>
            <a:ext cx="3063903" cy="327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1820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4C63F53-5535-4F9D-8042-B597A6F3419F}"/>
              </a:ext>
            </a:extLst>
          </p:cNvPr>
          <p:cNvSpPr>
            <a:spLocks noGrp="1"/>
          </p:cNvSpPr>
          <p:nvPr>
            <p:ph idx="1"/>
          </p:nvPr>
        </p:nvSpPr>
        <p:spPr>
          <a:xfrm>
            <a:off x="277583" y="612913"/>
            <a:ext cx="7804817" cy="5632174"/>
          </a:xfrm>
        </p:spPr>
        <p:txBody>
          <a:bodyPr>
            <a:normAutofit/>
          </a:bodyPr>
          <a:lstStyle/>
          <a:p>
            <a:pPr algn="just">
              <a:buFont typeface="Wingdings" panose="05000000000000000000" pitchFamily="2" charset="2"/>
              <a:buChar char="v"/>
            </a:pPr>
            <a:r>
              <a:rPr lang="es-MX" sz="2000" b="1" dirty="0"/>
              <a:t>Segunda etapa </a:t>
            </a:r>
            <a:r>
              <a:rPr lang="es-MX" sz="2000" dirty="0"/>
              <a:t>(7 de septiembre de 1977- finales de 1982): </a:t>
            </a:r>
          </a:p>
          <a:p>
            <a:pPr marL="0" indent="0" algn="just">
              <a:buNone/>
            </a:pPr>
            <a:r>
              <a:rPr lang="es-ES" sz="2000" dirty="0"/>
              <a:t>Se inicia con la creación de la Comisión Técnica Ejecutiva del Metro el 7 de septiembre de 1977. Posteriormente, el 15 de enero de 1978, se crea la Comisión de Vialidad y Transporte Urbano del Distrito Federal (COVITUR).</a:t>
            </a:r>
          </a:p>
          <a:p>
            <a:pPr marL="0" indent="0" algn="just">
              <a:buNone/>
            </a:pPr>
            <a:r>
              <a:rPr lang="es-ES" sz="2000" dirty="0"/>
              <a:t>Se pueden identificar dos fases en esta segunda etapa:</a:t>
            </a:r>
          </a:p>
          <a:p>
            <a:pPr algn="just">
              <a:buFont typeface="Wingdings" panose="05000000000000000000" pitchFamily="2" charset="2"/>
              <a:buChar char="Ø"/>
            </a:pPr>
            <a:r>
              <a:rPr lang="es-ES" sz="2000" dirty="0"/>
              <a:t>La primera corresponde a las prolongaciones de la Línea 3: hacia el norte, de Tlatelolco a la Raza, y hacia el sur, de Hospital General a Zapata. </a:t>
            </a:r>
          </a:p>
          <a:p>
            <a:pPr algn="just">
              <a:buFont typeface="Wingdings" panose="05000000000000000000" pitchFamily="2" charset="2"/>
              <a:buChar char="Ø"/>
            </a:pPr>
            <a:r>
              <a:rPr lang="es-ES" sz="2000" dirty="0"/>
              <a:t>Como arranque de la segunda fase, se inició la construcción de las líneas 4 y 5. Las obras estuvieron a cargo de la empresa Ingeniería de Sistemas de Transporte Metropolitano, </a:t>
            </a:r>
            <a:r>
              <a:rPr lang="es-ES" sz="2000" i="1" dirty="0"/>
              <a:t>S.A. del consorcio ICA</a:t>
            </a:r>
            <a:r>
              <a:rPr lang="es-ES" sz="2000" dirty="0"/>
              <a:t>. Durante la segunda fase, COVITUR preparó un Plan Rector de Vialidad y Transporte del Distrito Federal y más adelante, en 1980, el primer Plan Maestro del Metro.</a:t>
            </a:r>
          </a:p>
        </p:txBody>
      </p:sp>
      <p:pic>
        <p:nvPicPr>
          <p:cNvPr id="3074" name="Picture 2" descr="construccion_2e">
            <a:extLst>
              <a:ext uri="{FF2B5EF4-FFF2-40B4-BE49-F238E27FC236}">
                <a16:creationId xmlns:a16="http://schemas.microsoft.com/office/drawing/2014/main" id="{9C6B6936-79CD-43E3-99A6-DDD0B417B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1538" y="231433"/>
            <a:ext cx="2835324" cy="2835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Picture 3" descr="construccion_2b">
            <a:extLst>
              <a:ext uri="{FF2B5EF4-FFF2-40B4-BE49-F238E27FC236}">
                <a16:creationId xmlns:a16="http://schemas.microsoft.com/office/drawing/2014/main" id="{E04643C3-4029-4AC7-B818-DE2C8A475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1538" y="3791244"/>
            <a:ext cx="2835324" cy="2835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422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8215E1E-B3C3-485E-B141-928A659926FA}"/>
              </a:ext>
            </a:extLst>
          </p:cNvPr>
          <p:cNvSpPr>
            <a:spLocks noGrp="1"/>
          </p:cNvSpPr>
          <p:nvPr>
            <p:ph idx="1"/>
          </p:nvPr>
        </p:nvSpPr>
        <p:spPr>
          <a:xfrm>
            <a:off x="300337" y="696656"/>
            <a:ext cx="7430086" cy="5457653"/>
          </a:xfrm>
        </p:spPr>
        <p:txBody>
          <a:bodyPr/>
          <a:lstStyle/>
          <a:p>
            <a:pPr marL="0" indent="0" algn="just">
              <a:buNone/>
            </a:pPr>
            <a:r>
              <a:rPr lang="es-MX" sz="2000" dirty="0"/>
              <a:t>Con la conclusión de la segunda etapa, a fines de 1982, la red del Metro alcanzó una longitud de 79.5 Kilómetros, el número de estaciones aumentó a 80.</a:t>
            </a:r>
          </a:p>
          <a:p>
            <a:pPr marL="0" indent="0" algn="just">
              <a:buNone/>
            </a:pPr>
            <a:r>
              <a:rPr lang="es-ES" sz="2000" dirty="0"/>
              <a:t>La línea 4 de Martín Carrera a Santa Anita se construyó como viaducto elevado con una altura de 7.5 metros</a:t>
            </a:r>
          </a:p>
          <a:p>
            <a:pPr marL="0" indent="0" algn="just">
              <a:buNone/>
            </a:pPr>
            <a:r>
              <a:rPr lang="es-ES" sz="2000" dirty="0"/>
              <a:t>La Línea 5 se construyó en tres tramos:</a:t>
            </a:r>
          </a:p>
          <a:p>
            <a:pPr algn="just">
              <a:buFont typeface="Wingdings" panose="05000000000000000000" pitchFamily="2" charset="2"/>
              <a:buChar char="Ø"/>
            </a:pPr>
            <a:r>
              <a:rPr lang="es-ES" sz="2000" dirty="0"/>
              <a:t>el primero, de Pantitlán a Consulado; el 19 de diciembre de 1981</a:t>
            </a:r>
          </a:p>
          <a:p>
            <a:pPr algn="just">
              <a:buFont typeface="Wingdings" panose="05000000000000000000" pitchFamily="2" charset="2"/>
              <a:buChar char="Ø"/>
            </a:pPr>
            <a:r>
              <a:rPr lang="es-ES" sz="2000" dirty="0"/>
              <a:t>el segundo, de Consulado a la Raza; el 1º de junio de 1982</a:t>
            </a:r>
          </a:p>
          <a:p>
            <a:pPr algn="just">
              <a:buFont typeface="Wingdings" panose="05000000000000000000" pitchFamily="2" charset="2"/>
              <a:buChar char="Ø"/>
            </a:pPr>
            <a:r>
              <a:rPr lang="es-ES" sz="2000" dirty="0"/>
              <a:t>el tercero, de la Raza a Politécnico; en agosto del mismo año</a:t>
            </a:r>
            <a:endParaRPr lang="es-MX" sz="2000" dirty="0"/>
          </a:p>
          <a:p>
            <a:pPr marL="0" indent="0" algn="just">
              <a:buNone/>
            </a:pPr>
            <a:r>
              <a:rPr lang="es-ES" sz="2000" dirty="0"/>
              <a:t>A la construcción de esta línea se le dio una solución de superficie entre Pantitlán y Terminal Aérea, y subterránea tipo cajón de Valle Gómez a Politécnico.</a:t>
            </a:r>
            <a:endParaRPr lang="es-MX" sz="2000" dirty="0"/>
          </a:p>
        </p:txBody>
      </p:sp>
      <p:pic>
        <p:nvPicPr>
          <p:cNvPr id="4098" name="Picture 2" descr="construccion_2d">
            <a:extLst>
              <a:ext uri="{FF2B5EF4-FFF2-40B4-BE49-F238E27FC236}">
                <a16:creationId xmlns:a16="http://schemas.microsoft.com/office/drawing/2014/main" id="{55344CB8-6689-44B0-8D9C-6072226AA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6621" y="1677317"/>
            <a:ext cx="3496332" cy="349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6194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A73A87-EB51-4E38-9C3F-B8E763B211E5}"/>
              </a:ext>
            </a:extLst>
          </p:cNvPr>
          <p:cNvSpPr>
            <a:spLocks noGrp="1"/>
          </p:cNvSpPr>
          <p:nvPr>
            <p:ph idx="1"/>
          </p:nvPr>
        </p:nvSpPr>
        <p:spPr>
          <a:xfrm>
            <a:off x="748748" y="499607"/>
            <a:ext cx="10058400" cy="3931920"/>
          </a:xfrm>
        </p:spPr>
        <p:txBody>
          <a:bodyPr/>
          <a:lstStyle/>
          <a:p>
            <a:pPr algn="just">
              <a:buFont typeface="Wingdings" panose="05000000000000000000" pitchFamily="2" charset="2"/>
              <a:buChar char="v"/>
            </a:pPr>
            <a:r>
              <a:rPr lang="es-MX" sz="2000" b="1" dirty="0"/>
              <a:t>Tercera etapa </a:t>
            </a:r>
            <a:r>
              <a:rPr lang="es-MX" sz="2000" dirty="0"/>
              <a:t>(principios de 1983- finales de 1985):</a:t>
            </a:r>
          </a:p>
          <a:p>
            <a:pPr marL="0" indent="0" algn="just">
              <a:buNone/>
            </a:pPr>
            <a:r>
              <a:rPr lang="es-MX" sz="2000" dirty="0"/>
              <a:t>Consta de ampliaciones a las líneas 1,2,y 3 y se inician dos líneas nuevas, la 6 y la 7. La longitud de la red se incrementa en 35.2 kilómetros y el número de estaciones aumenta a 105.</a:t>
            </a:r>
          </a:p>
          <a:p>
            <a:pPr algn="just">
              <a:buFont typeface="Wingdings" panose="05000000000000000000" pitchFamily="2" charset="2"/>
              <a:buChar char="Ø"/>
            </a:pPr>
            <a:r>
              <a:rPr lang="es-ES" sz="2000" dirty="0"/>
              <a:t>La línea 3 se prolonga de Zapata a Universidad; el 30 de agosto de 1983</a:t>
            </a:r>
          </a:p>
          <a:p>
            <a:pPr algn="just">
              <a:buFont typeface="Wingdings" panose="05000000000000000000" pitchFamily="2" charset="2"/>
              <a:buChar char="Ø"/>
            </a:pPr>
            <a:r>
              <a:rPr lang="es-ES" sz="2000" dirty="0"/>
              <a:t>la Línea 1, de Zaragoza a Pantitlán; el 22 de agosto de 1984</a:t>
            </a:r>
          </a:p>
          <a:p>
            <a:pPr algn="just">
              <a:buFont typeface="Wingdings" panose="05000000000000000000" pitchFamily="2" charset="2"/>
              <a:buChar char="Ø"/>
            </a:pPr>
            <a:r>
              <a:rPr lang="es-ES" sz="2000" dirty="0"/>
              <a:t>la línea 2 de Tacuba a Cuatro Caminos, en el límite con el Estado de México; el 22 de agosto de 1984</a:t>
            </a:r>
            <a:endParaRPr lang="es-MX" sz="2000" dirty="0"/>
          </a:p>
          <a:p>
            <a:pPr marL="0" indent="0">
              <a:buNone/>
            </a:pPr>
            <a:endParaRPr lang="es-MX" dirty="0"/>
          </a:p>
        </p:txBody>
      </p:sp>
      <p:pic>
        <p:nvPicPr>
          <p:cNvPr id="5122" name="Picture 2" descr="construccion_3">
            <a:extLst>
              <a:ext uri="{FF2B5EF4-FFF2-40B4-BE49-F238E27FC236}">
                <a16:creationId xmlns:a16="http://schemas.microsoft.com/office/drawing/2014/main" id="{6234E3BC-75A3-48E8-A8B8-B83CF9FBD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088" y="3860898"/>
            <a:ext cx="2694647" cy="2694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descr="construccion_3b">
            <a:extLst>
              <a:ext uri="{FF2B5EF4-FFF2-40B4-BE49-F238E27FC236}">
                <a16:creationId xmlns:a16="http://schemas.microsoft.com/office/drawing/2014/main" id="{DB70E5E9-CBAF-4499-B32A-FBC6CD7C1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555" y="3860898"/>
            <a:ext cx="2694647" cy="2694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04979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324E6FB-11FA-46BE-8347-70DA47859728}"/>
              </a:ext>
            </a:extLst>
          </p:cNvPr>
          <p:cNvSpPr>
            <a:spLocks noGrp="1"/>
          </p:cNvSpPr>
          <p:nvPr>
            <p:ph idx="1"/>
          </p:nvPr>
        </p:nvSpPr>
        <p:spPr>
          <a:xfrm>
            <a:off x="321212" y="576775"/>
            <a:ext cx="7709605" cy="5704450"/>
          </a:xfrm>
        </p:spPr>
        <p:txBody>
          <a:bodyPr>
            <a:normAutofit/>
          </a:bodyPr>
          <a:lstStyle/>
          <a:p>
            <a:pPr marL="0" indent="0" algn="just">
              <a:buNone/>
            </a:pPr>
            <a:r>
              <a:rPr lang="es-ES" sz="2000" dirty="0"/>
              <a:t>A la Línea 6 se le dio una solución combinada: tipo cajón y superficial. La primera parte de El Rosario a Instituto del Petróleo, se concluyó el 21 de diciembre de 1983. Consta de 9.3 kilómetros de longitud y siete estaciones.</a:t>
            </a:r>
          </a:p>
          <a:p>
            <a:pPr marL="0" indent="0" algn="just">
              <a:buNone/>
            </a:pPr>
            <a:r>
              <a:rPr lang="es-ES" sz="2000" dirty="0"/>
              <a:t>La Línea 7 corre al pie de las estribaciones de la Sierra de las Cruces, que cierra el Valle de México por el poniente. La solución que se utilizó para su construcción fue de tipo túnel profundo. Se entregó en tres tramos: </a:t>
            </a:r>
          </a:p>
          <a:p>
            <a:pPr marL="0" indent="0" algn="just">
              <a:buNone/>
            </a:pPr>
            <a:endParaRPr lang="es-ES" sz="2000" dirty="0"/>
          </a:p>
          <a:p>
            <a:pPr algn="just">
              <a:buFont typeface="Wingdings" panose="05000000000000000000" pitchFamily="2" charset="2"/>
              <a:buChar char="Ø"/>
            </a:pPr>
            <a:r>
              <a:rPr lang="es-ES" sz="2000" dirty="0"/>
              <a:t>Tacuba-Auditorio; el 20 de diciembre de 1984</a:t>
            </a:r>
          </a:p>
          <a:p>
            <a:pPr algn="just">
              <a:buFont typeface="Wingdings" panose="05000000000000000000" pitchFamily="2" charset="2"/>
              <a:buChar char="Ø"/>
            </a:pPr>
            <a:r>
              <a:rPr lang="es-ES" sz="2000" dirty="0"/>
              <a:t>Auditorio-Tacubaya: el 23 de agosto de 1985</a:t>
            </a:r>
          </a:p>
          <a:p>
            <a:pPr algn="just">
              <a:buFont typeface="Wingdings" panose="05000000000000000000" pitchFamily="2" charset="2"/>
              <a:buChar char="Ø"/>
            </a:pPr>
            <a:r>
              <a:rPr lang="es-ES" sz="2000" dirty="0"/>
              <a:t>Tacubaya-Barranca del Muerto: el 19 de diciembre de 1985. </a:t>
            </a:r>
          </a:p>
          <a:p>
            <a:pPr marL="0" indent="0" algn="just">
              <a:buNone/>
            </a:pPr>
            <a:r>
              <a:rPr lang="es-ES" sz="2000" dirty="0"/>
              <a:t>Su conclusión significó un incremento a la red de 13.1 kilómetros y diez estaciones.</a:t>
            </a:r>
            <a:endParaRPr lang="es-MX" sz="2000" dirty="0"/>
          </a:p>
        </p:txBody>
      </p:sp>
      <p:pic>
        <p:nvPicPr>
          <p:cNvPr id="6146" name="Picture 2" descr="construccion_4b">
            <a:extLst>
              <a:ext uri="{FF2B5EF4-FFF2-40B4-BE49-F238E27FC236}">
                <a16:creationId xmlns:a16="http://schemas.microsoft.com/office/drawing/2014/main" id="{6E9F935E-CABB-4950-94D6-5BF143E2F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9027" y="1758119"/>
            <a:ext cx="3341761" cy="3341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17695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0E7CF55-3D7D-41C4-BE8E-9D3434008BB3}"/>
              </a:ext>
            </a:extLst>
          </p:cNvPr>
          <p:cNvSpPr>
            <a:spLocks noGrp="1"/>
          </p:cNvSpPr>
          <p:nvPr>
            <p:ph idx="1"/>
          </p:nvPr>
        </p:nvSpPr>
        <p:spPr>
          <a:xfrm>
            <a:off x="1066800" y="1256306"/>
            <a:ext cx="10058400" cy="4345388"/>
          </a:xfrm>
        </p:spPr>
        <p:txBody>
          <a:bodyPr/>
          <a:lstStyle/>
          <a:p>
            <a:pPr algn="just">
              <a:buFont typeface="Wingdings" panose="05000000000000000000" pitchFamily="2" charset="2"/>
              <a:buChar char="v"/>
            </a:pPr>
            <a:r>
              <a:rPr lang="es-MX" sz="2000" b="1" dirty="0"/>
              <a:t>Cuarta etapa </a:t>
            </a:r>
            <a:r>
              <a:rPr lang="es-MX" sz="2000" dirty="0"/>
              <a:t>(1985-1987):</a:t>
            </a:r>
          </a:p>
          <a:p>
            <a:pPr marL="0" indent="0" algn="just">
              <a:buNone/>
            </a:pPr>
            <a:endParaRPr lang="es-MX" sz="2000" dirty="0"/>
          </a:p>
          <a:p>
            <a:pPr marL="0" indent="0" algn="just">
              <a:buNone/>
            </a:pPr>
            <a:r>
              <a:rPr lang="es-ES" sz="2000" dirty="0"/>
              <a:t>Se compone de las ampliaciones de las líneas:</a:t>
            </a:r>
          </a:p>
          <a:p>
            <a:pPr marL="0" indent="0" algn="just">
              <a:buNone/>
            </a:pPr>
            <a:endParaRPr lang="es-ES" sz="2000" dirty="0"/>
          </a:p>
          <a:p>
            <a:pPr algn="just">
              <a:buFont typeface="Wingdings" panose="05000000000000000000" pitchFamily="2" charset="2"/>
              <a:buChar char="Ø"/>
            </a:pPr>
            <a:r>
              <a:rPr lang="es-ES" sz="2000" dirty="0"/>
              <a:t>6 (de Instituto del Petróleo a Martín Carrera) el 8 de julio de 1988 agregando 4.7 kilómetros y cuatro estaciones a la red </a:t>
            </a:r>
          </a:p>
          <a:p>
            <a:pPr algn="just">
              <a:buFont typeface="Wingdings" panose="05000000000000000000" pitchFamily="2" charset="2"/>
              <a:buChar char="Ø"/>
            </a:pPr>
            <a:r>
              <a:rPr lang="es-ES" sz="2000" dirty="0"/>
              <a:t>7 (de Tacuba a El Rosario) el 29 de noviembre de 1988 e incrementó la red con 5.7 kilómetros y cuatro estaciones más</a:t>
            </a:r>
          </a:p>
          <a:p>
            <a:pPr marL="0" indent="0" algn="just">
              <a:buNone/>
            </a:pPr>
            <a:endParaRPr lang="es-ES" sz="2000" dirty="0"/>
          </a:p>
          <a:p>
            <a:pPr marL="0" indent="0" algn="just">
              <a:buNone/>
            </a:pPr>
            <a:r>
              <a:rPr lang="es-ES" sz="2000" dirty="0"/>
              <a:t>Además del inicio de una nueva línea, la 9 de Pantitlán a Tacubaya, por una ruta al sur de la que sigue la Línea 1.</a:t>
            </a:r>
            <a:endParaRPr lang="es-MX" sz="2000" dirty="0"/>
          </a:p>
          <a:p>
            <a:pPr>
              <a:buFont typeface="Wingdings" panose="05000000000000000000" pitchFamily="2" charset="2"/>
              <a:buChar char="v"/>
            </a:pPr>
            <a:endParaRPr lang="es-MX" dirty="0"/>
          </a:p>
        </p:txBody>
      </p:sp>
    </p:spTree>
    <p:extLst>
      <p:ext uri="{BB962C8B-B14F-4D97-AF65-F5344CB8AC3E}">
        <p14:creationId xmlns:p14="http://schemas.microsoft.com/office/powerpoint/2010/main" val="5672396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01FAC5D-F1A8-4D58-B807-CEC6959BB5F0}"/>
              </a:ext>
            </a:extLst>
          </p:cNvPr>
          <p:cNvSpPr>
            <a:spLocks noGrp="1"/>
          </p:cNvSpPr>
          <p:nvPr>
            <p:ph idx="1"/>
          </p:nvPr>
        </p:nvSpPr>
        <p:spPr>
          <a:xfrm>
            <a:off x="470452" y="849464"/>
            <a:ext cx="7533861" cy="5159072"/>
          </a:xfrm>
        </p:spPr>
        <p:txBody>
          <a:bodyPr>
            <a:normAutofit/>
          </a:bodyPr>
          <a:lstStyle/>
          <a:p>
            <a:pPr marL="0" indent="0" algn="just">
              <a:buNone/>
            </a:pPr>
            <a:r>
              <a:rPr lang="es-ES" sz="2000" dirty="0"/>
              <a:t>La línea 9 se construyó en dos fases:</a:t>
            </a:r>
          </a:p>
          <a:p>
            <a:pPr marL="0" indent="0" algn="just">
              <a:buNone/>
            </a:pPr>
            <a:endParaRPr lang="es-ES" sz="2000" dirty="0"/>
          </a:p>
          <a:p>
            <a:pPr algn="just">
              <a:buFont typeface="Wingdings" panose="05000000000000000000" pitchFamily="2" charset="2"/>
              <a:buChar char="Ø"/>
            </a:pPr>
            <a:r>
              <a:rPr lang="es-ES" sz="2000" dirty="0"/>
              <a:t>De Pantitlán a Centro Médico, concluida el 26 de agosto de 1987</a:t>
            </a:r>
          </a:p>
          <a:p>
            <a:pPr algn="just">
              <a:buFont typeface="Wingdings" panose="05000000000000000000" pitchFamily="2" charset="2"/>
              <a:buChar char="Ø"/>
            </a:pPr>
            <a:r>
              <a:rPr lang="es-ES" sz="2000" dirty="0"/>
              <a:t>De Centro Médico a Tacubaya, inaugurada un año más tarde</a:t>
            </a:r>
          </a:p>
          <a:p>
            <a:pPr marL="0" indent="0" algn="just">
              <a:buNone/>
            </a:pPr>
            <a:endParaRPr lang="es-ES" sz="2000" dirty="0"/>
          </a:p>
          <a:p>
            <a:pPr marL="0" indent="0" algn="just">
              <a:buNone/>
            </a:pPr>
            <a:r>
              <a:rPr lang="es-ES" sz="2000" dirty="0"/>
              <a:t>Incorporó a la red 12 estaciones y 15.3 kilómetros; tiene un trazo prácticamente paralelo a la Línea 1.</a:t>
            </a:r>
          </a:p>
          <a:p>
            <a:pPr marL="0" indent="0" algn="just">
              <a:buNone/>
            </a:pPr>
            <a:endParaRPr lang="es-ES" sz="2000" dirty="0"/>
          </a:p>
          <a:p>
            <a:pPr marL="0" indent="0" algn="just">
              <a:buNone/>
            </a:pPr>
            <a:r>
              <a:rPr lang="es-ES" sz="2000" dirty="0"/>
              <a:t>En su construcción se utilizó el túnel circular profundo y el túnel tipo cajón, en 9.5 kilómetros de sus longitud partiendo desde </a:t>
            </a:r>
            <a:r>
              <a:rPr lang="es-ES" sz="2000" dirty="0" err="1"/>
              <a:t>tacubaya</a:t>
            </a:r>
            <a:r>
              <a:rPr lang="es-ES" sz="2000" dirty="0"/>
              <a:t>, y de viaducto elevado en el tramo restante. </a:t>
            </a:r>
          </a:p>
        </p:txBody>
      </p:sp>
      <p:pic>
        <p:nvPicPr>
          <p:cNvPr id="7170" name="Picture 2" descr="construccion_4c">
            <a:extLst>
              <a:ext uri="{FF2B5EF4-FFF2-40B4-BE49-F238E27FC236}">
                <a16:creationId xmlns:a16="http://schemas.microsoft.com/office/drawing/2014/main" id="{37A1F20A-E7FC-4584-99D7-DE89BF6BBE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311" y="1652612"/>
            <a:ext cx="3552776" cy="3552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43750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C05CD10-7B2E-4075-A41A-0319F613BAE4}"/>
              </a:ext>
            </a:extLst>
          </p:cNvPr>
          <p:cNvSpPr>
            <a:spLocks noGrp="1"/>
          </p:cNvSpPr>
          <p:nvPr>
            <p:ph idx="1"/>
          </p:nvPr>
        </p:nvSpPr>
        <p:spPr>
          <a:xfrm>
            <a:off x="246032" y="867507"/>
            <a:ext cx="11699936" cy="5122985"/>
          </a:xfrm>
        </p:spPr>
        <p:txBody>
          <a:bodyPr>
            <a:normAutofit/>
          </a:bodyPr>
          <a:lstStyle/>
          <a:p>
            <a:pPr algn="just">
              <a:buFont typeface="Wingdings" panose="05000000000000000000" pitchFamily="2" charset="2"/>
              <a:buChar char="v"/>
            </a:pPr>
            <a:r>
              <a:rPr lang="es-MX" sz="2000" b="1" dirty="0"/>
              <a:t>Quinta etapa </a:t>
            </a:r>
            <a:r>
              <a:rPr lang="es-MX" sz="2000" dirty="0"/>
              <a:t>(1988-1994):</a:t>
            </a:r>
          </a:p>
          <a:p>
            <a:pPr marL="0" indent="0" algn="just">
              <a:buNone/>
            </a:pPr>
            <a:endParaRPr lang="es-MX" sz="2000" dirty="0"/>
          </a:p>
          <a:p>
            <a:pPr marL="0" indent="0" algn="just">
              <a:buNone/>
            </a:pPr>
            <a:r>
              <a:rPr lang="es-ES" sz="2000" dirty="0"/>
              <a:t>construcción de la Línea A, de Pantitlán a La Paz. Se optó para esta línea por una solución de superficie y trenes de ruedas férreas en lugar de neumáticos, ya que se reducían los costos de construcción y mantenimiento. Se construyó un puesto de control y talleres exclusivos para la Línea A. Está línea se inauguró el 12 de agosto de 1991, agregó diez estaciones y 17 kilómetros de longitud a la red.</a:t>
            </a:r>
          </a:p>
          <a:p>
            <a:pPr marL="0" indent="0" algn="just">
              <a:buNone/>
            </a:pPr>
            <a:endParaRPr lang="es-ES" sz="2000" dirty="0"/>
          </a:p>
          <a:p>
            <a:pPr marL="0" indent="0" algn="just">
              <a:buNone/>
            </a:pPr>
            <a:r>
              <a:rPr lang="es-ES" sz="2000" dirty="0"/>
              <a:t>Se modificó el trazo original de la Línea 8. </a:t>
            </a:r>
            <a:r>
              <a:rPr lang="es-MX" sz="2000" dirty="0"/>
              <a:t>El tramo inicial de Constitución de 1917 a Garibaldi, se inauguró el 20 de julio de 1994.</a:t>
            </a:r>
          </a:p>
          <a:p>
            <a:pPr marL="0" indent="0" algn="just">
              <a:buNone/>
            </a:pPr>
            <a:endParaRPr lang="es-MX" sz="2000" dirty="0"/>
          </a:p>
          <a:p>
            <a:pPr marL="0" indent="0" algn="just">
              <a:buNone/>
            </a:pPr>
            <a:r>
              <a:rPr lang="es-ES" sz="2000" dirty="0"/>
              <a:t>Con esto se había incrementado la longitud de la red en 37.1 kilómetros, añadiendo dos nuevas líneas y 29 estaciones. Es decir, al finalizar 1994, la red del Metro contaba ya con 178.1 kilómetros de longitud, 154 estaciones y diez líneas</a:t>
            </a:r>
            <a:endParaRPr lang="es-MX" dirty="0"/>
          </a:p>
        </p:txBody>
      </p:sp>
    </p:spTree>
    <p:extLst>
      <p:ext uri="{BB962C8B-B14F-4D97-AF65-F5344CB8AC3E}">
        <p14:creationId xmlns:p14="http://schemas.microsoft.com/office/powerpoint/2010/main" val="1628744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48D8260-561B-4515-A6AB-CB18F7B655DA}"/>
              </a:ext>
            </a:extLst>
          </p:cNvPr>
          <p:cNvSpPr>
            <a:spLocks noGrp="1"/>
          </p:cNvSpPr>
          <p:nvPr>
            <p:ph idx="1"/>
          </p:nvPr>
        </p:nvSpPr>
        <p:spPr>
          <a:xfrm>
            <a:off x="349348" y="274319"/>
            <a:ext cx="8238061" cy="7266168"/>
          </a:xfrm>
        </p:spPr>
        <p:txBody>
          <a:bodyPr/>
          <a:lstStyle/>
          <a:p>
            <a:pPr>
              <a:buFont typeface="Wingdings" panose="05000000000000000000" pitchFamily="2" charset="2"/>
              <a:buChar char="v"/>
            </a:pPr>
            <a:r>
              <a:rPr lang="es-MX" sz="2000" b="1" dirty="0"/>
              <a:t>Sexta etapa </a:t>
            </a:r>
            <a:r>
              <a:rPr lang="es-MX" sz="2000" dirty="0"/>
              <a:t>(1994-2000):</a:t>
            </a:r>
          </a:p>
          <a:p>
            <a:pPr marL="0" indent="0">
              <a:buNone/>
            </a:pPr>
            <a:r>
              <a:rPr lang="es-MX" sz="2000" dirty="0"/>
              <a:t>Los estudios y proyectos de la Línea B se iniciaron a fines de 1993 y el 29 de octubre de 1994 dio inicio su construcción en el tramo subterráneo comprendido entre Buenavista y la Plaza Garibaldi.</a:t>
            </a:r>
          </a:p>
          <a:p>
            <a:pPr marL="0" indent="0">
              <a:buNone/>
            </a:pPr>
            <a:r>
              <a:rPr lang="es-MX" sz="2000" dirty="0"/>
              <a:t>En diciembre de 1997 el Gobierno del Distrito Federal recibió 178 kilómetros de red de Metro en operación y en proceso de construcción la Línea B, de Buenavista a Ecatepec, con un avance global del 49%.</a:t>
            </a:r>
          </a:p>
          <a:p>
            <a:pPr marL="0" indent="0">
              <a:buNone/>
            </a:pPr>
            <a:r>
              <a:rPr lang="es-MX" sz="2000" dirty="0"/>
              <a:t>La Línea B de Buenavista a Ciudad Azteca tiene 23.7 kilómetros de longitud con 21 estaciones</a:t>
            </a:r>
          </a:p>
          <a:p>
            <a:pPr>
              <a:buFont typeface="Arial" panose="020B0604020202020204" pitchFamily="34" charset="0"/>
              <a:buChar char="•"/>
            </a:pPr>
            <a:r>
              <a:rPr lang="es-MX" sz="2000" b="1" i="1" dirty="0"/>
              <a:t>CDMX</a:t>
            </a:r>
          </a:p>
          <a:p>
            <a:pPr marL="0" indent="0">
              <a:buNone/>
            </a:pPr>
            <a:r>
              <a:rPr lang="es-MX" sz="2000" dirty="0"/>
              <a:t>con 13.5 kilómetros y 13 estaciones cruzando por las Delegaciones Cuauhtémoc, Venustiano Carranza y Gustavo A. Madero </a:t>
            </a:r>
          </a:p>
          <a:p>
            <a:pPr>
              <a:buFont typeface="Arial" panose="020B0604020202020204" pitchFamily="34" charset="0"/>
              <a:buChar char="•"/>
            </a:pPr>
            <a:r>
              <a:rPr lang="es-MX" sz="2000" b="1" i="1" dirty="0"/>
              <a:t>Estado de México</a:t>
            </a:r>
          </a:p>
          <a:p>
            <a:pPr marL="0" indent="0">
              <a:buNone/>
            </a:pPr>
            <a:r>
              <a:rPr lang="es-MX" sz="2000" dirty="0"/>
              <a:t>10.2 kilómetros y 8 estaciones en los municipios de Nezahualcóyotl y Ecatepec</a:t>
            </a:r>
          </a:p>
          <a:p>
            <a:endParaRPr lang="es-MX" dirty="0"/>
          </a:p>
        </p:txBody>
      </p:sp>
      <p:pic>
        <p:nvPicPr>
          <p:cNvPr id="9218" name="Picture 2" descr="construccion_5b">
            <a:extLst>
              <a:ext uri="{FF2B5EF4-FFF2-40B4-BE49-F238E27FC236}">
                <a16:creationId xmlns:a16="http://schemas.microsoft.com/office/drawing/2014/main" id="{15EFCE90-D201-44E2-B04C-398C429D4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0507" y="274319"/>
            <a:ext cx="2902145" cy="2902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Picture 3" descr="construccion_5">
            <a:extLst>
              <a:ext uri="{FF2B5EF4-FFF2-40B4-BE49-F238E27FC236}">
                <a16:creationId xmlns:a16="http://schemas.microsoft.com/office/drawing/2014/main" id="{65E82215-E653-4E7E-8B6D-EF408616B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506" y="3681536"/>
            <a:ext cx="2902145" cy="2902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5403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612318-A47D-4048-A12C-B3C042DEDB24}"/>
              </a:ext>
            </a:extLst>
          </p:cNvPr>
          <p:cNvSpPr>
            <a:spLocks noGrp="1"/>
          </p:cNvSpPr>
          <p:nvPr>
            <p:ph idx="1"/>
          </p:nvPr>
        </p:nvSpPr>
        <p:spPr>
          <a:xfrm>
            <a:off x="211015" y="531208"/>
            <a:ext cx="8773959" cy="5352452"/>
          </a:xfrm>
        </p:spPr>
        <p:txBody>
          <a:bodyPr>
            <a:normAutofit/>
          </a:bodyPr>
          <a:lstStyle/>
          <a:p>
            <a:pPr marL="0" indent="0" algn="just">
              <a:buNone/>
            </a:pPr>
            <a:r>
              <a:rPr lang="es-ES" sz="2000" dirty="0"/>
              <a:t>La Línea B había alcanzado un avance del 77.6% al 15 de octubre del 1999 ; se continuaron las obras en los 10.2 kilómetros del tramo ubicado en el Estado de México, para terminarla y ponerla en operación en toda su longitud durante el segundo semestre del año 2000.</a:t>
            </a:r>
          </a:p>
          <a:p>
            <a:pPr marL="0" indent="0" algn="just">
              <a:buNone/>
            </a:pPr>
            <a:br>
              <a:rPr lang="es-ES" sz="2000" dirty="0"/>
            </a:br>
            <a:r>
              <a:rPr lang="es-ES" sz="2000" dirty="0"/>
              <a:t>Al entrar en operación la Línea B, la red en su conjunto se incrementó en 13% para alcanzar 201.7 kilómetros. Adicionalmente forman parte del proyecto diversas obras de vialidad que contribuyen a la integración y reestructuración de los otros medios de transporte:</a:t>
            </a:r>
          </a:p>
          <a:p>
            <a:pPr algn="just">
              <a:buFont typeface="Arial" panose="020B0604020202020204" pitchFamily="34" charset="0"/>
              <a:buChar char="•"/>
            </a:pPr>
            <a:r>
              <a:rPr lang="es-ES" sz="2000" dirty="0"/>
              <a:t>16 puentes vehiculares (6 en CDMX y 10 en el Estado de México)</a:t>
            </a:r>
          </a:p>
          <a:p>
            <a:pPr algn="just">
              <a:buFont typeface="Arial" panose="020B0604020202020204" pitchFamily="34" charset="0"/>
              <a:buChar char="•"/>
            </a:pPr>
            <a:r>
              <a:rPr lang="es-ES" sz="2000" dirty="0"/>
              <a:t>4 paraderos de autobuses (3 en CDMX y 1 en el Estado de México)</a:t>
            </a:r>
          </a:p>
          <a:p>
            <a:pPr algn="just">
              <a:buFont typeface="Arial" panose="020B0604020202020204" pitchFamily="34" charset="0"/>
              <a:buChar char="•"/>
            </a:pPr>
            <a:r>
              <a:rPr lang="es-ES" sz="2000" dirty="0"/>
              <a:t>51 puentes peatonales (21 en CDMX y 30 en el Estado de México)</a:t>
            </a:r>
          </a:p>
          <a:p>
            <a:pPr algn="just">
              <a:buFont typeface="Arial" panose="020B0604020202020204" pitchFamily="34" charset="0"/>
              <a:buChar char="•"/>
            </a:pPr>
            <a:r>
              <a:rPr lang="es-ES" sz="2000" dirty="0"/>
              <a:t>la reforestación de 313 mil metros cuadrados de áreas verdes.</a:t>
            </a:r>
            <a:endParaRPr lang="es-MX" sz="2000" dirty="0"/>
          </a:p>
        </p:txBody>
      </p:sp>
      <p:pic>
        <p:nvPicPr>
          <p:cNvPr id="10242" name="Picture 2" descr="construccion_6">
            <a:extLst>
              <a:ext uri="{FF2B5EF4-FFF2-40B4-BE49-F238E27FC236}">
                <a16:creationId xmlns:a16="http://schemas.microsoft.com/office/drawing/2014/main" id="{AA42804D-B0BF-4629-8E8C-212EBEB50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4974" y="253218"/>
            <a:ext cx="2954216" cy="295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3" descr="construccion_6d">
            <a:extLst>
              <a:ext uri="{FF2B5EF4-FFF2-40B4-BE49-F238E27FC236}">
                <a16:creationId xmlns:a16="http://schemas.microsoft.com/office/drawing/2014/main" id="{37214FBE-BEDC-40B0-A3D3-642CF93A8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4974" y="3650566"/>
            <a:ext cx="2954216" cy="295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8028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828446-2D7E-4E92-AF4D-46B257142DE7}"/>
              </a:ext>
            </a:extLst>
          </p:cNvPr>
          <p:cNvSpPr>
            <a:spLocks noGrp="1"/>
          </p:cNvSpPr>
          <p:nvPr>
            <p:ph type="title"/>
          </p:nvPr>
        </p:nvSpPr>
        <p:spPr>
          <a:xfrm>
            <a:off x="1066800" y="137160"/>
            <a:ext cx="10058400" cy="685800"/>
          </a:xfrm>
        </p:spPr>
        <p:txBody>
          <a:bodyPr>
            <a:normAutofit/>
          </a:bodyPr>
          <a:lstStyle/>
          <a:p>
            <a:pPr algn="ctr"/>
            <a:r>
              <a:rPr lang="es-MX" sz="3200" b="1" u="sng" dirty="0"/>
              <a:t>Red del Sistema de Transporte Colectivo Metro</a:t>
            </a:r>
          </a:p>
        </p:txBody>
      </p:sp>
      <p:sp>
        <p:nvSpPr>
          <p:cNvPr id="3" name="Marcador de contenido 2">
            <a:extLst>
              <a:ext uri="{FF2B5EF4-FFF2-40B4-BE49-F238E27FC236}">
                <a16:creationId xmlns:a16="http://schemas.microsoft.com/office/drawing/2014/main" id="{ABEC8B3F-1914-4291-A44A-92FBDE6B5FFF}"/>
              </a:ext>
            </a:extLst>
          </p:cNvPr>
          <p:cNvSpPr>
            <a:spLocks noGrp="1"/>
          </p:cNvSpPr>
          <p:nvPr>
            <p:ph idx="1"/>
          </p:nvPr>
        </p:nvSpPr>
        <p:spPr>
          <a:xfrm>
            <a:off x="357809" y="822960"/>
            <a:ext cx="10767391" cy="5897880"/>
          </a:xfrm>
        </p:spPr>
        <p:txBody>
          <a:bodyPr>
            <a:normAutofit/>
          </a:bodyPr>
          <a:lstStyle/>
          <a:p>
            <a:pPr algn="just">
              <a:buFont typeface="Wingdings" panose="05000000000000000000" pitchFamily="2" charset="2"/>
              <a:buChar char="v"/>
            </a:pPr>
            <a:r>
              <a:rPr lang="es-MX" sz="2000" b="1" dirty="0"/>
              <a:t>Línea 1 Pantitlán-Observatorio:</a:t>
            </a:r>
          </a:p>
          <a:p>
            <a:pPr algn="just"/>
            <a:r>
              <a:rPr lang="es-MX" sz="2000" dirty="0"/>
              <a:t>Longitud total de vía : 18.828 Km. </a:t>
            </a:r>
            <a:r>
              <a:rPr lang="es-ES" sz="2000" dirty="0"/>
              <a:t>16.654 Km dan servicio</a:t>
            </a:r>
          </a:p>
          <a:p>
            <a:pPr algn="just"/>
            <a:r>
              <a:rPr lang="es-MX" sz="2000" dirty="0"/>
              <a:t>Estaciones totales: 20 (19 subterráneas y 1 superficial)</a:t>
            </a:r>
          </a:p>
          <a:p>
            <a:pPr algn="just"/>
            <a:r>
              <a:rPr lang="es-MX" sz="2000" dirty="0"/>
              <a:t>Estaciones de correspondencias:   6</a:t>
            </a:r>
          </a:p>
          <a:p>
            <a:pPr algn="just"/>
            <a:r>
              <a:rPr lang="es-MX" sz="2000" dirty="0"/>
              <a:t>Estaciones de paso: 12 </a:t>
            </a:r>
          </a:p>
          <a:p>
            <a:pPr algn="just"/>
            <a:r>
              <a:rPr lang="es-MX" sz="2000" dirty="0"/>
              <a:t>Terminales: 2 (1 con correspondencia)</a:t>
            </a:r>
          </a:p>
          <a:p>
            <a:pPr algn="just"/>
            <a:r>
              <a:rPr lang="es-MX" sz="2000" dirty="0"/>
              <a:t>Tipo de construcción: Subterránea y superficie.</a:t>
            </a:r>
            <a:endParaRPr lang="es-MX" sz="2000" b="1" dirty="0"/>
          </a:p>
          <a:p>
            <a:pPr algn="just">
              <a:buFont typeface="Wingdings" panose="05000000000000000000" pitchFamily="2" charset="2"/>
              <a:buChar char="v"/>
            </a:pPr>
            <a:r>
              <a:rPr lang="es-ES" sz="2000" b="1" dirty="0"/>
              <a:t>Línea 2 Cuatro Caminos- Tasqueña:</a:t>
            </a:r>
          </a:p>
          <a:p>
            <a:pPr algn="just"/>
            <a:r>
              <a:rPr lang="es-MX" sz="2000" dirty="0"/>
              <a:t>Longitud total de vía: 23.431 Km. 20.713 Km dan servicio</a:t>
            </a:r>
          </a:p>
          <a:p>
            <a:pPr algn="just"/>
            <a:r>
              <a:rPr lang="es-MX" sz="2000" dirty="0"/>
              <a:t>Estaciones totales: 24 (14 subterráneas y 10 superficiales)</a:t>
            </a:r>
          </a:p>
          <a:p>
            <a:pPr algn="just"/>
            <a:r>
              <a:rPr lang="es-MX" sz="2000" dirty="0"/>
              <a:t>Estaciones de correspondencia:  5 </a:t>
            </a:r>
          </a:p>
          <a:p>
            <a:pPr algn="just"/>
            <a:r>
              <a:rPr lang="es-MX" sz="2000" dirty="0"/>
              <a:t>Estaciones de paso: 17</a:t>
            </a:r>
          </a:p>
          <a:p>
            <a:pPr algn="just"/>
            <a:r>
              <a:rPr lang="es-MX" sz="2000" dirty="0"/>
              <a:t>Terminales: 2 </a:t>
            </a:r>
          </a:p>
          <a:p>
            <a:pPr algn="just"/>
            <a:r>
              <a:rPr lang="es-MX" sz="2000" dirty="0"/>
              <a:t>Tipo de construcción: subterránea y superficie.</a:t>
            </a:r>
          </a:p>
          <a:p>
            <a:pPr marL="0" indent="0">
              <a:buNone/>
            </a:pPr>
            <a:endParaRPr lang="es-ES" b="1" dirty="0"/>
          </a:p>
          <a:p>
            <a:pPr marL="0" indent="0">
              <a:buNone/>
            </a:pPr>
            <a:endParaRPr lang="es-ES" dirty="0"/>
          </a:p>
        </p:txBody>
      </p:sp>
    </p:spTree>
    <p:extLst>
      <p:ext uri="{BB962C8B-B14F-4D97-AF65-F5344CB8AC3E}">
        <p14:creationId xmlns:p14="http://schemas.microsoft.com/office/powerpoint/2010/main" val="12298454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5D59C9A-9661-4AFA-A992-F0387F2A0834}"/>
              </a:ext>
            </a:extLst>
          </p:cNvPr>
          <p:cNvSpPr>
            <a:spLocks noGrp="1"/>
          </p:cNvSpPr>
          <p:nvPr>
            <p:ph idx="1"/>
          </p:nvPr>
        </p:nvSpPr>
        <p:spPr>
          <a:xfrm>
            <a:off x="1066800" y="478735"/>
            <a:ext cx="10058400" cy="5900530"/>
          </a:xfrm>
        </p:spPr>
        <p:txBody>
          <a:bodyPr>
            <a:normAutofit/>
          </a:bodyPr>
          <a:lstStyle/>
          <a:p>
            <a:pPr algn="just">
              <a:buFont typeface="Wingdings" panose="05000000000000000000" pitchFamily="2" charset="2"/>
              <a:buChar char="v"/>
            </a:pPr>
            <a:r>
              <a:rPr lang="es-ES" sz="2000" b="1" dirty="0"/>
              <a:t>Línea 3 Indios Verdes - Universidad:</a:t>
            </a:r>
            <a:endParaRPr lang="es-MX" sz="2000" dirty="0"/>
          </a:p>
          <a:p>
            <a:pPr algn="just"/>
            <a:r>
              <a:rPr lang="es-MX" sz="2000" dirty="0"/>
              <a:t>Longitud total de vía : 23.609 Km. </a:t>
            </a:r>
            <a:r>
              <a:rPr lang="es-ES" sz="2000" dirty="0"/>
              <a:t>21.278 Km dan servicio</a:t>
            </a:r>
            <a:endParaRPr lang="es-MX" sz="2000" dirty="0"/>
          </a:p>
          <a:p>
            <a:pPr algn="just"/>
            <a:r>
              <a:rPr lang="es-MX" sz="2000" dirty="0"/>
              <a:t>Estaciones totales: 21 (17 subterráneas y 4 superficiales)</a:t>
            </a:r>
          </a:p>
          <a:p>
            <a:pPr algn="just"/>
            <a:r>
              <a:rPr lang="es-MX" sz="2000" dirty="0"/>
              <a:t>Estaciones de correspondencias: 6</a:t>
            </a:r>
          </a:p>
          <a:p>
            <a:pPr algn="just"/>
            <a:r>
              <a:rPr lang="es-MX" sz="2000" dirty="0"/>
              <a:t>Estaciones de paso: 13 </a:t>
            </a:r>
          </a:p>
          <a:p>
            <a:pPr algn="just"/>
            <a:r>
              <a:rPr lang="es-MX" sz="2000" dirty="0"/>
              <a:t>Terminales: 2</a:t>
            </a:r>
          </a:p>
          <a:p>
            <a:pPr algn="just"/>
            <a:r>
              <a:rPr lang="es-MX" sz="2000" dirty="0"/>
              <a:t>Tipo de construcción: Subterránea y superficie.</a:t>
            </a:r>
          </a:p>
          <a:p>
            <a:pPr algn="just">
              <a:buFont typeface="Wingdings" panose="05000000000000000000" pitchFamily="2" charset="2"/>
              <a:buChar char="v"/>
            </a:pPr>
            <a:r>
              <a:rPr lang="es-MX" sz="2000" b="1" dirty="0"/>
              <a:t>Línea 4 Santa Anita - Martín Carrera:</a:t>
            </a:r>
          </a:p>
          <a:p>
            <a:pPr algn="just"/>
            <a:r>
              <a:rPr lang="es-MX" sz="2000" dirty="0"/>
              <a:t>Longitud total de vía : 17.747 Km. </a:t>
            </a:r>
            <a:r>
              <a:rPr lang="es-ES" sz="2000" dirty="0"/>
              <a:t>9.363 Km dan servicio</a:t>
            </a:r>
            <a:endParaRPr lang="es-MX" sz="2000" dirty="0"/>
          </a:p>
          <a:p>
            <a:pPr algn="just"/>
            <a:r>
              <a:rPr lang="es-MX" sz="2000" dirty="0"/>
              <a:t>Estaciones totales: 10 (8 elevadas y 2 superficiales)</a:t>
            </a:r>
          </a:p>
          <a:p>
            <a:pPr algn="just"/>
            <a:r>
              <a:rPr lang="es-MX" sz="2000" dirty="0"/>
              <a:t>Estaciones de correspondencias: 4</a:t>
            </a:r>
          </a:p>
          <a:p>
            <a:pPr algn="just"/>
            <a:r>
              <a:rPr lang="es-MX" sz="2000" dirty="0"/>
              <a:t>Estaciones de paso: 4</a:t>
            </a:r>
          </a:p>
          <a:p>
            <a:pPr algn="just"/>
            <a:r>
              <a:rPr lang="es-MX" sz="2000" dirty="0"/>
              <a:t>Terminales: 2 (2 con correspondencia)</a:t>
            </a:r>
          </a:p>
          <a:p>
            <a:pPr algn="just"/>
            <a:r>
              <a:rPr lang="es-MX" sz="2000" dirty="0"/>
              <a:t>Tipo de construcción: Elevado y superficie.</a:t>
            </a:r>
          </a:p>
          <a:p>
            <a:pPr marL="0" indent="0">
              <a:buNone/>
            </a:pPr>
            <a:endParaRPr lang="es-MX" b="1" dirty="0"/>
          </a:p>
          <a:p>
            <a:pPr marL="0" indent="0">
              <a:buNone/>
            </a:pPr>
            <a:endParaRPr lang="es-MX" dirty="0"/>
          </a:p>
        </p:txBody>
      </p:sp>
    </p:spTree>
    <p:extLst>
      <p:ext uri="{BB962C8B-B14F-4D97-AF65-F5344CB8AC3E}">
        <p14:creationId xmlns:p14="http://schemas.microsoft.com/office/powerpoint/2010/main" val="29912720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739DEC2-FCDE-48D6-8D0D-3716D23FD479}"/>
              </a:ext>
            </a:extLst>
          </p:cNvPr>
          <p:cNvSpPr>
            <a:spLocks noGrp="1"/>
          </p:cNvSpPr>
          <p:nvPr>
            <p:ph idx="1"/>
          </p:nvPr>
        </p:nvSpPr>
        <p:spPr>
          <a:xfrm>
            <a:off x="1066800" y="490330"/>
            <a:ext cx="10058400" cy="5877339"/>
          </a:xfrm>
        </p:spPr>
        <p:txBody>
          <a:bodyPr/>
          <a:lstStyle/>
          <a:p>
            <a:pPr algn="just">
              <a:buFont typeface="Wingdings" panose="05000000000000000000" pitchFamily="2" charset="2"/>
              <a:buChar char="v"/>
            </a:pPr>
            <a:r>
              <a:rPr lang="es-MX" sz="2000" b="1" dirty="0"/>
              <a:t>Línea 5 Politécnico – Pantitlán:</a:t>
            </a:r>
          </a:p>
          <a:p>
            <a:pPr algn="just"/>
            <a:r>
              <a:rPr lang="es-MX" sz="2000" dirty="0"/>
              <a:t>Longitud total de vía : 15.675 Km. </a:t>
            </a:r>
            <a:r>
              <a:rPr lang="es-ES" sz="2000" dirty="0"/>
              <a:t>14.435 Km dan servicio</a:t>
            </a:r>
            <a:endParaRPr lang="es-MX" sz="2000" dirty="0"/>
          </a:p>
          <a:p>
            <a:pPr algn="just"/>
            <a:r>
              <a:rPr lang="es-MX" sz="2000" dirty="0"/>
              <a:t>Estaciones totales: 13 (4 subterráneas y 9 superficiales)</a:t>
            </a:r>
          </a:p>
          <a:p>
            <a:pPr algn="just"/>
            <a:r>
              <a:rPr lang="es-MX" sz="2000" dirty="0"/>
              <a:t>Estaciones de correspondencias: 4</a:t>
            </a:r>
          </a:p>
          <a:p>
            <a:pPr algn="just"/>
            <a:r>
              <a:rPr lang="es-MX" sz="2000" dirty="0"/>
              <a:t>Estaciones de paso: 7</a:t>
            </a:r>
          </a:p>
          <a:p>
            <a:pPr algn="just"/>
            <a:r>
              <a:rPr lang="es-MX" sz="2000" dirty="0"/>
              <a:t>Terminales: 2 (1 con correspondencia)</a:t>
            </a:r>
          </a:p>
          <a:p>
            <a:pPr algn="just"/>
            <a:r>
              <a:rPr lang="es-MX" sz="2000" dirty="0"/>
              <a:t>Tipo de construcción: Subterránea y superficie.</a:t>
            </a:r>
          </a:p>
          <a:p>
            <a:pPr algn="just">
              <a:buFont typeface="Wingdings" panose="05000000000000000000" pitchFamily="2" charset="2"/>
              <a:buChar char="v"/>
            </a:pPr>
            <a:r>
              <a:rPr lang="es-MX" sz="2000" b="1" dirty="0"/>
              <a:t>Línea 6 Rosario – Martín Carrera:</a:t>
            </a:r>
          </a:p>
          <a:p>
            <a:pPr algn="just"/>
            <a:r>
              <a:rPr lang="es-MX" sz="2000" dirty="0"/>
              <a:t>Longitud total de vía : 13.947 Km. </a:t>
            </a:r>
            <a:r>
              <a:rPr lang="es-ES" sz="2000" dirty="0"/>
              <a:t>11.434 Km dan servicio</a:t>
            </a:r>
            <a:endParaRPr lang="es-MX" sz="2000" dirty="0"/>
          </a:p>
          <a:p>
            <a:pPr algn="just"/>
            <a:r>
              <a:rPr lang="es-MX" sz="2000" dirty="0"/>
              <a:t>Estaciones totales: 11 (10 subterráneas y 1 superficial)</a:t>
            </a:r>
          </a:p>
          <a:p>
            <a:pPr algn="just"/>
            <a:r>
              <a:rPr lang="es-MX" sz="2000" dirty="0"/>
              <a:t>Estaciones de correspondencias: 2</a:t>
            </a:r>
          </a:p>
          <a:p>
            <a:pPr algn="just"/>
            <a:r>
              <a:rPr lang="es-MX" sz="2000" dirty="0"/>
              <a:t>Estaciones de paso: 7</a:t>
            </a:r>
          </a:p>
          <a:p>
            <a:pPr algn="just"/>
            <a:r>
              <a:rPr lang="es-MX" sz="2000" dirty="0"/>
              <a:t>Terminales: 2 (2 con correspondencia)</a:t>
            </a:r>
          </a:p>
          <a:p>
            <a:pPr algn="just"/>
            <a:r>
              <a:rPr lang="es-MX" sz="2000" dirty="0"/>
              <a:t>Tipo de construcción: Subterránea y superficie.</a:t>
            </a:r>
          </a:p>
          <a:p>
            <a:pPr marL="0" indent="0" algn="just">
              <a:buNone/>
            </a:pPr>
            <a:endParaRPr lang="es-MX" b="1" dirty="0"/>
          </a:p>
          <a:p>
            <a:pPr marL="0" indent="0">
              <a:buNone/>
            </a:pPr>
            <a:endParaRPr lang="es-MX" dirty="0"/>
          </a:p>
        </p:txBody>
      </p:sp>
    </p:spTree>
    <p:extLst>
      <p:ext uri="{BB962C8B-B14F-4D97-AF65-F5344CB8AC3E}">
        <p14:creationId xmlns:p14="http://schemas.microsoft.com/office/powerpoint/2010/main" val="12193080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E11AB3-9DE3-4262-95A0-12700A777B63}"/>
              </a:ext>
            </a:extLst>
          </p:cNvPr>
          <p:cNvSpPr>
            <a:spLocks noGrp="1"/>
          </p:cNvSpPr>
          <p:nvPr>
            <p:ph idx="1"/>
          </p:nvPr>
        </p:nvSpPr>
        <p:spPr>
          <a:xfrm>
            <a:off x="1066800" y="453887"/>
            <a:ext cx="10058400" cy="5950226"/>
          </a:xfrm>
        </p:spPr>
        <p:txBody>
          <a:bodyPr>
            <a:normAutofit/>
          </a:bodyPr>
          <a:lstStyle/>
          <a:p>
            <a:pPr algn="just">
              <a:buFont typeface="Wingdings" panose="05000000000000000000" pitchFamily="2" charset="2"/>
              <a:buChar char="v"/>
            </a:pPr>
            <a:r>
              <a:rPr lang="es-MX" sz="2000" b="1" dirty="0"/>
              <a:t>Línea 7 Rosario- Barranca del Muerto:</a:t>
            </a:r>
          </a:p>
          <a:p>
            <a:pPr algn="just"/>
            <a:r>
              <a:rPr lang="es-MX" sz="2000" dirty="0"/>
              <a:t>Longitud total de vía : 18.784 Km. </a:t>
            </a:r>
            <a:r>
              <a:rPr lang="es-ES" sz="2000" dirty="0"/>
              <a:t>17.011 Km dan servicio</a:t>
            </a:r>
            <a:endParaRPr lang="es-MX" sz="2000" dirty="0"/>
          </a:p>
          <a:p>
            <a:pPr algn="just"/>
            <a:r>
              <a:rPr lang="es-MX" sz="2000" dirty="0"/>
              <a:t>Estaciones totales: 14 (13 subterráneas y 1 superficiales)</a:t>
            </a:r>
          </a:p>
          <a:p>
            <a:pPr algn="just"/>
            <a:r>
              <a:rPr lang="es-MX" sz="2000" dirty="0"/>
              <a:t>Estaciones de correspondencias: 2</a:t>
            </a:r>
          </a:p>
          <a:p>
            <a:pPr algn="just"/>
            <a:r>
              <a:rPr lang="es-MX" sz="2000" dirty="0"/>
              <a:t>Estaciones de paso: 10</a:t>
            </a:r>
          </a:p>
          <a:p>
            <a:pPr algn="just"/>
            <a:r>
              <a:rPr lang="es-MX" sz="2000" dirty="0"/>
              <a:t>Terminales: 2 (1 con correspondencia)</a:t>
            </a:r>
          </a:p>
          <a:p>
            <a:pPr algn="just"/>
            <a:r>
              <a:rPr lang="es-MX" sz="2000" dirty="0"/>
              <a:t>Tipo de construcción: Subterránea y superficie.</a:t>
            </a:r>
            <a:endParaRPr lang="es-MX" sz="2000" b="1" dirty="0"/>
          </a:p>
          <a:p>
            <a:pPr algn="just">
              <a:buFont typeface="Wingdings" panose="05000000000000000000" pitchFamily="2" charset="2"/>
              <a:buChar char="v"/>
            </a:pPr>
            <a:r>
              <a:rPr lang="es-MX" sz="2000" b="1" dirty="0"/>
              <a:t>Línea 8 Garibaldi- Constitución de 1917:</a:t>
            </a:r>
          </a:p>
          <a:p>
            <a:pPr algn="just"/>
            <a:r>
              <a:rPr lang="es-MX" sz="2000" dirty="0"/>
              <a:t>Longitud total de vía : 20.078 Km. </a:t>
            </a:r>
            <a:r>
              <a:rPr lang="es-ES" sz="2000" dirty="0"/>
              <a:t>17.679 Km dan servicio</a:t>
            </a:r>
            <a:endParaRPr lang="es-MX" sz="2000" dirty="0"/>
          </a:p>
          <a:p>
            <a:pPr algn="just"/>
            <a:r>
              <a:rPr lang="es-MX" sz="2000" dirty="0"/>
              <a:t>Estaciones totales: 19 (14 subterráneas y 5 superficiales)</a:t>
            </a:r>
          </a:p>
          <a:p>
            <a:pPr algn="just"/>
            <a:r>
              <a:rPr lang="es-MX" sz="2000" dirty="0"/>
              <a:t>Estaciones de correspondencias: 4</a:t>
            </a:r>
          </a:p>
          <a:p>
            <a:pPr algn="just"/>
            <a:r>
              <a:rPr lang="es-MX" sz="2000" dirty="0"/>
              <a:t>Estaciones de paso: 13</a:t>
            </a:r>
          </a:p>
          <a:p>
            <a:pPr algn="just"/>
            <a:r>
              <a:rPr lang="es-MX" sz="2000" dirty="0"/>
              <a:t>Terminales: 2 (1 con correspondencia)</a:t>
            </a:r>
          </a:p>
          <a:p>
            <a:pPr algn="just"/>
            <a:r>
              <a:rPr lang="es-MX" sz="2000" dirty="0"/>
              <a:t>Tipo de construcción: Subterránea y superficie.</a:t>
            </a:r>
            <a:endParaRPr lang="es-MX" sz="2000" b="1" dirty="0"/>
          </a:p>
          <a:p>
            <a:pPr marL="0" indent="0">
              <a:buNone/>
            </a:pPr>
            <a:endParaRPr lang="es-MX" b="1" dirty="0"/>
          </a:p>
        </p:txBody>
      </p:sp>
    </p:spTree>
    <p:extLst>
      <p:ext uri="{BB962C8B-B14F-4D97-AF65-F5344CB8AC3E}">
        <p14:creationId xmlns:p14="http://schemas.microsoft.com/office/powerpoint/2010/main" val="2839880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14BC0A-D026-4E9A-841B-C2D6D5A5A810}"/>
              </a:ext>
            </a:extLst>
          </p:cNvPr>
          <p:cNvSpPr>
            <a:spLocks noGrp="1"/>
          </p:cNvSpPr>
          <p:nvPr>
            <p:ph idx="1"/>
          </p:nvPr>
        </p:nvSpPr>
        <p:spPr>
          <a:xfrm>
            <a:off x="1066800" y="453887"/>
            <a:ext cx="10058400" cy="5950225"/>
          </a:xfrm>
        </p:spPr>
        <p:txBody>
          <a:bodyPr>
            <a:normAutofit/>
          </a:bodyPr>
          <a:lstStyle/>
          <a:p>
            <a:pPr algn="just">
              <a:buFont typeface="Wingdings" panose="05000000000000000000" pitchFamily="2" charset="2"/>
              <a:buChar char="v"/>
            </a:pPr>
            <a:r>
              <a:rPr lang="es-MX" sz="2000" b="1" dirty="0"/>
              <a:t>Línea 9 Pantitlán – Tacubaya:</a:t>
            </a:r>
          </a:p>
          <a:p>
            <a:pPr algn="just"/>
            <a:r>
              <a:rPr lang="es-MX" sz="2000" dirty="0"/>
              <a:t>Longitud total de vía : 15.375 Km. </a:t>
            </a:r>
            <a:r>
              <a:rPr lang="es-ES" sz="2000" dirty="0"/>
              <a:t>13.033 Km dan servicio</a:t>
            </a:r>
            <a:endParaRPr lang="es-MX" sz="2000" dirty="0"/>
          </a:p>
          <a:p>
            <a:pPr algn="just"/>
            <a:r>
              <a:rPr lang="es-MX" sz="2000" dirty="0"/>
              <a:t>Estaciones totales: 12 (8 subterráneas y 4 elevadas)</a:t>
            </a:r>
          </a:p>
          <a:p>
            <a:pPr algn="just"/>
            <a:r>
              <a:rPr lang="es-MX" sz="2000" dirty="0"/>
              <a:t>Estaciones de correspondencias: 3</a:t>
            </a:r>
          </a:p>
          <a:p>
            <a:pPr algn="just"/>
            <a:r>
              <a:rPr lang="es-MX" sz="2000" dirty="0"/>
              <a:t>Estaciones de paso: 7</a:t>
            </a:r>
          </a:p>
          <a:p>
            <a:pPr algn="just"/>
            <a:r>
              <a:rPr lang="es-MX" sz="2000" dirty="0"/>
              <a:t>Terminales: 2 (2 con correspondencia)</a:t>
            </a:r>
          </a:p>
          <a:p>
            <a:pPr algn="just"/>
            <a:r>
              <a:rPr lang="es-MX" sz="2000" dirty="0"/>
              <a:t>Tipo de construcción: Subterránea y elevada. </a:t>
            </a:r>
          </a:p>
          <a:p>
            <a:pPr algn="just">
              <a:buFont typeface="Wingdings" panose="05000000000000000000" pitchFamily="2" charset="2"/>
              <a:buChar char="v"/>
            </a:pPr>
            <a:r>
              <a:rPr lang="es-MX" sz="2000" b="1" dirty="0"/>
              <a:t>Línea A Pantitlán- La paz:</a:t>
            </a:r>
          </a:p>
          <a:p>
            <a:pPr algn="just"/>
            <a:r>
              <a:rPr lang="es-MX" sz="2000" dirty="0"/>
              <a:t>Longitud total de vía : 17.972 Km. </a:t>
            </a:r>
            <a:r>
              <a:rPr lang="es-ES" sz="2000" dirty="0"/>
              <a:t>14.893 Km dan servicio</a:t>
            </a:r>
            <a:endParaRPr lang="es-MX" sz="2000" dirty="0"/>
          </a:p>
          <a:p>
            <a:pPr algn="just"/>
            <a:r>
              <a:rPr lang="es-MX" sz="2000" dirty="0"/>
              <a:t>Estaciones totales: 10 (1 subterránea y 9 superficiales)</a:t>
            </a:r>
          </a:p>
          <a:p>
            <a:pPr algn="just"/>
            <a:r>
              <a:rPr lang="es-MX" sz="2000" dirty="0"/>
              <a:t>Estaciones de correspondencias: 0</a:t>
            </a:r>
          </a:p>
          <a:p>
            <a:pPr algn="just"/>
            <a:r>
              <a:rPr lang="es-MX" sz="2000" dirty="0"/>
              <a:t>Estaciones de paso: 8</a:t>
            </a:r>
          </a:p>
          <a:p>
            <a:pPr algn="just"/>
            <a:r>
              <a:rPr lang="es-MX" sz="2000" dirty="0"/>
              <a:t>Terminales: 2 (1 con correspondencia)</a:t>
            </a:r>
          </a:p>
          <a:p>
            <a:pPr algn="just"/>
            <a:r>
              <a:rPr lang="es-MX" sz="2000" dirty="0"/>
              <a:t>Tipo de construcción: Subterránea y superficie.</a:t>
            </a:r>
            <a:endParaRPr lang="es-MX" sz="2000" b="1" dirty="0"/>
          </a:p>
          <a:p>
            <a:pPr marL="0" indent="0" algn="just">
              <a:buNone/>
            </a:pPr>
            <a:endParaRPr lang="es-MX" b="1" dirty="0"/>
          </a:p>
          <a:p>
            <a:pPr marL="0" indent="0">
              <a:buNone/>
            </a:pPr>
            <a:endParaRPr lang="es-MX" b="1" dirty="0"/>
          </a:p>
        </p:txBody>
      </p:sp>
    </p:spTree>
    <p:extLst>
      <p:ext uri="{BB962C8B-B14F-4D97-AF65-F5344CB8AC3E}">
        <p14:creationId xmlns:p14="http://schemas.microsoft.com/office/powerpoint/2010/main" val="29256912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786C82C-598E-4755-8826-70D9234BDD11}"/>
              </a:ext>
            </a:extLst>
          </p:cNvPr>
          <p:cNvSpPr>
            <a:spLocks noGrp="1"/>
          </p:cNvSpPr>
          <p:nvPr>
            <p:ph idx="1"/>
          </p:nvPr>
        </p:nvSpPr>
        <p:spPr>
          <a:xfrm>
            <a:off x="1066800" y="1928854"/>
            <a:ext cx="10058400" cy="3000292"/>
          </a:xfrm>
        </p:spPr>
        <p:txBody>
          <a:bodyPr>
            <a:normAutofit/>
          </a:bodyPr>
          <a:lstStyle/>
          <a:p>
            <a:pPr>
              <a:buFont typeface="Wingdings" panose="05000000000000000000" pitchFamily="2" charset="2"/>
              <a:buChar char="v"/>
            </a:pPr>
            <a:r>
              <a:rPr lang="es-MX" sz="2000" b="1" dirty="0"/>
              <a:t>Línea B  Ciudad Azteca – Buenavista:</a:t>
            </a:r>
          </a:p>
          <a:p>
            <a:pPr algn="just"/>
            <a:r>
              <a:rPr lang="es-MX" sz="2000" dirty="0"/>
              <a:t>Longitud total de vía : 23.722 Km. </a:t>
            </a:r>
            <a:r>
              <a:rPr lang="es-ES" sz="2000" dirty="0"/>
              <a:t>20.278 Km dan servicio</a:t>
            </a:r>
            <a:endParaRPr lang="es-MX" sz="2000" dirty="0"/>
          </a:p>
          <a:p>
            <a:pPr algn="just"/>
            <a:r>
              <a:rPr lang="es-MX" sz="2000" dirty="0"/>
              <a:t>Estaciones totales: 21 (6 subterránea , 11 superficiales y 4 elevadas)</a:t>
            </a:r>
          </a:p>
          <a:p>
            <a:pPr algn="just"/>
            <a:r>
              <a:rPr lang="es-MX" sz="2000" dirty="0"/>
              <a:t>Estaciones de correspondencias: 5</a:t>
            </a:r>
          </a:p>
          <a:p>
            <a:pPr algn="just"/>
            <a:r>
              <a:rPr lang="es-MX" sz="2000" dirty="0"/>
              <a:t>Estaciones de paso: 14</a:t>
            </a:r>
          </a:p>
          <a:p>
            <a:pPr algn="just"/>
            <a:r>
              <a:rPr lang="es-MX" sz="2000" dirty="0"/>
              <a:t>Terminales: 2 (0 con correspondencia)</a:t>
            </a:r>
          </a:p>
          <a:p>
            <a:pPr algn="just"/>
            <a:r>
              <a:rPr lang="es-MX" sz="2000" dirty="0"/>
              <a:t>Tipo de construcción: Subterránea, superficie y elevada.</a:t>
            </a:r>
            <a:endParaRPr lang="es-MX" sz="2000" b="1" dirty="0"/>
          </a:p>
        </p:txBody>
      </p:sp>
    </p:spTree>
    <p:extLst>
      <p:ext uri="{BB962C8B-B14F-4D97-AF65-F5344CB8AC3E}">
        <p14:creationId xmlns:p14="http://schemas.microsoft.com/office/powerpoint/2010/main" val="26957978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B41B7B-6418-44F8-ACE0-644508E1B745}"/>
              </a:ext>
            </a:extLst>
          </p:cNvPr>
          <p:cNvSpPr>
            <a:spLocks noGrp="1"/>
          </p:cNvSpPr>
          <p:nvPr>
            <p:ph type="title"/>
          </p:nvPr>
        </p:nvSpPr>
        <p:spPr>
          <a:xfrm>
            <a:off x="1066800" y="0"/>
            <a:ext cx="10058400" cy="841649"/>
          </a:xfrm>
        </p:spPr>
        <p:txBody>
          <a:bodyPr>
            <a:normAutofit/>
          </a:bodyPr>
          <a:lstStyle/>
          <a:p>
            <a:pPr algn="ctr"/>
            <a:r>
              <a:rPr lang="es-MX" sz="3200" b="1" u="sng" dirty="0"/>
              <a:t>Infraestructura General del S.T.C.</a:t>
            </a:r>
          </a:p>
        </p:txBody>
      </p:sp>
      <p:sp>
        <p:nvSpPr>
          <p:cNvPr id="3" name="Marcador de contenido 2">
            <a:extLst>
              <a:ext uri="{FF2B5EF4-FFF2-40B4-BE49-F238E27FC236}">
                <a16:creationId xmlns:a16="http://schemas.microsoft.com/office/drawing/2014/main" id="{71CCAEAA-E765-472A-B1D7-D0C97F84BBBD}"/>
              </a:ext>
            </a:extLst>
          </p:cNvPr>
          <p:cNvSpPr>
            <a:spLocks noGrp="1"/>
          </p:cNvSpPr>
          <p:nvPr>
            <p:ph idx="1"/>
          </p:nvPr>
        </p:nvSpPr>
        <p:spPr>
          <a:xfrm>
            <a:off x="1066800" y="950180"/>
            <a:ext cx="10058400" cy="1325881"/>
          </a:xfrm>
        </p:spPr>
        <p:txBody>
          <a:bodyPr/>
          <a:lstStyle/>
          <a:p>
            <a:pPr algn="just">
              <a:buFont typeface="Wingdings" panose="05000000000000000000" pitchFamily="2" charset="2"/>
              <a:buChar char="v"/>
            </a:pPr>
            <a:r>
              <a:rPr lang="es-MX" sz="2000" b="1" dirty="0"/>
              <a:t>El Cajón: </a:t>
            </a:r>
            <a:r>
              <a:rPr lang="es-ES" sz="2000" dirty="0"/>
              <a:t>túnel a gran profundidad</a:t>
            </a:r>
            <a:r>
              <a:rPr lang="es-MX" sz="2000" dirty="0"/>
              <a:t> que constituye el 95% de la superficie construida. Es el edificio subterráneo continuo más grande de la ciudad. Su sección rectangular aloja las vías que permiten la circulación de lo trenes.</a:t>
            </a:r>
            <a:r>
              <a:rPr lang="es-ES" sz="2000" dirty="0"/>
              <a:t> Protege a las presiones que se ejercen por la profundidad.</a:t>
            </a:r>
            <a:endParaRPr lang="es-MX" sz="2000" dirty="0"/>
          </a:p>
          <a:p>
            <a:pPr>
              <a:buFont typeface="Wingdings" panose="05000000000000000000" pitchFamily="2" charset="2"/>
              <a:buChar char="v"/>
            </a:pPr>
            <a:endParaRPr lang="es-MX" b="1" dirty="0"/>
          </a:p>
          <a:p>
            <a:pPr marL="0" indent="0">
              <a:buNone/>
            </a:pPr>
            <a:endParaRPr lang="es-MX" b="1" dirty="0"/>
          </a:p>
        </p:txBody>
      </p:sp>
      <p:pic>
        <p:nvPicPr>
          <p:cNvPr id="1026" name="Picture 2" descr="CAJON1">
            <a:extLst>
              <a:ext uri="{FF2B5EF4-FFF2-40B4-BE49-F238E27FC236}">
                <a16:creationId xmlns:a16="http://schemas.microsoft.com/office/drawing/2014/main" id="{2725E810-C3BE-4566-831D-751FB079E6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8062" y="2384592"/>
            <a:ext cx="5115876" cy="416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93224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DE5C722-C6A5-4B15-8968-4DE7CFF7E620}"/>
              </a:ext>
            </a:extLst>
          </p:cNvPr>
          <p:cNvSpPr>
            <a:spLocks noGrp="1"/>
          </p:cNvSpPr>
          <p:nvPr>
            <p:ph idx="1"/>
          </p:nvPr>
        </p:nvSpPr>
        <p:spPr>
          <a:xfrm>
            <a:off x="470452" y="274320"/>
            <a:ext cx="5625548" cy="1323438"/>
          </a:xfrm>
          <a:ln>
            <a:solidFill>
              <a:schemeClr val="tx1"/>
            </a:solidFill>
          </a:ln>
        </p:spPr>
        <p:txBody>
          <a:bodyPr/>
          <a:lstStyle/>
          <a:p>
            <a:pPr algn="just"/>
            <a:r>
              <a:rPr lang="es-ES" sz="2000" b="1" dirty="0"/>
              <a:t>ESTRUCTURA TIPO ESCUDO: </a:t>
            </a:r>
            <a:r>
              <a:rPr lang="es-ES" sz="2000" dirty="0"/>
              <a:t>Estructura la cual es una forma redonda que solo se encuentra en algunas estaciones. Como la</a:t>
            </a:r>
            <a:r>
              <a:rPr lang="es-ES" sz="2000" b="1" dirty="0"/>
              <a:t> </a:t>
            </a:r>
            <a:r>
              <a:rPr lang="es-ES" sz="2000" dirty="0"/>
              <a:t>línea 7 rosario - barranca del muerto.</a:t>
            </a:r>
            <a:endParaRPr lang="es-MX" sz="2000" dirty="0"/>
          </a:p>
          <a:p>
            <a:endParaRPr lang="es-MX" dirty="0"/>
          </a:p>
        </p:txBody>
      </p:sp>
      <p:pic>
        <p:nvPicPr>
          <p:cNvPr id="1028" name="Picture 4" descr="CIRU">
            <a:extLst>
              <a:ext uri="{FF2B5EF4-FFF2-40B4-BE49-F238E27FC236}">
                <a16:creationId xmlns:a16="http://schemas.microsoft.com/office/drawing/2014/main" id="{14641114-90B7-483C-8018-83D650446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689" y="2110970"/>
            <a:ext cx="4918930" cy="4201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uadroTexto 1">
            <a:extLst>
              <a:ext uri="{FF2B5EF4-FFF2-40B4-BE49-F238E27FC236}">
                <a16:creationId xmlns:a16="http://schemas.microsoft.com/office/drawing/2014/main" id="{A03493CB-943E-4CB5-AF6E-737E440F0B3E}"/>
              </a:ext>
            </a:extLst>
          </p:cNvPr>
          <p:cNvSpPr txBox="1"/>
          <p:nvPr/>
        </p:nvSpPr>
        <p:spPr>
          <a:xfrm>
            <a:off x="6096000" y="274319"/>
            <a:ext cx="5625548" cy="1323439"/>
          </a:xfrm>
          <a:prstGeom prst="rect">
            <a:avLst/>
          </a:prstGeom>
          <a:noFill/>
          <a:ln>
            <a:solidFill>
              <a:schemeClr val="tx1"/>
            </a:solidFill>
          </a:ln>
        </p:spPr>
        <p:txBody>
          <a:bodyPr wrap="square" rtlCol="0">
            <a:spAutoFit/>
          </a:bodyPr>
          <a:lstStyle/>
          <a:p>
            <a:pPr algn="just"/>
            <a:r>
              <a:rPr lang="es-ES" sz="2000" b="1" dirty="0"/>
              <a:t>ESTRUCTURA TIPO ELEVADO: </a:t>
            </a:r>
            <a:r>
              <a:rPr lang="es-ES" sz="2000" dirty="0"/>
              <a:t>Es la estructura la cual su construcción esta formada de estructuras parecidas a los puentes.</a:t>
            </a:r>
          </a:p>
          <a:p>
            <a:pPr algn="just"/>
            <a:endParaRPr lang="es-MX" sz="2000" dirty="0"/>
          </a:p>
        </p:txBody>
      </p:sp>
      <p:pic>
        <p:nvPicPr>
          <p:cNvPr id="1029" name="Picture 5" descr="AEREe5">
            <a:extLst>
              <a:ext uri="{FF2B5EF4-FFF2-40B4-BE49-F238E27FC236}">
                <a16:creationId xmlns:a16="http://schemas.microsoft.com/office/drawing/2014/main" id="{958B5B9B-7A1B-4B64-99DF-5503518D6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2383" y="2364189"/>
            <a:ext cx="5269165" cy="370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6002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B480024-FAD8-4EB7-AE3D-EC171FB3AD36}"/>
              </a:ext>
            </a:extLst>
          </p:cNvPr>
          <p:cNvSpPr>
            <a:spLocks noGrp="1"/>
          </p:cNvSpPr>
          <p:nvPr>
            <p:ph idx="1"/>
          </p:nvPr>
        </p:nvSpPr>
        <p:spPr>
          <a:xfrm>
            <a:off x="1066800" y="288388"/>
            <a:ext cx="10058400" cy="2931890"/>
          </a:xfrm>
        </p:spPr>
        <p:txBody>
          <a:bodyPr/>
          <a:lstStyle/>
          <a:p>
            <a:pPr algn="just">
              <a:buFont typeface="Wingdings" panose="05000000000000000000" pitchFamily="2" charset="2"/>
              <a:buChar char="v"/>
            </a:pPr>
            <a:r>
              <a:rPr lang="es-MX" b="1" dirty="0"/>
              <a:t> </a:t>
            </a:r>
            <a:r>
              <a:rPr lang="es-MX" sz="2000" b="1" dirty="0"/>
              <a:t>ESTACIONES: </a:t>
            </a:r>
            <a:r>
              <a:rPr lang="es-MX" sz="2000" dirty="0"/>
              <a:t>En ellas la sección del cajón se amplía para lograr los espacios arquitectónicos en los que los usuarios se conectan con el exterior, circulan, esperan y abordan los trenes y les proporciona la eficiencia, seguridad y confort, antes y después de realizar el viaje. Las estaciones tienen formas de identificarse dentro del sistema como son color y un símbolo asociado a la estación. Existen dos tipos de formas de estación</a:t>
            </a:r>
          </a:p>
          <a:p>
            <a:pPr algn="just"/>
            <a:r>
              <a:rPr lang="es-MX" sz="2000" dirty="0"/>
              <a:t>Andenes centrales </a:t>
            </a:r>
          </a:p>
          <a:p>
            <a:pPr algn="just"/>
            <a:r>
              <a:rPr lang="es-MX" sz="2000" dirty="0"/>
              <a:t>Andenes laterales.</a:t>
            </a:r>
          </a:p>
        </p:txBody>
      </p:sp>
      <p:pic>
        <p:nvPicPr>
          <p:cNvPr id="5" name="Imagen 4">
            <a:extLst>
              <a:ext uri="{FF2B5EF4-FFF2-40B4-BE49-F238E27FC236}">
                <a16:creationId xmlns:a16="http://schemas.microsoft.com/office/drawing/2014/main" id="{DD5ADDF3-2837-49C9-8FEA-FF5656E019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3113648"/>
            <a:ext cx="4214875" cy="3455964"/>
          </a:xfrm>
          <a:prstGeom prst="rect">
            <a:avLst/>
          </a:prstGeom>
        </p:spPr>
      </p:pic>
      <p:pic>
        <p:nvPicPr>
          <p:cNvPr id="7" name="Imagen 6">
            <a:extLst>
              <a:ext uri="{FF2B5EF4-FFF2-40B4-BE49-F238E27FC236}">
                <a16:creationId xmlns:a16="http://schemas.microsoft.com/office/drawing/2014/main" id="{253112B1-2A68-44DA-9AD8-D789AF30E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7212" y="3113648"/>
            <a:ext cx="4707988" cy="3446247"/>
          </a:xfrm>
          <a:prstGeom prst="rect">
            <a:avLst/>
          </a:prstGeom>
        </p:spPr>
      </p:pic>
    </p:spTree>
    <p:extLst>
      <p:ext uri="{BB962C8B-B14F-4D97-AF65-F5344CB8AC3E}">
        <p14:creationId xmlns:p14="http://schemas.microsoft.com/office/powerpoint/2010/main" val="41094589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324BE4-666A-45AC-8CDC-19684C8E3686}"/>
              </a:ext>
            </a:extLst>
          </p:cNvPr>
          <p:cNvSpPr>
            <a:spLocks noGrp="1"/>
          </p:cNvSpPr>
          <p:nvPr>
            <p:ph type="title"/>
          </p:nvPr>
        </p:nvSpPr>
        <p:spPr>
          <a:xfrm>
            <a:off x="838200" y="365125"/>
            <a:ext cx="10515600" cy="1325563"/>
          </a:xfrm>
        </p:spPr>
        <p:txBody>
          <a:bodyPr>
            <a:normAutofit fontScale="90000"/>
          </a:bodyPr>
          <a:lstStyle/>
          <a:p>
            <a:pPr algn="ctr"/>
            <a:r>
              <a:rPr lang="es-MX" b="1" dirty="0"/>
              <a:t>PARQUE VEHICULAR DEL STC</a:t>
            </a:r>
            <a:r>
              <a:rPr lang="es-ES" b="1" dirty="0"/>
              <a:t> METRO</a:t>
            </a:r>
            <a:endParaRPr lang="es-MX" dirty="0"/>
          </a:p>
        </p:txBody>
      </p:sp>
      <p:graphicFrame>
        <p:nvGraphicFramePr>
          <p:cNvPr id="6" name="Tabla 5">
            <a:extLst>
              <a:ext uri="{FF2B5EF4-FFF2-40B4-BE49-F238E27FC236}">
                <a16:creationId xmlns:a16="http://schemas.microsoft.com/office/drawing/2014/main" id="{15D1A93F-29D9-4632-A962-81B913B235A4}"/>
              </a:ext>
            </a:extLst>
          </p:cNvPr>
          <p:cNvGraphicFramePr>
            <a:graphicFrameLocks noGrp="1"/>
          </p:cNvGraphicFramePr>
          <p:nvPr/>
        </p:nvGraphicFramePr>
        <p:xfrm>
          <a:off x="2826019" y="1378424"/>
          <a:ext cx="6539962" cy="4674951"/>
        </p:xfrm>
        <a:graphic>
          <a:graphicData uri="http://schemas.openxmlformats.org/drawingml/2006/table">
            <a:tbl>
              <a:tblPr firstRow="1" firstCol="1" bandRow="1">
                <a:tableStyleId>{5C22544A-7EE6-4342-B048-85BDC9FD1C3A}</a:tableStyleId>
              </a:tblPr>
              <a:tblGrid>
                <a:gridCol w="1089751">
                  <a:extLst>
                    <a:ext uri="{9D8B030D-6E8A-4147-A177-3AD203B41FA5}">
                      <a16:colId xmlns:a16="http://schemas.microsoft.com/office/drawing/2014/main" val="1710933140"/>
                    </a:ext>
                  </a:extLst>
                </a:gridCol>
                <a:gridCol w="1089751">
                  <a:extLst>
                    <a:ext uri="{9D8B030D-6E8A-4147-A177-3AD203B41FA5}">
                      <a16:colId xmlns:a16="http://schemas.microsoft.com/office/drawing/2014/main" val="2769975128"/>
                    </a:ext>
                  </a:extLst>
                </a:gridCol>
                <a:gridCol w="1089751">
                  <a:extLst>
                    <a:ext uri="{9D8B030D-6E8A-4147-A177-3AD203B41FA5}">
                      <a16:colId xmlns:a16="http://schemas.microsoft.com/office/drawing/2014/main" val="1445485173"/>
                    </a:ext>
                  </a:extLst>
                </a:gridCol>
                <a:gridCol w="1089751">
                  <a:extLst>
                    <a:ext uri="{9D8B030D-6E8A-4147-A177-3AD203B41FA5}">
                      <a16:colId xmlns:a16="http://schemas.microsoft.com/office/drawing/2014/main" val="2261069378"/>
                    </a:ext>
                  </a:extLst>
                </a:gridCol>
                <a:gridCol w="1090479">
                  <a:extLst>
                    <a:ext uri="{9D8B030D-6E8A-4147-A177-3AD203B41FA5}">
                      <a16:colId xmlns:a16="http://schemas.microsoft.com/office/drawing/2014/main" val="2078074481"/>
                    </a:ext>
                  </a:extLst>
                </a:gridCol>
                <a:gridCol w="1090479">
                  <a:extLst>
                    <a:ext uri="{9D8B030D-6E8A-4147-A177-3AD203B41FA5}">
                      <a16:colId xmlns:a16="http://schemas.microsoft.com/office/drawing/2014/main" val="696709360"/>
                    </a:ext>
                  </a:extLst>
                </a:gridCol>
              </a:tblGrid>
              <a:tr h="973978">
                <a:tc>
                  <a:txBody>
                    <a:bodyPr/>
                    <a:lstStyle/>
                    <a:p>
                      <a:pPr indent="180340" algn="ctr">
                        <a:lnSpc>
                          <a:spcPct val="200000"/>
                        </a:lnSpc>
                        <a:spcAft>
                          <a:spcPts val="0"/>
                        </a:spcAft>
                      </a:pPr>
                      <a:r>
                        <a:rPr lang="es-ES" sz="1000" dirty="0">
                          <a:effectLst/>
                        </a:rPr>
                        <a:t>Tipo de Unidad</a:t>
                      </a:r>
                      <a:endParaRPr lang="es-MX" sz="1200" dirty="0">
                        <a:effectLst/>
                      </a:endParaRPr>
                    </a:p>
                    <a:p>
                      <a:pPr indent="180340" algn="just">
                        <a:lnSpc>
                          <a:spcPct val="200000"/>
                        </a:lnSpc>
                        <a:spcAft>
                          <a:spcPts val="0"/>
                        </a:spcAft>
                      </a:pPr>
                      <a:r>
                        <a:rPr lang="es-MX" sz="1000" dirty="0">
                          <a:effectLst/>
                        </a:rPr>
                        <a:t> </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Patente</a:t>
                      </a:r>
                      <a:endParaRPr lang="es-MX" sz="1200">
                        <a:effectLst/>
                      </a:endParaRPr>
                    </a:p>
                    <a:p>
                      <a:pPr indent="180340" algn="ctr">
                        <a:lnSpc>
                          <a:spcPct val="200000"/>
                        </a:lnSpc>
                        <a:spcAft>
                          <a:spcPts val="0"/>
                        </a:spcAft>
                      </a:pPr>
                      <a:r>
                        <a:rPr lang="es-ES"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Motríz con cabina (M)</a:t>
                      </a:r>
                      <a:endParaRPr lang="es-MX" sz="1200">
                        <a:effectLst/>
                      </a:endParaRPr>
                    </a:p>
                    <a:p>
                      <a:pPr indent="180340" algn="just">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Motríz sin cabina (N)</a:t>
                      </a:r>
                      <a:endParaRPr lang="es-MX" sz="1200">
                        <a:effectLst/>
                      </a:endParaRPr>
                    </a:p>
                    <a:p>
                      <a:pPr indent="180340" algn="just">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Remolque (R)</a:t>
                      </a:r>
                      <a:endParaRPr lang="es-MX" sz="1200">
                        <a:effectLst/>
                      </a:endParaRPr>
                    </a:p>
                    <a:p>
                      <a:pPr indent="180340" algn="just">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Año de fabricación</a:t>
                      </a:r>
                      <a:endParaRPr lang="es-MX" sz="1200">
                        <a:effectLst/>
                      </a:endParaRPr>
                    </a:p>
                    <a:p>
                      <a:pPr indent="180340" algn="just">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49993791"/>
                  </a:ext>
                </a:extLst>
              </a:tr>
              <a:tr h="3700973">
                <a:tc>
                  <a:txBody>
                    <a:bodyPr/>
                    <a:lstStyle/>
                    <a:p>
                      <a:pPr indent="180340" algn="ctr">
                        <a:lnSpc>
                          <a:spcPct val="200000"/>
                        </a:lnSpc>
                        <a:spcAft>
                          <a:spcPts val="0"/>
                        </a:spcAft>
                      </a:pPr>
                      <a:r>
                        <a:rPr lang="en-US" sz="1000">
                          <a:effectLst/>
                        </a:rPr>
                        <a:t>MP-68</a:t>
                      </a:r>
                      <a:br>
                        <a:rPr lang="en-US" sz="1000">
                          <a:effectLst/>
                        </a:rPr>
                      </a:br>
                      <a:r>
                        <a:rPr lang="en-US" sz="1000">
                          <a:effectLst/>
                        </a:rPr>
                        <a:t>NM-73 A</a:t>
                      </a:r>
                      <a:br>
                        <a:rPr lang="en-US" sz="1000">
                          <a:effectLst/>
                        </a:rPr>
                      </a:br>
                      <a:r>
                        <a:rPr lang="en-US" sz="1000">
                          <a:effectLst/>
                        </a:rPr>
                        <a:t>NM-73 B</a:t>
                      </a:r>
                      <a:br>
                        <a:rPr lang="en-US" sz="1000">
                          <a:effectLst/>
                        </a:rPr>
                      </a:br>
                      <a:r>
                        <a:rPr lang="en-US" sz="1000">
                          <a:effectLst/>
                        </a:rPr>
                        <a:t>NM-73 C</a:t>
                      </a:r>
                      <a:br>
                        <a:rPr lang="en-US" sz="1000">
                          <a:effectLst/>
                        </a:rPr>
                      </a:br>
                      <a:r>
                        <a:rPr lang="en-US" sz="1000">
                          <a:effectLst/>
                        </a:rPr>
                        <a:t>NM-79</a:t>
                      </a:r>
                      <a:br>
                        <a:rPr lang="en-US" sz="1000">
                          <a:effectLst/>
                        </a:rPr>
                      </a:br>
                      <a:r>
                        <a:rPr lang="en-US" sz="1000">
                          <a:effectLst/>
                        </a:rPr>
                        <a:t>NC-82</a:t>
                      </a:r>
                      <a:br>
                        <a:rPr lang="en-US" sz="1000">
                          <a:effectLst/>
                        </a:rPr>
                      </a:br>
                      <a:r>
                        <a:rPr lang="en-US" sz="1000">
                          <a:effectLst/>
                        </a:rPr>
                        <a:t>MP-82</a:t>
                      </a:r>
                      <a:br>
                        <a:rPr lang="en-US" sz="1000">
                          <a:effectLst/>
                        </a:rPr>
                      </a:br>
                      <a:r>
                        <a:rPr lang="en-US" sz="1000">
                          <a:effectLst/>
                        </a:rPr>
                        <a:t>NM-83 A</a:t>
                      </a:r>
                      <a:br>
                        <a:rPr lang="en-US" sz="1000">
                          <a:effectLst/>
                        </a:rPr>
                      </a:br>
                      <a:r>
                        <a:rPr lang="en-US" sz="1000">
                          <a:effectLst/>
                        </a:rPr>
                        <a:t>NM-83 B</a:t>
                      </a:r>
                      <a:br>
                        <a:rPr lang="en-US" sz="1000">
                          <a:effectLst/>
                        </a:rPr>
                      </a:br>
                      <a:r>
                        <a:rPr lang="en-US" sz="1000">
                          <a:effectLst/>
                        </a:rPr>
                        <a:t>NE-92</a:t>
                      </a:r>
                      <a:endParaRPr lang="es-MX" sz="1200">
                        <a:effectLst/>
                      </a:endParaRPr>
                    </a:p>
                    <a:p>
                      <a:pPr indent="180340" algn="ctr">
                        <a:lnSpc>
                          <a:spcPct val="200000"/>
                        </a:lnSpc>
                        <a:spcAft>
                          <a:spcPts val="0"/>
                        </a:spcAft>
                      </a:pPr>
                      <a:r>
                        <a:rPr lang="en-US"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Francesa</a:t>
                      </a:r>
                      <a:br>
                        <a:rPr lang="es-ES" sz="1000">
                          <a:effectLst/>
                        </a:rPr>
                      </a:br>
                      <a:r>
                        <a:rPr lang="es-ES" sz="1000">
                          <a:effectLst/>
                        </a:rPr>
                        <a:t>Mexicana</a:t>
                      </a:r>
                      <a:br>
                        <a:rPr lang="es-ES" sz="1000">
                          <a:effectLst/>
                        </a:rPr>
                      </a:br>
                      <a:r>
                        <a:rPr lang="es-ES" sz="1000">
                          <a:effectLst/>
                        </a:rPr>
                        <a:t>Mexicana</a:t>
                      </a:r>
                      <a:br>
                        <a:rPr lang="es-ES" sz="1000">
                          <a:effectLst/>
                        </a:rPr>
                      </a:br>
                      <a:r>
                        <a:rPr lang="es-ES" sz="1000">
                          <a:effectLst/>
                        </a:rPr>
                        <a:t>Mexicana</a:t>
                      </a:r>
                      <a:br>
                        <a:rPr lang="es-ES" sz="1000">
                          <a:effectLst/>
                        </a:rPr>
                      </a:br>
                      <a:r>
                        <a:rPr lang="es-ES" sz="1000">
                          <a:effectLst/>
                        </a:rPr>
                        <a:t>Mexicana</a:t>
                      </a:r>
                      <a:br>
                        <a:rPr lang="es-ES" sz="1000">
                          <a:effectLst/>
                        </a:rPr>
                      </a:br>
                      <a:r>
                        <a:rPr lang="es-ES" sz="1000">
                          <a:effectLst/>
                        </a:rPr>
                        <a:t>Canadiense</a:t>
                      </a:r>
                      <a:br>
                        <a:rPr lang="es-ES" sz="1000">
                          <a:effectLst/>
                        </a:rPr>
                      </a:br>
                      <a:r>
                        <a:rPr lang="es-ES" sz="1000">
                          <a:effectLst/>
                        </a:rPr>
                        <a:t>Francesa</a:t>
                      </a:r>
                      <a:br>
                        <a:rPr lang="es-ES" sz="1000">
                          <a:effectLst/>
                        </a:rPr>
                      </a:br>
                      <a:r>
                        <a:rPr lang="es-ES" sz="1000">
                          <a:effectLst/>
                        </a:rPr>
                        <a:t>Mexicana</a:t>
                      </a:r>
                      <a:br>
                        <a:rPr lang="es-ES" sz="1000">
                          <a:effectLst/>
                        </a:rPr>
                      </a:br>
                      <a:r>
                        <a:rPr lang="es-ES" sz="1000">
                          <a:effectLst/>
                        </a:rPr>
                        <a:t>Mexicana</a:t>
                      </a:r>
                      <a:br>
                        <a:rPr lang="es-ES" sz="1000">
                          <a:effectLst/>
                        </a:rPr>
                      </a:br>
                      <a:r>
                        <a:rPr lang="es-ES" sz="1000">
                          <a:effectLst/>
                        </a:rPr>
                        <a:t>Española</a:t>
                      </a:r>
                      <a:endParaRPr lang="es-MX" sz="1200">
                        <a:effectLst/>
                      </a:endParaRPr>
                    </a:p>
                    <a:p>
                      <a:pPr indent="180340" algn="ctr">
                        <a:lnSpc>
                          <a:spcPct val="200000"/>
                        </a:lnSpc>
                        <a:spcAft>
                          <a:spcPts val="0"/>
                        </a:spcAft>
                      </a:pPr>
                      <a:r>
                        <a:rPr lang="es-ES"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118</a:t>
                      </a:r>
                      <a:br>
                        <a:rPr lang="es-ES" sz="1000">
                          <a:effectLst/>
                        </a:rPr>
                      </a:br>
                      <a:r>
                        <a:rPr lang="es-ES" sz="1000">
                          <a:effectLst/>
                        </a:rPr>
                        <a:t>22</a:t>
                      </a:r>
                      <a:br>
                        <a:rPr lang="es-ES" sz="1000">
                          <a:effectLst/>
                        </a:rPr>
                      </a:br>
                      <a:r>
                        <a:rPr lang="es-ES" sz="1000">
                          <a:effectLst/>
                        </a:rPr>
                        <a:t>54</a:t>
                      </a:r>
                      <a:br>
                        <a:rPr lang="es-ES" sz="1000">
                          <a:effectLst/>
                        </a:rPr>
                      </a:br>
                      <a:r>
                        <a:rPr lang="es-ES" sz="1000">
                          <a:effectLst/>
                        </a:rPr>
                        <a:t>2</a:t>
                      </a:r>
                      <a:br>
                        <a:rPr lang="es-ES" sz="1000">
                          <a:effectLst/>
                        </a:rPr>
                      </a:br>
                      <a:r>
                        <a:rPr lang="es-ES" sz="1000">
                          <a:effectLst/>
                        </a:rPr>
                        <a:t>117</a:t>
                      </a:r>
                      <a:br>
                        <a:rPr lang="es-ES" sz="1000">
                          <a:effectLst/>
                        </a:rPr>
                      </a:br>
                      <a:r>
                        <a:rPr lang="es-ES" sz="1000">
                          <a:effectLst/>
                        </a:rPr>
                        <a:t>40</a:t>
                      </a:r>
                      <a:br>
                        <a:rPr lang="es-ES" sz="1000">
                          <a:effectLst/>
                        </a:rPr>
                      </a:br>
                      <a:r>
                        <a:rPr lang="es-ES" sz="1000">
                          <a:effectLst/>
                        </a:rPr>
                        <a:t>50</a:t>
                      </a:r>
                      <a:br>
                        <a:rPr lang="es-ES" sz="1000">
                          <a:effectLst/>
                        </a:rPr>
                      </a:br>
                      <a:r>
                        <a:rPr lang="es-ES" sz="1000">
                          <a:effectLst/>
                        </a:rPr>
                        <a:t>62</a:t>
                      </a:r>
                      <a:br>
                        <a:rPr lang="es-ES" sz="1000">
                          <a:effectLst/>
                        </a:rPr>
                      </a:br>
                      <a:r>
                        <a:rPr lang="es-ES" sz="1000">
                          <a:effectLst/>
                        </a:rPr>
                        <a:t>50</a:t>
                      </a:r>
                      <a:br>
                        <a:rPr lang="es-ES" sz="1000">
                          <a:effectLst/>
                        </a:rPr>
                      </a:br>
                      <a:r>
                        <a:rPr lang="es-ES" sz="1000">
                          <a:effectLst/>
                        </a:rPr>
                        <a:t>32</a:t>
                      </a:r>
                      <a:endParaRPr lang="es-MX" sz="1200">
                        <a:effectLst/>
                      </a:endParaRPr>
                    </a:p>
                    <a:p>
                      <a:pPr indent="180340" algn="ctr">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234</a:t>
                      </a:r>
                      <a:br>
                        <a:rPr lang="es-ES" sz="1000">
                          <a:effectLst/>
                        </a:rPr>
                      </a:br>
                      <a:r>
                        <a:rPr lang="es-ES" sz="1000">
                          <a:effectLst/>
                        </a:rPr>
                        <a:t>44</a:t>
                      </a:r>
                      <a:br>
                        <a:rPr lang="es-ES" sz="1000">
                          <a:effectLst/>
                        </a:rPr>
                      </a:br>
                      <a:r>
                        <a:rPr lang="es-ES" sz="1000">
                          <a:effectLst/>
                        </a:rPr>
                        <a:t>105</a:t>
                      </a:r>
                      <a:br>
                        <a:rPr lang="es-ES" sz="1000">
                          <a:effectLst/>
                        </a:rPr>
                      </a:br>
                      <a:r>
                        <a:rPr lang="es-ES" sz="1000">
                          <a:effectLst/>
                        </a:rPr>
                        <a:t>4</a:t>
                      </a:r>
                      <a:br>
                        <a:rPr lang="es-ES" sz="1000">
                          <a:effectLst/>
                        </a:rPr>
                      </a:br>
                      <a:r>
                        <a:rPr lang="es-ES" sz="1000">
                          <a:effectLst/>
                        </a:rPr>
                        <a:t>233</a:t>
                      </a:r>
                      <a:br>
                        <a:rPr lang="es-ES" sz="1000">
                          <a:effectLst/>
                        </a:rPr>
                      </a:br>
                      <a:r>
                        <a:rPr lang="es-ES" sz="1000">
                          <a:effectLst/>
                        </a:rPr>
                        <a:t>80</a:t>
                      </a:r>
                      <a:br>
                        <a:rPr lang="es-ES" sz="1000">
                          <a:effectLst/>
                        </a:rPr>
                      </a:br>
                      <a:r>
                        <a:rPr lang="es-ES" sz="1000">
                          <a:effectLst/>
                        </a:rPr>
                        <a:t>100</a:t>
                      </a:r>
                      <a:br>
                        <a:rPr lang="es-ES" sz="1000">
                          <a:effectLst/>
                        </a:rPr>
                      </a:br>
                      <a:r>
                        <a:rPr lang="es-ES" sz="1000">
                          <a:effectLst/>
                        </a:rPr>
                        <a:t>122</a:t>
                      </a:r>
                      <a:br>
                        <a:rPr lang="es-ES" sz="1000">
                          <a:effectLst/>
                        </a:rPr>
                      </a:br>
                      <a:r>
                        <a:rPr lang="es-ES" sz="1000">
                          <a:effectLst/>
                        </a:rPr>
                        <a:t>100</a:t>
                      </a:r>
                      <a:br>
                        <a:rPr lang="es-ES" sz="1000">
                          <a:effectLst/>
                        </a:rPr>
                      </a:br>
                      <a:r>
                        <a:rPr lang="es-ES" sz="1000">
                          <a:effectLst/>
                        </a:rPr>
                        <a:t>64</a:t>
                      </a:r>
                      <a:endParaRPr lang="es-MX" sz="1200">
                        <a:effectLst/>
                      </a:endParaRPr>
                    </a:p>
                    <a:p>
                      <a:pPr indent="180340" algn="ctr">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a:effectLst/>
                        </a:rPr>
                        <a:t>176</a:t>
                      </a:r>
                      <a:br>
                        <a:rPr lang="es-ES" sz="1000">
                          <a:effectLst/>
                        </a:rPr>
                      </a:br>
                      <a:r>
                        <a:rPr lang="es-ES" sz="1000">
                          <a:effectLst/>
                        </a:rPr>
                        <a:t>33</a:t>
                      </a:r>
                      <a:br>
                        <a:rPr lang="es-ES" sz="1000">
                          <a:effectLst/>
                        </a:rPr>
                      </a:br>
                      <a:r>
                        <a:rPr lang="es-ES" sz="1000">
                          <a:effectLst/>
                        </a:rPr>
                        <a:t>78</a:t>
                      </a:r>
                      <a:br>
                        <a:rPr lang="es-ES" sz="1000">
                          <a:effectLst/>
                        </a:rPr>
                      </a:br>
                      <a:r>
                        <a:rPr lang="es-ES" sz="1000">
                          <a:effectLst/>
                        </a:rPr>
                        <a:t>3</a:t>
                      </a:r>
                      <a:br>
                        <a:rPr lang="es-ES" sz="1000">
                          <a:effectLst/>
                        </a:rPr>
                      </a:br>
                      <a:r>
                        <a:rPr lang="es-ES" sz="1000">
                          <a:effectLst/>
                        </a:rPr>
                        <a:t>177</a:t>
                      </a:r>
                      <a:br>
                        <a:rPr lang="es-ES" sz="1000">
                          <a:effectLst/>
                        </a:rPr>
                      </a:br>
                      <a:r>
                        <a:rPr lang="es-ES" sz="1000">
                          <a:effectLst/>
                        </a:rPr>
                        <a:t>60</a:t>
                      </a:r>
                      <a:br>
                        <a:rPr lang="es-ES" sz="1000">
                          <a:effectLst/>
                        </a:rPr>
                      </a:br>
                      <a:r>
                        <a:rPr lang="es-ES" sz="1000">
                          <a:effectLst/>
                        </a:rPr>
                        <a:t>75</a:t>
                      </a:r>
                      <a:br>
                        <a:rPr lang="es-ES" sz="1000">
                          <a:effectLst/>
                        </a:rPr>
                      </a:br>
                      <a:r>
                        <a:rPr lang="es-ES" sz="1000">
                          <a:effectLst/>
                        </a:rPr>
                        <a:t>91</a:t>
                      </a:r>
                      <a:br>
                        <a:rPr lang="es-ES" sz="1000">
                          <a:effectLst/>
                        </a:rPr>
                      </a:br>
                      <a:r>
                        <a:rPr lang="es-ES" sz="1000">
                          <a:effectLst/>
                        </a:rPr>
                        <a:t>74</a:t>
                      </a:r>
                      <a:br>
                        <a:rPr lang="es-ES" sz="1000">
                          <a:effectLst/>
                        </a:rPr>
                      </a:br>
                      <a:r>
                        <a:rPr lang="es-ES" sz="1000">
                          <a:effectLst/>
                        </a:rPr>
                        <a:t>48</a:t>
                      </a:r>
                      <a:endParaRPr lang="es-MX" sz="1200">
                        <a:effectLst/>
                      </a:endParaRPr>
                    </a:p>
                    <a:p>
                      <a:pPr indent="180340" algn="ctr">
                        <a:lnSpc>
                          <a:spcPct val="200000"/>
                        </a:lnSpc>
                        <a:spcAft>
                          <a:spcPts val="0"/>
                        </a:spcAft>
                      </a:pPr>
                      <a:r>
                        <a:rPr lang="es-MX" sz="1000">
                          <a:effectLst/>
                        </a:rPr>
                        <a:t>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ctr">
                        <a:lnSpc>
                          <a:spcPct val="200000"/>
                        </a:lnSpc>
                        <a:spcAft>
                          <a:spcPts val="0"/>
                        </a:spcAft>
                      </a:pPr>
                      <a:r>
                        <a:rPr lang="es-ES" sz="1000" dirty="0">
                          <a:effectLst/>
                        </a:rPr>
                        <a:t>1968</a:t>
                      </a:r>
                      <a:br>
                        <a:rPr lang="es-ES" sz="1000" dirty="0">
                          <a:effectLst/>
                        </a:rPr>
                      </a:br>
                      <a:r>
                        <a:rPr lang="es-ES" sz="1000" dirty="0">
                          <a:effectLst/>
                        </a:rPr>
                        <a:t>1973</a:t>
                      </a:r>
                      <a:br>
                        <a:rPr lang="es-ES" sz="1000" dirty="0">
                          <a:effectLst/>
                        </a:rPr>
                      </a:br>
                      <a:r>
                        <a:rPr lang="es-ES" sz="1000" dirty="0">
                          <a:effectLst/>
                        </a:rPr>
                        <a:t>1973</a:t>
                      </a:r>
                      <a:br>
                        <a:rPr lang="es-ES" sz="1000" dirty="0">
                          <a:effectLst/>
                        </a:rPr>
                      </a:br>
                      <a:r>
                        <a:rPr lang="es-ES" sz="1000" dirty="0">
                          <a:effectLst/>
                        </a:rPr>
                        <a:t>1973</a:t>
                      </a:r>
                      <a:br>
                        <a:rPr lang="es-ES" sz="1000" dirty="0">
                          <a:effectLst/>
                        </a:rPr>
                      </a:br>
                      <a:r>
                        <a:rPr lang="es-ES" sz="1000" dirty="0">
                          <a:effectLst/>
                        </a:rPr>
                        <a:t>1979</a:t>
                      </a:r>
                      <a:br>
                        <a:rPr lang="es-ES" sz="1000" dirty="0">
                          <a:effectLst/>
                        </a:rPr>
                      </a:br>
                      <a:r>
                        <a:rPr lang="es-ES" sz="1000" dirty="0">
                          <a:effectLst/>
                        </a:rPr>
                        <a:t>1982</a:t>
                      </a:r>
                      <a:br>
                        <a:rPr lang="es-ES" sz="1000" dirty="0">
                          <a:effectLst/>
                        </a:rPr>
                      </a:br>
                      <a:r>
                        <a:rPr lang="es-ES" sz="1000" dirty="0">
                          <a:effectLst/>
                        </a:rPr>
                        <a:t>1982</a:t>
                      </a:r>
                      <a:br>
                        <a:rPr lang="es-ES" sz="1000" dirty="0">
                          <a:effectLst/>
                        </a:rPr>
                      </a:br>
                      <a:r>
                        <a:rPr lang="es-ES" sz="1000" dirty="0">
                          <a:effectLst/>
                        </a:rPr>
                        <a:t>1983</a:t>
                      </a:r>
                      <a:br>
                        <a:rPr lang="es-ES" sz="1000" dirty="0">
                          <a:effectLst/>
                        </a:rPr>
                      </a:br>
                      <a:r>
                        <a:rPr lang="es-ES" sz="1000" dirty="0">
                          <a:effectLst/>
                        </a:rPr>
                        <a:t>1983</a:t>
                      </a:r>
                      <a:br>
                        <a:rPr lang="es-ES" sz="1000" dirty="0">
                          <a:effectLst/>
                        </a:rPr>
                      </a:br>
                      <a:r>
                        <a:rPr lang="es-ES" sz="1000" dirty="0">
                          <a:effectLst/>
                        </a:rPr>
                        <a:t>1992</a:t>
                      </a:r>
                      <a:endParaRPr lang="es-MX" sz="1200" dirty="0">
                        <a:effectLst/>
                      </a:endParaRPr>
                    </a:p>
                    <a:p>
                      <a:pPr indent="180340" algn="ctr">
                        <a:lnSpc>
                          <a:spcPct val="200000"/>
                        </a:lnSpc>
                        <a:spcAft>
                          <a:spcPts val="0"/>
                        </a:spcAft>
                      </a:pPr>
                      <a:r>
                        <a:rPr lang="es-MX" sz="1000" dirty="0">
                          <a:effectLst/>
                        </a:rPr>
                        <a:t> </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13141818"/>
                  </a:ext>
                </a:extLst>
              </a:tr>
            </a:tbl>
          </a:graphicData>
        </a:graphic>
      </p:graphicFrame>
    </p:spTree>
    <p:extLst>
      <p:ext uri="{BB962C8B-B14F-4D97-AF65-F5344CB8AC3E}">
        <p14:creationId xmlns:p14="http://schemas.microsoft.com/office/powerpoint/2010/main" val="32204594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ASES/ELECTRICIDAD1/Página%20del%20Sistema%20de%20Transporte%20Colectivo8_files/dt_neumatico1.jpg">
            <a:extLst>
              <a:ext uri="{FF2B5EF4-FFF2-40B4-BE49-F238E27FC236}">
                <a16:creationId xmlns:a16="http://schemas.microsoft.com/office/drawing/2014/main" id="{192483B9-9D69-42E7-ACF6-1A309CED52FD}"/>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082632" y="803049"/>
            <a:ext cx="2470743" cy="2470743"/>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1" name="Picture 3" descr="FASES/ELECTRICIDAD1/Página%20del%20Sistema%20de%20Transporte%20Colectivo8_files/dt_neumatico2.jpg">
            <a:extLst>
              <a:ext uri="{FF2B5EF4-FFF2-40B4-BE49-F238E27FC236}">
                <a16:creationId xmlns:a16="http://schemas.microsoft.com/office/drawing/2014/main" id="{1E8851B1-73B3-4B6F-89D4-A6803829BCBB}"/>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1098803" y="3461344"/>
            <a:ext cx="2438400" cy="2438400"/>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DCC3DD44-650F-47AA-9067-AB083A99191D}"/>
              </a:ext>
            </a:extLst>
          </p:cNvPr>
          <p:cNvSpPr>
            <a:spLocks noGrp="1"/>
          </p:cNvSpPr>
          <p:nvPr>
            <p:ph idx="1"/>
          </p:nvPr>
        </p:nvSpPr>
        <p:spPr>
          <a:xfrm>
            <a:off x="5120640" y="803049"/>
            <a:ext cx="6586728" cy="4396857"/>
          </a:xfrm>
        </p:spPr>
        <p:txBody>
          <a:bodyPr>
            <a:normAutofit/>
          </a:bodyPr>
          <a:lstStyle/>
          <a:p>
            <a:pPr marL="0" indent="0">
              <a:buNone/>
            </a:pPr>
            <a:r>
              <a:rPr lang="es-MX" sz="2000" dirty="0"/>
              <a:t>Se dispone actualmente de los siguientes tipos de trenes:</a:t>
            </a:r>
          </a:p>
          <a:p>
            <a:r>
              <a:rPr lang="es-MX" sz="2000" dirty="0"/>
              <a:t>El equipo MP-68 de manufactura francesa </a:t>
            </a:r>
          </a:p>
          <a:p>
            <a:r>
              <a:rPr lang="es-MX" sz="2000" dirty="0"/>
              <a:t>El equipo de fabricación nacional se divide en los siguientes tipos:</a:t>
            </a:r>
          </a:p>
          <a:p>
            <a:pPr marL="0" indent="0">
              <a:buNone/>
            </a:pPr>
            <a:r>
              <a:rPr lang="es-MX" sz="2000" dirty="0"/>
              <a:t>	</a:t>
            </a:r>
            <a:r>
              <a:rPr lang="en-GB" sz="2000" dirty="0"/>
              <a:t>NM-73A</a:t>
            </a:r>
            <a:endParaRPr lang="es-MX" sz="2000" dirty="0"/>
          </a:p>
          <a:p>
            <a:pPr marL="0" lvl="0" indent="0">
              <a:buNone/>
            </a:pPr>
            <a:r>
              <a:rPr lang="en-GB" sz="2000" dirty="0"/>
              <a:t>	NM-73B</a:t>
            </a:r>
            <a:endParaRPr lang="es-MX" sz="2000" dirty="0"/>
          </a:p>
          <a:p>
            <a:pPr marL="0" lvl="0" indent="0">
              <a:buNone/>
            </a:pPr>
            <a:r>
              <a:rPr lang="en-GB" sz="2000" dirty="0"/>
              <a:t>	NM-73BR</a:t>
            </a:r>
            <a:endParaRPr lang="es-MX" sz="2000" dirty="0"/>
          </a:p>
          <a:p>
            <a:pPr marL="0" lvl="0" indent="0">
              <a:buNone/>
            </a:pPr>
            <a:r>
              <a:rPr lang="en-GB" sz="2000" dirty="0"/>
              <a:t>	NM-73C</a:t>
            </a:r>
            <a:endParaRPr lang="es-MX" sz="2000" dirty="0"/>
          </a:p>
          <a:p>
            <a:pPr marL="0" lvl="0" indent="0">
              <a:buNone/>
            </a:pPr>
            <a:r>
              <a:rPr lang="en-GB" sz="2000" dirty="0"/>
              <a:t>	NM-79</a:t>
            </a:r>
            <a:endParaRPr lang="es-MX" sz="2000" dirty="0"/>
          </a:p>
          <a:p>
            <a:endParaRPr lang="es-MX" sz="2000" dirty="0"/>
          </a:p>
        </p:txBody>
      </p:sp>
    </p:spTree>
    <p:extLst>
      <p:ext uri="{BB962C8B-B14F-4D97-AF65-F5344CB8AC3E}">
        <p14:creationId xmlns:p14="http://schemas.microsoft.com/office/powerpoint/2010/main" val="20216417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sultado de imagen para mp-68 metro">
            <a:extLst>
              <a:ext uri="{FF2B5EF4-FFF2-40B4-BE49-F238E27FC236}">
                <a16:creationId xmlns:a16="http://schemas.microsoft.com/office/drawing/2014/main" id="{BA071FE0-A2B7-4D7C-8EF4-C117442132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050" r="-1" b="11260"/>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B3C91883-5FAD-4F75-85F5-B4379D829080}"/>
              </a:ext>
            </a:extLst>
          </p:cNvPr>
          <p:cNvSpPr>
            <a:spLocks noGrp="1"/>
          </p:cNvSpPr>
          <p:nvPr>
            <p:ph idx="1"/>
          </p:nvPr>
        </p:nvSpPr>
        <p:spPr>
          <a:xfrm>
            <a:off x="7553739" y="321734"/>
            <a:ext cx="4310714" cy="6214534"/>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MP-68</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Las siglas MP significan material sobre neumáticos (llantas) y el 68 es el año en que se diseño este modelo.</a:t>
            </a:r>
          </a:p>
          <a:p>
            <a:pPr algn="just">
              <a:buClr>
                <a:schemeClr val="bg1"/>
              </a:buClr>
              <a:buFont typeface="Arial" panose="020B0604020202020204" pitchFamily="34" charset="0"/>
              <a:buChar char="•"/>
            </a:pPr>
            <a:r>
              <a:rPr lang="es-MX" sz="2000" dirty="0">
                <a:solidFill>
                  <a:srgbClr val="FFFFFF"/>
                </a:solidFill>
              </a:rPr>
              <a:t>Su característica principal aparte de rodar sobre llantas neumáticas, es la utilización de los motores para el frenado, al convertirlos en generadores y disipar la energía eléctrica producida, en un banco de resistencias (reóstato) por lo que recibe este sistema el nombre de frenado reostático.</a:t>
            </a:r>
          </a:p>
          <a:p>
            <a:endParaRPr lang="es-MX" sz="2000" dirty="0">
              <a:solidFill>
                <a:srgbClr val="FFFFFF"/>
              </a:solidFill>
            </a:endParaRPr>
          </a:p>
        </p:txBody>
      </p:sp>
    </p:spTree>
    <p:extLst>
      <p:ext uri="{BB962C8B-B14F-4D97-AF65-F5344CB8AC3E}">
        <p14:creationId xmlns:p14="http://schemas.microsoft.com/office/powerpoint/2010/main" val="15324152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sultado de imagen para nm-73a">
            <a:extLst>
              <a:ext uri="{FF2B5EF4-FFF2-40B4-BE49-F238E27FC236}">
                <a16:creationId xmlns:a16="http://schemas.microsoft.com/office/drawing/2014/main" id="{38670F69-E43C-41CB-818D-2A3A0779FD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35" r="1" b="17277"/>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A44D0AB1-353A-40D1-BDB4-A90F7627C830}"/>
              </a:ext>
            </a:extLst>
          </p:cNvPr>
          <p:cNvSpPr>
            <a:spLocks noGrp="1"/>
          </p:cNvSpPr>
          <p:nvPr>
            <p:ph idx="1"/>
          </p:nvPr>
        </p:nvSpPr>
        <p:spPr>
          <a:xfrm>
            <a:off x="7527235" y="321733"/>
            <a:ext cx="4337218" cy="6277850"/>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NM-73A</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Las siglas significan nuevo material y el 73 es el año de diseño. La letra A se utiliza para diferenciarlo de trenes semejantes en estructura y origen, pero no similares en sus partes de tracción-frenado a los que llegaron posteriormente.</a:t>
            </a:r>
          </a:p>
          <a:p>
            <a:pPr algn="just">
              <a:buClr>
                <a:schemeClr val="bg1"/>
              </a:buClr>
              <a:buFont typeface="Arial" panose="020B0604020202020204" pitchFamily="34" charset="0"/>
              <a:buChar char="•"/>
            </a:pPr>
            <a:r>
              <a:rPr lang="es-MX" sz="2000" dirty="0">
                <a:solidFill>
                  <a:srgbClr val="FFFFFF"/>
                </a:solidFill>
              </a:rPr>
              <a:t>Estos trenes están armados en México por CNCF, siendo el 60% de la parte mecánica nacional y el resto de importación.</a:t>
            </a:r>
          </a:p>
          <a:p>
            <a:pPr algn="just">
              <a:buClr>
                <a:schemeClr val="bg1"/>
              </a:buClr>
              <a:buFont typeface="Arial" panose="020B0604020202020204" pitchFamily="34" charset="0"/>
              <a:buChar char="•"/>
            </a:pPr>
            <a:r>
              <a:rPr lang="es-MX" sz="2000" dirty="0">
                <a:solidFill>
                  <a:srgbClr val="FFFFFF"/>
                </a:solidFill>
              </a:rPr>
              <a:t>Su sistema de tracción frenado es idéntico al del MP-68.</a:t>
            </a:r>
          </a:p>
          <a:p>
            <a:endParaRPr lang="es-MX" sz="1700" dirty="0">
              <a:solidFill>
                <a:srgbClr val="FFFFFF"/>
              </a:solidFill>
            </a:endParaRPr>
          </a:p>
        </p:txBody>
      </p:sp>
    </p:spTree>
    <p:extLst>
      <p:ext uri="{BB962C8B-B14F-4D97-AF65-F5344CB8AC3E}">
        <p14:creationId xmlns:p14="http://schemas.microsoft.com/office/powerpoint/2010/main" val="1536799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Resultado de imagen para nm-73b">
            <a:extLst>
              <a:ext uri="{FF2B5EF4-FFF2-40B4-BE49-F238E27FC236}">
                <a16:creationId xmlns:a16="http://schemas.microsoft.com/office/drawing/2014/main" id="{D1014F77-15F3-4AEC-A305-5C38EA426B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356" r="1" b="12056"/>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9435AB2B-0FBB-418A-920F-23DF028812F9}"/>
              </a:ext>
            </a:extLst>
          </p:cNvPr>
          <p:cNvSpPr>
            <a:spLocks noGrp="1"/>
          </p:cNvSpPr>
          <p:nvPr>
            <p:ph idx="1"/>
          </p:nvPr>
        </p:nvSpPr>
        <p:spPr>
          <a:xfrm>
            <a:off x="7385853" y="321733"/>
            <a:ext cx="4607364" cy="6370614"/>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NM-73B</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Las siglas tienen el mismo significado del modelo anterior. La letra B indica la diferencia, con sus semejantes, del dispositivo de tracción-frenado. Esta consiste en que la energía generada por los motores durante el frenado, en lugar de disiparse en calor por medio de resistencias, en este tipo de trenes, se recupera parte de ella al conectar el circuito de generación a la barra guía y ser aprovechada por los equipos del propio tren o de trenes cercanos.</a:t>
            </a:r>
          </a:p>
          <a:p>
            <a:pPr algn="just">
              <a:buClr>
                <a:schemeClr val="bg1"/>
              </a:buClr>
              <a:buFont typeface="Arial" panose="020B0604020202020204" pitchFamily="34" charset="0"/>
              <a:buChar char="•"/>
            </a:pPr>
            <a:r>
              <a:rPr lang="es-MX" sz="2000" dirty="0">
                <a:solidFill>
                  <a:srgbClr val="FFFFFF"/>
                </a:solidFill>
              </a:rPr>
              <a:t>A este tipo de frenado se le llama por recuperación, y tiene la ventaja de no producir tanto calor como el frenado reostático.</a:t>
            </a:r>
          </a:p>
          <a:p>
            <a:endParaRPr lang="es-MX" sz="1700" dirty="0">
              <a:solidFill>
                <a:srgbClr val="FFFFFF"/>
              </a:solidFill>
            </a:endParaRPr>
          </a:p>
        </p:txBody>
      </p:sp>
    </p:spTree>
    <p:extLst>
      <p:ext uri="{BB962C8B-B14F-4D97-AF65-F5344CB8AC3E}">
        <p14:creationId xmlns:p14="http://schemas.microsoft.com/office/powerpoint/2010/main" val="37224630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Resultado de imagen para nm-73br">
            <a:extLst>
              <a:ext uri="{FF2B5EF4-FFF2-40B4-BE49-F238E27FC236}">
                <a16:creationId xmlns:a16="http://schemas.microsoft.com/office/drawing/2014/main" id="{0B96214C-57BE-494B-801F-46DF732A5D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417" r="1" b="9053"/>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A30363C1-2357-4550-8EAE-2B925B53C71F}"/>
              </a:ext>
            </a:extLst>
          </p:cNvPr>
          <p:cNvSpPr>
            <a:spLocks noGrp="1"/>
          </p:cNvSpPr>
          <p:nvPr>
            <p:ph idx="1"/>
          </p:nvPr>
        </p:nvSpPr>
        <p:spPr>
          <a:xfrm>
            <a:off x="7385853" y="321733"/>
            <a:ext cx="4478600" cy="6291102"/>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NM-73BR</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Este tipo de material es similar al NM-73B, la sola diferencia es que cuenta con un dispositivo por medio del cual cuando el frenado eléctrico por recuperación esta imposibilitado de funcionar; puede ser substituido por el frenado reostático. En la actualidad solo dos trenes cuentan con este sistema.</a:t>
            </a:r>
          </a:p>
          <a:p>
            <a:endParaRPr lang="es-MX" sz="2000" dirty="0">
              <a:solidFill>
                <a:srgbClr val="FFFFFF"/>
              </a:solidFill>
            </a:endParaRPr>
          </a:p>
        </p:txBody>
      </p:sp>
    </p:spTree>
    <p:extLst>
      <p:ext uri="{BB962C8B-B14F-4D97-AF65-F5344CB8AC3E}">
        <p14:creationId xmlns:p14="http://schemas.microsoft.com/office/powerpoint/2010/main" val="8441926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ultado de imagen para nm-73c">
            <a:extLst>
              <a:ext uri="{FF2B5EF4-FFF2-40B4-BE49-F238E27FC236}">
                <a16:creationId xmlns:a16="http://schemas.microsoft.com/office/drawing/2014/main" id="{2F360D6C-B19C-4436-8EB4-A27D3D304A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198" r="1" b="13213"/>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87BE761A-F3AF-445A-A341-B81807A42828}"/>
              </a:ext>
            </a:extLst>
          </p:cNvPr>
          <p:cNvSpPr>
            <a:spLocks noGrp="1"/>
          </p:cNvSpPr>
          <p:nvPr>
            <p:ph idx="1"/>
          </p:nvPr>
        </p:nvSpPr>
        <p:spPr>
          <a:xfrm>
            <a:off x="7385853" y="321733"/>
            <a:ext cx="4478600" cy="6277850"/>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NM-73C</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Las siglas tiene el mismo significado que en los anteriores trenes NM-73; la letra C (serie C) se utiliza para diferenciarlo de los demás. En la actualidad se cuenta con un solo tren, y su principal diferencia la constituye el equipo de tracción frenado. En este tren se utilizan circuitos de electrónica de potencia para controlar la corriente consumida durante la fase de tracción y la corriente generada durante el frenado por recuperación.</a:t>
            </a:r>
          </a:p>
          <a:p>
            <a:endParaRPr lang="es-MX" sz="1900" dirty="0">
              <a:solidFill>
                <a:srgbClr val="FFFFFF"/>
              </a:solidFill>
            </a:endParaRPr>
          </a:p>
        </p:txBody>
      </p:sp>
    </p:spTree>
    <p:extLst>
      <p:ext uri="{BB962C8B-B14F-4D97-AF65-F5344CB8AC3E}">
        <p14:creationId xmlns:p14="http://schemas.microsoft.com/office/powerpoint/2010/main" val="17112408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sultado de imagen para nm-79">
            <a:extLst>
              <a:ext uri="{FF2B5EF4-FFF2-40B4-BE49-F238E27FC236}">
                <a16:creationId xmlns:a16="http://schemas.microsoft.com/office/drawing/2014/main" id="{84907A79-3AD7-4DDD-BC75-6DD01095A4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64" r="-1" b="9279"/>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AE9A512F-36DF-4549-BD7B-287467D9273D}"/>
              </a:ext>
            </a:extLst>
          </p:cNvPr>
          <p:cNvSpPr>
            <a:spLocks noGrp="1"/>
          </p:cNvSpPr>
          <p:nvPr>
            <p:ph idx="1"/>
          </p:nvPr>
        </p:nvSpPr>
        <p:spPr>
          <a:xfrm>
            <a:off x="7385853" y="321732"/>
            <a:ext cx="4594112" cy="6224841"/>
          </a:xfrm>
          <a:solidFill>
            <a:schemeClr val="tx1">
              <a:lumMod val="75000"/>
              <a:lumOff val="25000"/>
            </a:schemeClr>
          </a:solidFill>
        </p:spPr>
        <p:txBody>
          <a:bodyPr anchor="ctr">
            <a:normAutofit/>
          </a:bodyPr>
          <a:lstStyle/>
          <a:p>
            <a:pPr algn="just">
              <a:buClr>
                <a:schemeClr val="bg1"/>
              </a:buClr>
              <a:buFont typeface="Arial" panose="020B0604020202020204" pitchFamily="34" charset="0"/>
              <a:buChar char="•"/>
            </a:pPr>
            <a:r>
              <a:rPr lang="es-MX" sz="2000" b="1" dirty="0">
                <a:solidFill>
                  <a:srgbClr val="FFFFFF"/>
                </a:solidFill>
              </a:rPr>
              <a:t>NM-79</a:t>
            </a:r>
            <a:endParaRPr lang="es-MX" sz="2000" dirty="0">
              <a:solidFill>
                <a:srgbClr val="FFFFFF"/>
              </a:solidFill>
            </a:endParaRPr>
          </a:p>
          <a:p>
            <a:pPr algn="just">
              <a:buClr>
                <a:schemeClr val="bg1"/>
              </a:buClr>
              <a:buFont typeface="Arial" panose="020B0604020202020204" pitchFamily="34" charset="0"/>
              <a:buChar char="•"/>
            </a:pPr>
            <a:r>
              <a:rPr lang="es-MX" sz="2000" dirty="0">
                <a:solidFill>
                  <a:srgbClr val="FFFFFF"/>
                </a:solidFill>
              </a:rPr>
              <a:t>Trenes del nuevo  material diseñado en 1979. En forma similar al NM-73C, circuitos de electrónica de potencia controlan la corriente de tracción y freno por recuperación. Cuentan además con la posibilidad del freno reostático, y todo el equipo de potencia y control del mismo, es de fabricación japonesa.</a:t>
            </a:r>
          </a:p>
          <a:p>
            <a:endParaRPr lang="es-MX" sz="2000" dirty="0">
              <a:solidFill>
                <a:srgbClr val="FFFFFF"/>
              </a:solidFill>
            </a:endParaRPr>
          </a:p>
        </p:txBody>
      </p:sp>
    </p:spTree>
    <p:extLst>
      <p:ext uri="{BB962C8B-B14F-4D97-AF65-F5344CB8AC3E}">
        <p14:creationId xmlns:p14="http://schemas.microsoft.com/office/powerpoint/2010/main" val="15314546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4AB012-FBA5-4B20-B9A8-2A8C8B68A10C}"/>
              </a:ext>
            </a:extLst>
          </p:cNvPr>
          <p:cNvSpPr>
            <a:spLocks noGrp="1"/>
          </p:cNvSpPr>
          <p:nvPr>
            <p:ph type="title"/>
          </p:nvPr>
        </p:nvSpPr>
        <p:spPr>
          <a:xfrm>
            <a:off x="838200" y="365125"/>
            <a:ext cx="10515600" cy="1325563"/>
          </a:xfrm>
        </p:spPr>
        <p:txBody>
          <a:bodyPr>
            <a:normAutofit fontScale="90000"/>
          </a:bodyPr>
          <a:lstStyle/>
          <a:p>
            <a:pPr algn="ctr"/>
            <a:r>
              <a:rPr lang="es-MX" b="1"/>
              <a:t>CONFIGURACION DE LOS TRENES NEUMÁTICOS</a:t>
            </a:r>
            <a:br>
              <a:rPr lang="es-MX"/>
            </a:br>
            <a:endParaRPr lang="es-MX" dirty="0"/>
          </a:p>
        </p:txBody>
      </p:sp>
      <p:sp>
        <p:nvSpPr>
          <p:cNvPr id="3" name="Marcador de contenido 2">
            <a:extLst>
              <a:ext uri="{FF2B5EF4-FFF2-40B4-BE49-F238E27FC236}">
                <a16:creationId xmlns:a16="http://schemas.microsoft.com/office/drawing/2014/main" id="{F0FA89CA-4DE0-4930-8054-5AC123044432}"/>
              </a:ext>
            </a:extLst>
          </p:cNvPr>
          <p:cNvSpPr>
            <a:spLocks noGrp="1"/>
          </p:cNvSpPr>
          <p:nvPr>
            <p:ph idx="1"/>
          </p:nvPr>
        </p:nvSpPr>
        <p:spPr>
          <a:xfrm>
            <a:off x="838200" y="3773557"/>
            <a:ext cx="10515600" cy="2441713"/>
          </a:xfrm>
        </p:spPr>
        <p:txBody>
          <a:bodyPr>
            <a:normAutofit lnSpcReduction="10000"/>
          </a:bodyPr>
          <a:lstStyle/>
          <a:p>
            <a:r>
              <a:rPr lang="fr-FR" sz="2000" b="1" u="sng" dirty="0"/>
              <a:t>M-R-N</a:t>
            </a:r>
            <a:r>
              <a:rPr lang="fr-FR" sz="2000" b="1" dirty="0"/>
              <a:t>                    </a:t>
            </a:r>
            <a:r>
              <a:rPr lang="fr-FR" sz="2000" b="1" u="sng" dirty="0"/>
              <a:t>N-PR-N</a:t>
            </a:r>
            <a:r>
              <a:rPr lang="fr-FR" sz="2000" b="1" dirty="0"/>
              <a:t>                   </a:t>
            </a:r>
            <a:r>
              <a:rPr lang="fr-FR" sz="2000" b="1" u="sng" dirty="0"/>
              <a:t>N-R-M</a:t>
            </a:r>
            <a:endParaRPr lang="es-MX" sz="2000" u="sng" dirty="0"/>
          </a:p>
          <a:p>
            <a:pPr marL="0" indent="0">
              <a:buNone/>
            </a:pPr>
            <a:r>
              <a:rPr lang="es-MX" sz="2000" b="1" dirty="0"/>
              <a:t>       </a:t>
            </a:r>
            <a:r>
              <a:rPr lang="fr-FR" sz="2000" b="1" dirty="0"/>
              <a:t> 1                              2                            3</a:t>
            </a:r>
            <a:endParaRPr lang="es-MX" sz="2000" dirty="0"/>
          </a:p>
          <a:p>
            <a:r>
              <a:rPr lang="es-ES" sz="2000" b="1" dirty="0"/>
              <a:t>M</a:t>
            </a:r>
            <a:r>
              <a:rPr lang="es-ES" sz="2000" dirty="0"/>
              <a:t> = Motriz con cabina de conducción</a:t>
            </a:r>
            <a:endParaRPr lang="es-MX" sz="2000" dirty="0"/>
          </a:p>
          <a:p>
            <a:r>
              <a:rPr lang="es-ES" sz="2000" dirty="0"/>
              <a:t> </a:t>
            </a:r>
            <a:r>
              <a:rPr lang="es-ES" sz="2000" b="1" dirty="0"/>
              <a:t>N</a:t>
            </a:r>
            <a:r>
              <a:rPr lang="es-ES" sz="2000" dirty="0"/>
              <a:t> = Motriz sin cabina de conducción</a:t>
            </a:r>
            <a:endParaRPr lang="es-MX" sz="2000" dirty="0"/>
          </a:p>
          <a:p>
            <a:r>
              <a:rPr lang="es-ES" sz="2000" dirty="0"/>
              <a:t> </a:t>
            </a:r>
            <a:r>
              <a:rPr lang="es-ES" sz="2000" b="1" dirty="0"/>
              <a:t>R</a:t>
            </a:r>
            <a:r>
              <a:rPr lang="es-ES" sz="2000" dirty="0"/>
              <a:t> = Remolque	</a:t>
            </a:r>
            <a:endParaRPr lang="es-MX" sz="2000" dirty="0"/>
          </a:p>
          <a:p>
            <a:r>
              <a:rPr lang="es-ES" sz="2000" b="1" dirty="0"/>
              <a:t>PR = </a:t>
            </a:r>
            <a:r>
              <a:rPr lang="es-ES" sz="2000" dirty="0"/>
              <a:t>Remolque con pilotaje automático</a:t>
            </a:r>
            <a:endParaRPr lang="es-MX" sz="2000" dirty="0"/>
          </a:p>
        </p:txBody>
      </p:sp>
      <p:pic>
        <p:nvPicPr>
          <p:cNvPr id="7" name="Imagen 6" descr="TREe7">
            <a:extLst>
              <a:ext uri="{FF2B5EF4-FFF2-40B4-BE49-F238E27FC236}">
                <a16:creationId xmlns:a16="http://schemas.microsoft.com/office/drawing/2014/main" id="{367C2542-D119-4755-9BE2-4AD1DF9C5EC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506835" y="1316141"/>
            <a:ext cx="7178330" cy="2112859"/>
          </a:xfrm>
          <a:prstGeom prst="rect">
            <a:avLst/>
          </a:prstGeom>
          <a:noFill/>
          <a:ln>
            <a:noFill/>
          </a:ln>
        </p:spPr>
      </p:pic>
    </p:spTree>
    <p:extLst>
      <p:ext uri="{BB962C8B-B14F-4D97-AF65-F5344CB8AC3E}">
        <p14:creationId xmlns:p14="http://schemas.microsoft.com/office/powerpoint/2010/main" val="3396854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E6521FC-0D6D-483B-AA42-61BCDD67CAA0}"/>
              </a:ext>
            </a:extLst>
          </p:cNvPr>
          <p:cNvSpPr>
            <a:spLocks noGrp="1"/>
          </p:cNvSpPr>
          <p:nvPr>
            <p:ph idx="1"/>
          </p:nvPr>
        </p:nvSpPr>
        <p:spPr>
          <a:xfrm>
            <a:off x="265043" y="238538"/>
            <a:ext cx="11688418" cy="6453809"/>
          </a:xfrm>
        </p:spPr>
        <p:txBody>
          <a:bodyPr>
            <a:normAutofit lnSpcReduction="10000"/>
          </a:bodyPr>
          <a:lstStyle/>
          <a:p>
            <a:pPr algn="just"/>
            <a:r>
              <a:rPr lang="es-MX" sz="2000" b="1" dirty="0"/>
              <a:t>Carro motor con cabina</a:t>
            </a:r>
            <a:endParaRPr lang="es-MX" sz="2000" dirty="0"/>
          </a:p>
          <a:p>
            <a:pPr marL="0" indent="0" algn="just">
              <a:buNone/>
            </a:pPr>
            <a:r>
              <a:rPr lang="es-MX" sz="2000" dirty="0"/>
              <a:t>Que se identifica por la letra M seguida por el numero 0 (cero) y a continuación el numero progresivo de serie que le corresponde.</a:t>
            </a:r>
          </a:p>
          <a:p>
            <a:pPr marL="0" indent="0" algn="just">
              <a:buNone/>
            </a:pPr>
            <a:r>
              <a:rPr lang="es-MX" sz="2000" dirty="0"/>
              <a:t>En su extremo de su carrocería, tiene integrada una cabina de conducción, desde donde se controlan los mandos del tren, a partir de los diferentes equipos instalados en ella, cuenta además con dos carretillas motoras y equipos propios de tracción y frenado.</a:t>
            </a:r>
          </a:p>
          <a:p>
            <a:pPr marL="0" indent="0" algn="just">
              <a:buNone/>
            </a:pPr>
            <a:r>
              <a:rPr lang="es-MX" sz="2000" b="1" dirty="0"/>
              <a:t> </a:t>
            </a:r>
            <a:endParaRPr lang="es-MX" sz="2000" dirty="0"/>
          </a:p>
          <a:p>
            <a:pPr algn="just"/>
            <a:r>
              <a:rPr lang="es-MX" sz="2000" b="1" dirty="0"/>
              <a:t>Carro motor sin cabina</a:t>
            </a:r>
            <a:endParaRPr lang="es-MX" sz="2000" dirty="0"/>
          </a:p>
          <a:p>
            <a:pPr marL="0" indent="0" algn="just">
              <a:buNone/>
            </a:pPr>
            <a:r>
              <a:rPr lang="es-MX" sz="2000" dirty="0"/>
              <a:t>Que lleva la letra N, seguida del número 1 y a continuación el numero progresivo de serie que le corresponde.</a:t>
            </a:r>
          </a:p>
          <a:p>
            <a:pPr marL="0" indent="0" algn="just">
              <a:buNone/>
            </a:pPr>
            <a:r>
              <a:rPr lang="es-MX" sz="2000" dirty="0"/>
              <a:t>Tiene una carrocería semejante al otro carro motor, pero no cuenta con canina de conducción. Cuenta igualmente can dos carretillas motoras y equipos propios de tracción y frenado.</a:t>
            </a:r>
          </a:p>
          <a:p>
            <a:pPr marL="0" indent="0" algn="just">
              <a:buNone/>
            </a:pPr>
            <a:endParaRPr lang="es-MX" sz="2000" dirty="0"/>
          </a:p>
          <a:p>
            <a:pPr algn="just"/>
            <a:r>
              <a:rPr lang="es-MX" sz="2000" b="1" dirty="0"/>
              <a:t>Carro remolque</a:t>
            </a:r>
            <a:endParaRPr lang="es-MX" sz="2000" dirty="0"/>
          </a:p>
          <a:p>
            <a:pPr marL="0" indent="0" algn="just">
              <a:buNone/>
            </a:pPr>
            <a:r>
              <a:rPr lang="es-MX" sz="2000" dirty="0"/>
              <a:t>Identificado por la letra R, seguida del número 3 y su número progresivo de serie correspondiente.</a:t>
            </a:r>
          </a:p>
          <a:p>
            <a:pPr marL="0" indent="0" algn="just">
              <a:buNone/>
            </a:pPr>
            <a:r>
              <a:rPr lang="es-MX" sz="2000" dirty="0"/>
              <a:t>Su carrocería es idéntica a la del carro motor N. Cuenta con dos carretillas, pero sin medios propios de tracción, llamadas carretillas portadoras.</a:t>
            </a:r>
          </a:p>
        </p:txBody>
      </p:sp>
    </p:spTree>
    <p:extLst>
      <p:ext uri="{BB962C8B-B14F-4D97-AF65-F5344CB8AC3E}">
        <p14:creationId xmlns:p14="http://schemas.microsoft.com/office/powerpoint/2010/main" val="39828669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33C3B3-F00A-4307-9A07-96FCF874723C}"/>
              </a:ext>
            </a:extLst>
          </p:cNvPr>
          <p:cNvSpPr>
            <a:spLocks noGrp="1"/>
          </p:cNvSpPr>
          <p:nvPr>
            <p:ph type="title"/>
          </p:nvPr>
        </p:nvSpPr>
        <p:spPr/>
        <p:txBody>
          <a:bodyPr>
            <a:normAutofit fontScale="90000"/>
          </a:bodyPr>
          <a:lstStyle/>
          <a:p>
            <a:pPr algn="ctr"/>
            <a:r>
              <a:rPr lang="es-ES" b="1" dirty="0"/>
              <a:t>ALIMENTACIÓN DE ENERGÍA ELÉCTRICA</a:t>
            </a:r>
            <a:endParaRPr lang="es-MX" dirty="0"/>
          </a:p>
        </p:txBody>
      </p:sp>
      <p:sp>
        <p:nvSpPr>
          <p:cNvPr id="3" name="Marcador de contenido 2">
            <a:extLst>
              <a:ext uri="{FF2B5EF4-FFF2-40B4-BE49-F238E27FC236}">
                <a16:creationId xmlns:a16="http://schemas.microsoft.com/office/drawing/2014/main" id="{5CF4E59F-438B-412E-87C8-C17E13C4C2A1}"/>
              </a:ext>
            </a:extLst>
          </p:cNvPr>
          <p:cNvSpPr>
            <a:spLocks noGrp="1"/>
          </p:cNvSpPr>
          <p:nvPr>
            <p:ph idx="1"/>
          </p:nvPr>
        </p:nvSpPr>
        <p:spPr/>
        <p:txBody>
          <a:bodyPr>
            <a:normAutofit/>
          </a:bodyPr>
          <a:lstStyle/>
          <a:p>
            <a:pPr algn="just"/>
            <a:r>
              <a:rPr lang="es-ES" sz="2000" dirty="0"/>
              <a:t>El sistema de transporte colectivo metro esta suministrado de energía eléctrica por la compañía de luz y fuerza del centro a tensiones de 85 </a:t>
            </a:r>
            <a:r>
              <a:rPr lang="es-ES" sz="2000" dirty="0" err="1"/>
              <a:t>kv</a:t>
            </a:r>
            <a:r>
              <a:rPr lang="es-ES" sz="2000" dirty="0"/>
              <a:t> y 23 </a:t>
            </a:r>
            <a:r>
              <a:rPr lang="es-ES" sz="2000" dirty="0" err="1"/>
              <a:t>kv</a:t>
            </a:r>
            <a:r>
              <a:rPr lang="es-ES" sz="2000" dirty="0"/>
              <a:t> por dos cables subterráneos tipo compresión con aceite a presión y aislamiento de papel impregnado, calibre 800 MCM y capacidad de 100 MVA.</a:t>
            </a:r>
            <a:endParaRPr lang="es-MX" sz="2000" dirty="0"/>
          </a:p>
          <a:p>
            <a:pPr algn="just"/>
            <a:r>
              <a:rPr lang="es-ES" sz="2000" dirty="0"/>
              <a:t>Las líneas 1, 2, 3 son abastecidas por las plantas Nonoalco y Jamaica a 85 </a:t>
            </a:r>
            <a:r>
              <a:rPr lang="es-ES" sz="2000" dirty="0" err="1"/>
              <a:t>kv</a:t>
            </a:r>
            <a:r>
              <a:rPr lang="es-ES" sz="2000" dirty="0"/>
              <a:t>, energía que se transforma para ser distribuida por las subestaciones rectificadoras ubicadas en cada una de las líneas, las líneas 4, 5, 6, 7, 9 y A son abastecidas a una tensión de 23 </a:t>
            </a:r>
            <a:r>
              <a:rPr lang="es-ES" sz="2000" dirty="0" err="1"/>
              <a:t>kv</a:t>
            </a:r>
            <a:r>
              <a:rPr lang="es-ES" sz="2000" dirty="0"/>
              <a:t> a sus subestaciones rectificadoras de cada línea, las línea 8 es suministrada por la subestación Estrella por CFE, la línea B es suministrada por la subestación Oceanía ubicada en villa de Aragón a 23 </a:t>
            </a:r>
            <a:r>
              <a:rPr lang="es-ES" sz="2000" dirty="0" err="1"/>
              <a:t>kv</a:t>
            </a:r>
            <a:r>
              <a:rPr lang="es-ES" sz="2000" dirty="0"/>
              <a:t> por </a:t>
            </a:r>
            <a:r>
              <a:rPr lang="es-ES" sz="2000" dirty="0" err="1"/>
              <a:t>LyFC</a:t>
            </a:r>
            <a:r>
              <a:rPr lang="es-ES" sz="2000" dirty="0"/>
              <a:t>.</a:t>
            </a:r>
            <a:endParaRPr lang="es-MX" sz="2000" dirty="0"/>
          </a:p>
          <a:p>
            <a:endParaRPr lang="es-MX" dirty="0"/>
          </a:p>
        </p:txBody>
      </p:sp>
    </p:spTree>
    <p:extLst>
      <p:ext uri="{BB962C8B-B14F-4D97-AF65-F5344CB8AC3E}">
        <p14:creationId xmlns:p14="http://schemas.microsoft.com/office/powerpoint/2010/main" val="35189405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84776B-FFD6-4B9F-B2A1-62DC09E83D8A}"/>
              </a:ext>
            </a:extLst>
          </p:cNvPr>
          <p:cNvSpPr>
            <a:spLocks noGrp="1"/>
          </p:cNvSpPr>
          <p:nvPr>
            <p:ph type="title"/>
          </p:nvPr>
        </p:nvSpPr>
        <p:spPr/>
        <p:txBody>
          <a:bodyPr>
            <a:normAutofit fontScale="90000"/>
          </a:bodyPr>
          <a:lstStyle/>
          <a:p>
            <a:pPr algn="ctr"/>
            <a:r>
              <a:rPr lang="es-ES" b="1" dirty="0"/>
              <a:t>SUBESTACION RECEPTORA S.T.C. (PRINCIPAL 140 MVA).</a:t>
            </a:r>
            <a:br>
              <a:rPr lang="es-MX" dirty="0"/>
            </a:br>
            <a:endParaRPr lang="es-MX" dirty="0"/>
          </a:p>
        </p:txBody>
      </p:sp>
      <p:sp>
        <p:nvSpPr>
          <p:cNvPr id="3" name="Marcador de contenido 2">
            <a:extLst>
              <a:ext uri="{FF2B5EF4-FFF2-40B4-BE49-F238E27FC236}">
                <a16:creationId xmlns:a16="http://schemas.microsoft.com/office/drawing/2014/main" id="{BEBF4DF9-429E-448D-AA2B-6AE1B1CB91A5}"/>
              </a:ext>
            </a:extLst>
          </p:cNvPr>
          <p:cNvSpPr>
            <a:spLocks noGrp="1"/>
          </p:cNvSpPr>
          <p:nvPr>
            <p:ph idx="1"/>
          </p:nvPr>
        </p:nvSpPr>
        <p:spPr/>
        <p:txBody>
          <a:bodyPr>
            <a:normAutofit/>
          </a:bodyPr>
          <a:lstStyle/>
          <a:p>
            <a:pPr algn="just"/>
            <a:r>
              <a:rPr lang="es-ES" sz="2000" dirty="0"/>
              <a:t> Sus características es que consta de dos </a:t>
            </a:r>
            <a:r>
              <a:rPr lang="es-ES" sz="2000" dirty="0" err="1"/>
              <a:t>semi-subestaciones</a:t>
            </a:r>
            <a:r>
              <a:rPr lang="es-ES" sz="2000" dirty="0"/>
              <a:t> reductoras idénticas, llamadas A y B; cada una consta de dos transformadores de 35 000 KVA que reducen la tensión  de 85 a 15 KV, </a:t>
            </a:r>
            <a:r>
              <a:rPr lang="es-ES" sz="2000" dirty="0" err="1"/>
              <a:t>ó</a:t>
            </a:r>
            <a:r>
              <a:rPr lang="es-ES" sz="2000" dirty="0"/>
              <a:t> de 23 a 15 KV, con un juego de barras colectoras de 85 </a:t>
            </a:r>
            <a:r>
              <a:rPr lang="es-ES" sz="2000" dirty="0" err="1"/>
              <a:t>ó</a:t>
            </a:r>
            <a:r>
              <a:rPr lang="es-ES" sz="2000" dirty="0"/>
              <a:t> 23 KV a los cuales se conectan los transformadores, tres juegos de barras colectoras de15 KV, dos para tracción y una para alumbrado a las cuales se conecta los dos transformadores. Después de esta subestación receptora la energía pasa a ser distribuida:</a:t>
            </a:r>
            <a:endParaRPr lang="es-MX" sz="2000" dirty="0"/>
          </a:p>
        </p:txBody>
      </p:sp>
    </p:spTree>
    <p:extLst>
      <p:ext uri="{BB962C8B-B14F-4D97-AF65-F5344CB8AC3E}">
        <p14:creationId xmlns:p14="http://schemas.microsoft.com/office/powerpoint/2010/main" val="9480196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descr="SUB6">
            <a:extLst>
              <a:ext uri="{FF2B5EF4-FFF2-40B4-BE49-F238E27FC236}">
                <a16:creationId xmlns:a16="http://schemas.microsoft.com/office/drawing/2014/main" id="{D832B5A2-3F7F-4526-89FE-F7BFBF57B3D1}"/>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9410" y="519422"/>
            <a:ext cx="5495778" cy="6162731"/>
          </a:xfrm>
          <a:prstGeom prst="rect">
            <a:avLst/>
          </a:prstGeom>
          <a:noFill/>
          <a:ln>
            <a:noFill/>
          </a:ln>
        </p:spPr>
      </p:pic>
    </p:spTree>
    <p:extLst>
      <p:ext uri="{BB962C8B-B14F-4D97-AF65-F5344CB8AC3E}">
        <p14:creationId xmlns:p14="http://schemas.microsoft.com/office/powerpoint/2010/main" val="21591137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E9C1B-2F9C-47AD-A241-D8D5B0C33862}"/>
              </a:ext>
            </a:extLst>
          </p:cNvPr>
          <p:cNvSpPr>
            <a:spLocks noGrp="1"/>
          </p:cNvSpPr>
          <p:nvPr>
            <p:ph type="title"/>
          </p:nvPr>
        </p:nvSpPr>
        <p:spPr/>
        <p:txBody>
          <a:bodyPr>
            <a:normAutofit fontScale="90000"/>
          </a:bodyPr>
          <a:lstStyle/>
          <a:p>
            <a:pPr algn="ctr"/>
            <a:r>
              <a:rPr lang="es-MX" b="1" dirty="0"/>
              <a:t>DISTRIBUCION DE ENERGIA</a:t>
            </a:r>
            <a:br>
              <a:rPr lang="es-MX" dirty="0"/>
            </a:br>
            <a:endParaRPr lang="es-MX" dirty="0"/>
          </a:p>
        </p:txBody>
      </p:sp>
      <p:sp>
        <p:nvSpPr>
          <p:cNvPr id="3" name="Marcador de contenido 2">
            <a:extLst>
              <a:ext uri="{FF2B5EF4-FFF2-40B4-BE49-F238E27FC236}">
                <a16:creationId xmlns:a16="http://schemas.microsoft.com/office/drawing/2014/main" id="{8E3DC535-B071-4628-87E2-4373B059B3F0}"/>
              </a:ext>
            </a:extLst>
          </p:cNvPr>
          <p:cNvSpPr>
            <a:spLocks noGrp="1"/>
          </p:cNvSpPr>
          <p:nvPr>
            <p:ph idx="1"/>
          </p:nvPr>
        </p:nvSpPr>
        <p:spPr/>
        <p:txBody>
          <a:bodyPr/>
          <a:lstStyle/>
          <a:p>
            <a:pPr algn="just"/>
            <a:r>
              <a:rPr lang="es-MX" b="1" dirty="0"/>
              <a:t> </a:t>
            </a:r>
            <a:r>
              <a:rPr lang="es-MX" sz="2000" dirty="0"/>
              <a:t>Esta distribución es alimentada por 38 alimentadores a tensión 15 KV de la subestación receptora a través de un cable que soporta tensiones grandes y tiene un aislamiento de papel impregnado calibre 3 X 150mm, que va a lo largo del túnel, también este sistema de distribución consta de 32 subestaciones rectificadoras y 98 subestaciones de alumbrado y fuerza.</a:t>
            </a:r>
            <a:endParaRPr lang="es-MX" dirty="0"/>
          </a:p>
        </p:txBody>
      </p:sp>
    </p:spTree>
    <p:extLst>
      <p:ext uri="{BB962C8B-B14F-4D97-AF65-F5344CB8AC3E}">
        <p14:creationId xmlns:p14="http://schemas.microsoft.com/office/powerpoint/2010/main" val="5771085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2555A-7B86-4F2F-B11A-63873A74ACBE}"/>
              </a:ext>
            </a:extLst>
          </p:cNvPr>
          <p:cNvSpPr>
            <a:spLocks noGrp="1"/>
          </p:cNvSpPr>
          <p:nvPr>
            <p:ph type="title"/>
          </p:nvPr>
        </p:nvSpPr>
        <p:spPr/>
        <p:txBody>
          <a:bodyPr>
            <a:normAutofit fontScale="90000"/>
          </a:bodyPr>
          <a:lstStyle/>
          <a:p>
            <a:pPr algn="ctr"/>
            <a:r>
              <a:rPr lang="es-ES" b="1" dirty="0"/>
              <a:t>SUBESTACIONES RECTIFICADORAS.</a:t>
            </a:r>
            <a:br>
              <a:rPr lang="es-MX" dirty="0"/>
            </a:br>
            <a:endParaRPr lang="es-MX" dirty="0"/>
          </a:p>
        </p:txBody>
      </p:sp>
      <p:sp>
        <p:nvSpPr>
          <p:cNvPr id="3" name="Marcador de contenido 2">
            <a:extLst>
              <a:ext uri="{FF2B5EF4-FFF2-40B4-BE49-F238E27FC236}">
                <a16:creationId xmlns:a16="http://schemas.microsoft.com/office/drawing/2014/main" id="{3E29448F-E110-480D-9767-CF13AECD5316}"/>
              </a:ext>
            </a:extLst>
          </p:cNvPr>
          <p:cNvSpPr>
            <a:spLocks noGrp="1"/>
          </p:cNvSpPr>
          <p:nvPr>
            <p:ph idx="1"/>
          </p:nvPr>
        </p:nvSpPr>
        <p:spPr/>
        <p:txBody>
          <a:bodyPr>
            <a:normAutofit/>
          </a:bodyPr>
          <a:lstStyle/>
          <a:p>
            <a:pPr algn="just"/>
            <a:r>
              <a:rPr lang="es-ES" sz="2000" dirty="0"/>
              <a:t>El objetivo de esta subestación rectificadora es suministrar la energía que requieren los trenes y dar los servicios propios de alumbrado, fuerza y alimentación a los sistemas de control de los mismos sus componentes son:</a:t>
            </a:r>
            <a:endParaRPr lang="es-MX" sz="2000" dirty="0"/>
          </a:p>
          <a:p>
            <a:pPr algn="just"/>
            <a:r>
              <a:rPr lang="es-ES" sz="2000" dirty="0"/>
              <a:t>Un transformador de </a:t>
            </a:r>
            <a:r>
              <a:rPr lang="es-MX" sz="2000" dirty="0"/>
              <a:t>15KV a 540V aun en CA, pero ésta la rectifica para tenerla a 750VCD es </a:t>
            </a:r>
            <a:r>
              <a:rPr lang="es-ES" sz="2000" dirty="0"/>
              <a:t>tipo seco con doble devanado en el secundario y un rectificador de silicio conformado por un puente </a:t>
            </a:r>
            <a:r>
              <a:rPr lang="es-ES" sz="2000" dirty="0" err="1"/>
              <a:t>dodecafásico</a:t>
            </a:r>
            <a:r>
              <a:rPr lang="es-ES" sz="2000" dirty="0"/>
              <a:t> con una bobina de equilibrio</a:t>
            </a:r>
            <a:r>
              <a:rPr lang="es-MX" sz="2000" dirty="0"/>
              <a:t>, </a:t>
            </a:r>
            <a:r>
              <a:rPr lang="es-ES" sz="2000" dirty="0"/>
              <a:t>cuenta con ventilación por aire forzado (OA), soportan una sobrecarga de 50% durante tres horas. Su objeto es convertir la corriente alterna de 15 KV  en corriente continua de 750 V, para proveer la corriente de tracción necesaria para el movimiento de trenes. La potencia instalada de 2500 KW son controladas desde el PCC.</a:t>
            </a:r>
            <a:endParaRPr lang="es-MX" sz="2000" dirty="0"/>
          </a:p>
          <a:p>
            <a:endParaRPr lang="es-MX" dirty="0"/>
          </a:p>
        </p:txBody>
      </p:sp>
    </p:spTree>
    <p:extLst>
      <p:ext uri="{BB962C8B-B14F-4D97-AF65-F5344CB8AC3E}">
        <p14:creationId xmlns:p14="http://schemas.microsoft.com/office/powerpoint/2010/main" val="26583250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8F509D0-74A7-44ED-A146-99D171864321}"/>
              </a:ext>
            </a:extLst>
          </p:cNvPr>
          <p:cNvSpPr>
            <a:spLocks noGrp="1"/>
          </p:cNvSpPr>
          <p:nvPr>
            <p:ph idx="1"/>
          </p:nvPr>
        </p:nvSpPr>
        <p:spPr>
          <a:xfrm>
            <a:off x="838199" y="733907"/>
            <a:ext cx="10515600" cy="3024670"/>
          </a:xfrm>
        </p:spPr>
        <p:txBody>
          <a:bodyPr/>
          <a:lstStyle/>
          <a:p>
            <a:pPr lvl="0" algn="just"/>
            <a:r>
              <a:rPr lang="es-ES" sz="2000" dirty="0"/>
              <a:t>Un interruptor de media tensión;</a:t>
            </a:r>
            <a:endParaRPr lang="es-MX" sz="2000" dirty="0"/>
          </a:p>
          <a:p>
            <a:pPr lvl="0" algn="just"/>
            <a:r>
              <a:rPr lang="es-ES" sz="2000" dirty="0"/>
              <a:t>Un transformador de servicios propios;</a:t>
            </a:r>
            <a:endParaRPr lang="es-MX" sz="2000" dirty="0"/>
          </a:p>
          <a:p>
            <a:pPr lvl="0" algn="just"/>
            <a:r>
              <a:rPr lang="es-ES" sz="2000" dirty="0"/>
              <a:t>Un rectificador de silicio;</a:t>
            </a:r>
            <a:endParaRPr lang="es-MX" sz="2000" dirty="0"/>
          </a:p>
          <a:p>
            <a:pPr lvl="0" algn="just"/>
            <a:r>
              <a:rPr lang="es-ES" sz="2000" dirty="0"/>
              <a:t>Un interruptor de corriente directa;</a:t>
            </a:r>
            <a:endParaRPr lang="es-MX" sz="2000" dirty="0"/>
          </a:p>
          <a:p>
            <a:pPr lvl="0" algn="just"/>
            <a:r>
              <a:rPr lang="es-ES" sz="2000" dirty="0"/>
              <a:t>Un ventilador mecánico para la refrigeración del transformador y el rectificador.</a:t>
            </a:r>
          </a:p>
          <a:p>
            <a:pPr marL="0" indent="0" algn="just">
              <a:buNone/>
            </a:pPr>
            <a:r>
              <a:rPr lang="es-MX" sz="2000" dirty="0"/>
              <a:t>Las subestaciones rectificadores principales que abastecen a las </a:t>
            </a:r>
            <a:r>
              <a:rPr lang="es-MX" sz="2000" dirty="0" err="1"/>
              <a:t>lineas</a:t>
            </a:r>
            <a:r>
              <a:rPr lang="es-MX" sz="2000" dirty="0"/>
              <a:t> del STC metro:</a:t>
            </a:r>
          </a:p>
        </p:txBody>
      </p:sp>
      <p:graphicFrame>
        <p:nvGraphicFramePr>
          <p:cNvPr id="6" name="Tabla 5">
            <a:extLst>
              <a:ext uri="{FF2B5EF4-FFF2-40B4-BE49-F238E27FC236}">
                <a16:creationId xmlns:a16="http://schemas.microsoft.com/office/drawing/2014/main" id="{A2C90C31-0A77-4518-9C46-AA0E7CCECC9A}"/>
              </a:ext>
            </a:extLst>
          </p:cNvPr>
          <p:cNvGraphicFramePr>
            <a:graphicFrameLocks noGrp="1"/>
          </p:cNvGraphicFramePr>
          <p:nvPr>
            <p:extLst>
              <p:ext uri="{D42A27DB-BD31-4B8C-83A1-F6EECF244321}">
                <p14:modId xmlns:p14="http://schemas.microsoft.com/office/powerpoint/2010/main" val="601782334"/>
              </p:ext>
            </p:extLst>
          </p:nvPr>
        </p:nvGraphicFramePr>
        <p:xfrm>
          <a:off x="2358238" y="3935896"/>
          <a:ext cx="7475523" cy="1692826"/>
        </p:xfrm>
        <a:graphic>
          <a:graphicData uri="http://schemas.openxmlformats.org/drawingml/2006/table">
            <a:tbl>
              <a:tblPr firstRow="1" firstCol="1" lastRow="1" lastCol="1" bandRow="1" bandCol="1">
                <a:tableStyleId>{5C22544A-7EE6-4342-B048-85BDC9FD1C3A}</a:tableStyleId>
              </a:tblPr>
              <a:tblGrid>
                <a:gridCol w="1588694">
                  <a:extLst>
                    <a:ext uri="{9D8B030D-6E8A-4147-A177-3AD203B41FA5}">
                      <a16:colId xmlns:a16="http://schemas.microsoft.com/office/drawing/2014/main" val="1194115391"/>
                    </a:ext>
                  </a:extLst>
                </a:gridCol>
                <a:gridCol w="2148235">
                  <a:extLst>
                    <a:ext uri="{9D8B030D-6E8A-4147-A177-3AD203B41FA5}">
                      <a16:colId xmlns:a16="http://schemas.microsoft.com/office/drawing/2014/main" val="2009656985"/>
                    </a:ext>
                  </a:extLst>
                </a:gridCol>
                <a:gridCol w="1869297">
                  <a:extLst>
                    <a:ext uri="{9D8B030D-6E8A-4147-A177-3AD203B41FA5}">
                      <a16:colId xmlns:a16="http://schemas.microsoft.com/office/drawing/2014/main" val="2232667290"/>
                    </a:ext>
                  </a:extLst>
                </a:gridCol>
                <a:gridCol w="1869297">
                  <a:extLst>
                    <a:ext uri="{9D8B030D-6E8A-4147-A177-3AD203B41FA5}">
                      <a16:colId xmlns:a16="http://schemas.microsoft.com/office/drawing/2014/main" val="1144172136"/>
                    </a:ext>
                  </a:extLst>
                </a:gridCol>
              </a:tblGrid>
              <a:tr h="857232">
                <a:tc>
                  <a:txBody>
                    <a:bodyPr/>
                    <a:lstStyle/>
                    <a:p>
                      <a:pPr>
                        <a:lnSpc>
                          <a:spcPct val="107000"/>
                        </a:lnSpc>
                        <a:spcAft>
                          <a:spcPts val="0"/>
                        </a:spcAft>
                      </a:pPr>
                      <a:r>
                        <a:rPr lang="es-ES" sz="1400">
                          <a:effectLst/>
                        </a:rPr>
                        <a:t>PCC</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dirty="0">
                          <a:effectLst/>
                        </a:rPr>
                        <a:t>1, 2, 3, 4, 5, 6, 7, 9 y A</a:t>
                      </a:r>
                      <a:endParaRPr lang="es-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85KV</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LyFC</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258314860"/>
                  </a:ext>
                </a:extLst>
              </a:tr>
              <a:tr h="417797">
                <a:tc>
                  <a:txBody>
                    <a:bodyPr/>
                    <a:lstStyle/>
                    <a:p>
                      <a:pPr>
                        <a:lnSpc>
                          <a:spcPct val="107000"/>
                        </a:lnSpc>
                        <a:spcAft>
                          <a:spcPts val="0"/>
                        </a:spcAft>
                      </a:pPr>
                      <a:r>
                        <a:rPr lang="es-ES" sz="1400" dirty="0" err="1">
                          <a:effectLst/>
                        </a:rPr>
                        <a:t>Seat</a:t>
                      </a:r>
                      <a:r>
                        <a:rPr lang="es-ES" sz="1400" dirty="0">
                          <a:effectLst/>
                        </a:rPr>
                        <a:t> estrella</a:t>
                      </a:r>
                      <a:endParaRPr lang="es-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8</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dirty="0">
                          <a:effectLst/>
                        </a:rPr>
                        <a:t>23KV</a:t>
                      </a:r>
                      <a:endParaRPr lang="es-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CFE</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72495939"/>
                  </a:ext>
                </a:extLst>
              </a:tr>
              <a:tr h="417797">
                <a:tc>
                  <a:txBody>
                    <a:bodyPr/>
                    <a:lstStyle/>
                    <a:p>
                      <a:pPr>
                        <a:lnSpc>
                          <a:spcPct val="107000"/>
                        </a:lnSpc>
                        <a:spcAft>
                          <a:spcPts val="0"/>
                        </a:spcAft>
                      </a:pPr>
                      <a:r>
                        <a:rPr lang="es-ES" sz="1400">
                          <a:effectLst/>
                        </a:rPr>
                        <a:t>Seat oceania</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B</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a:effectLst/>
                        </a:rPr>
                        <a:t>23KV</a:t>
                      </a:r>
                      <a:endParaRPr lang="es-MX"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07000"/>
                        </a:lnSpc>
                        <a:spcAft>
                          <a:spcPts val="0"/>
                        </a:spcAft>
                      </a:pPr>
                      <a:r>
                        <a:rPr lang="es-ES" sz="1400" dirty="0" err="1">
                          <a:effectLst/>
                        </a:rPr>
                        <a:t>LyFC</a:t>
                      </a:r>
                      <a:endParaRPr lang="es-MX"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86210571"/>
                  </a:ext>
                </a:extLst>
              </a:tr>
            </a:tbl>
          </a:graphicData>
        </a:graphic>
      </p:graphicFrame>
    </p:spTree>
    <p:extLst>
      <p:ext uri="{BB962C8B-B14F-4D97-AF65-F5344CB8AC3E}">
        <p14:creationId xmlns:p14="http://schemas.microsoft.com/office/powerpoint/2010/main" val="19197184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717525-8289-4B2C-A1E3-97BAEF8B223A}"/>
              </a:ext>
            </a:extLst>
          </p:cNvPr>
          <p:cNvSpPr>
            <a:spLocks noGrp="1"/>
          </p:cNvSpPr>
          <p:nvPr>
            <p:ph type="title"/>
          </p:nvPr>
        </p:nvSpPr>
        <p:spPr/>
        <p:txBody>
          <a:bodyPr>
            <a:normAutofit fontScale="90000"/>
          </a:bodyPr>
          <a:lstStyle/>
          <a:p>
            <a:r>
              <a:rPr lang="es-ES" b="1" dirty="0"/>
              <a:t>ALIMENTACIÓN PARA LA TRACCIÓN A LOS TRENES.</a:t>
            </a:r>
            <a:br>
              <a:rPr lang="es-MX" dirty="0"/>
            </a:br>
            <a:endParaRPr lang="es-MX" dirty="0"/>
          </a:p>
        </p:txBody>
      </p:sp>
      <p:sp>
        <p:nvSpPr>
          <p:cNvPr id="3" name="Marcador de contenido 2">
            <a:extLst>
              <a:ext uri="{FF2B5EF4-FFF2-40B4-BE49-F238E27FC236}">
                <a16:creationId xmlns:a16="http://schemas.microsoft.com/office/drawing/2014/main" id="{8B3F0AF0-636F-44F2-8A21-E18979408E3D}"/>
              </a:ext>
            </a:extLst>
          </p:cNvPr>
          <p:cNvSpPr>
            <a:spLocks noGrp="1"/>
          </p:cNvSpPr>
          <p:nvPr>
            <p:ph idx="1"/>
          </p:nvPr>
        </p:nvSpPr>
        <p:spPr/>
        <p:txBody>
          <a:bodyPr>
            <a:normAutofit/>
          </a:bodyPr>
          <a:lstStyle/>
          <a:p>
            <a:pPr algn="just"/>
            <a:r>
              <a:rPr lang="es-MX" sz="2000" dirty="0"/>
              <a:t>Esta alimentación es a </a:t>
            </a:r>
            <a:r>
              <a:rPr lang="es-ES" sz="2000" dirty="0"/>
              <a:t>partir de las subestaciones rectificadoras y a través de cables de 1,000 Volts </a:t>
            </a:r>
            <a:r>
              <a:rPr lang="es-MX" sz="2000" dirty="0"/>
              <a:t>esta energía de corriente directa es verificada por medio de reguladores de tensión a 750VCD.</a:t>
            </a:r>
            <a:r>
              <a:rPr lang="es-ES" sz="2000" dirty="0"/>
              <a:t>que energiza la barra guía, son dos por barra, que corren a lo largo de la vía, que a su vez se alimentan los trenes por medio de sus escobillas positivas y negativas al rozar con la barra guía. </a:t>
            </a:r>
            <a:endParaRPr lang="es-MX" sz="2000" dirty="0"/>
          </a:p>
        </p:txBody>
      </p:sp>
    </p:spTree>
    <p:extLst>
      <p:ext uri="{BB962C8B-B14F-4D97-AF65-F5344CB8AC3E}">
        <p14:creationId xmlns:p14="http://schemas.microsoft.com/office/powerpoint/2010/main" val="1981240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DB054B-8D18-4DB9-A012-3D98C11D3ECA}"/>
              </a:ext>
            </a:extLst>
          </p:cNvPr>
          <p:cNvSpPr>
            <a:spLocks noGrp="1"/>
          </p:cNvSpPr>
          <p:nvPr>
            <p:ph type="title"/>
          </p:nvPr>
        </p:nvSpPr>
        <p:spPr/>
        <p:txBody>
          <a:bodyPr>
            <a:normAutofit fontScale="90000"/>
          </a:bodyPr>
          <a:lstStyle/>
          <a:p>
            <a:pPr algn="ctr"/>
            <a:r>
              <a:rPr lang="es-ES" b="1" dirty="0"/>
              <a:t>ALUMBRADO EN LOS TRENES.</a:t>
            </a:r>
            <a:br>
              <a:rPr lang="es-MX" dirty="0"/>
            </a:br>
            <a:endParaRPr lang="es-MX" dirty="0"/>
          </a:p>
        </p:txBody>
      </p:sp>
      <p:sp>
        <p:nvSpPr>
          <p:cNvPr id="3" name="Marcador de contenido 2">
            <a:extLst>
              <a:ext uri="{FF2B5EF4-FFF2-40B4-BE49-F238E27FC236}">
                <a16:creationId xmlns:a16="http://schemas.microsoft.com/office/drawing/2014/main" id="{2538CE7D-1717-428B-89A0-12E0894BA630}"/>
              </a:ext>
            </a:extLst>
          </p:cNvPr>
          <p:cNvSpPr>
            <a:spLocks noGrp="1"/>
          </p:cNvSpPr>
          <p:nvPr>
            <p:ph idx="1"/>
          </p:nvPr>
        </p:nvSpPr>
        <p:spPr/>
        <p:txBody>
          <a:bodyPr>
            <a:normAutofit/>
          </a:bodyPr>
          <a:lstStyle/>
          <a:p>
            <a:pPr algn="just"/>
            <a:r>
              <a:rPr lang="es-MX" sz="2000" dirty="0"/>
              <a:t> Para el alumbrado de los carros del tren cuentan con dos tipos de alumbrado el normal que  alimentado con corriente alterna proveniente del grupo motor alternador  y esta compuesto por 24 tubos fluorescentes y el de emergencia que es alimentado en corriente continua,  proveniente de la corriente proporcionada por las baterías, la cual pasa a través de onduladores, compuesto por 16 tubos fluorescentes.</a:t>
            </a:r>
          </a:p>
        </p:txBody>
      </p:sp>
    </p:spTree>
    <p:extLst>
      <p:ext uri="{BB962C8B-B14F-4D97-AF65-F5344CB8AC3E}">
        <p14:creationId xmlns:p14="http://schemas.microsoft.com/office/powerpoint/2010/main" val="6422340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DCE789-CBF6-4FC7-8F84-53C08411F25A}"/>
              </a:ext>
            </a:extLst>
          </p:cNvPr>
          <p:cNvSpPr>
            <a:spLocks noGrp="1"/>
          </p:cNvSpPr>
          <p:nvPr>
            <p:ph type="title"/>
          </p:nvPr>
        </p:nvSpPr>
        <p:spPr/>
        <p:txBody>
          <a:bodyPr>
            <a:normAutofit fontScale="90000"/>
          </a:bodyPr>
          <a:lstStyle/>
          <a:p>
            <a:pPr algn="ctr"/>
            <a:r>
              <a:rPr lang="es-ES" dirty="0"/>
              <a:t> </a:t>
            </a:r>
            <a:br>
              <a:rPr lang="es-MX" dirty="0"/>
            </a:br>
            <a:r>
              <a:rPr lang="es-MX" b="1" dirty="0"/>
              <a:t>SUBESTACIONES DE ALUMBRADO Y FUERZA.</a:t>
            </a:r>
            <a:br>
              <a:rPr lang="es-MX" dirty="0"/>
            </a:br>
            <a:endParaRPr lang="es-MX" dirty="0"/>
          </a:p>
        </p:txBody>
      </p:sp>
      <p:sp>
        <p:nvSpPr>
          <p:cNvPr id="3" name="Marcador de contenido 2">
            <a:extLst>
              <a:ext uri="{FF2B5EF4-FFF2-40B4-BE49-F238E27FC236}">
                <a16:creationId xmlns:a16="http://schemas.microsoft.com/office/drawing/2014/main" id="{8A9EB5AE-BC44-45E1-A508-7A84C8C705B9}"/>
              </a:ext>
            </a:extLst>
          </p:cNvPr>
          <p:cNvSpPr>
            <a:spLocks noGrp="1"/>
          </p:cNvSpPr>
          <p:nvPr>
            <p:ph idx="1"/>
          </p:nvPr>
        </p:nvSpPr>
        <p:spPr/>
        <p:txBody>
          <a:bodyPr>
            <a:normAutofit/>
          </a:bodyPr>
          <a:lstStyle/>
          <a:p>
            <a:pPr algn="just"/>
            <a:r>
              <a:rPr lang="es-MX" sz="2000" dirty="0"/>
              <a:t>El objetivo de esta subestación es de suministrar la energía a los cajones y a las estaciones, para el alumbrado general, así como las instalaciones locales, bombas, escaleras mecánicas, señalización, etc. </a:t>
            </a:r>
          </a:p>
          <a:p>
            <a:pPr algn="just"/>
            <a:r>
              <a:rPr lang="es-MX" sz="2000" dirty="0"/>
              <a:t>Esta subestación tiene una capacidad de 250 KVA localizada en el centro de cada estación a nivel del andén se instalan dos transformadores de 15 KV a 220V el cual proporciona la energía para la mitad del alumbrado y la otra mitad para las escaleras eléctricas, locales etc.</a:t>
            </a:r>
          </a:p>
          <a:p>
            <a:pPr algn="just"/>
            <a:r>
              <a:rPr lang="es-ES" sz="2000" dirty="0"/>
              <a:t>También cuenta con un interruptor de línea en 23kV, trifásico, operación con carga, accionamiento manual, de 400 y </a:t>
            </a:r>
            <a:r>
              <a:rPr lang="es-MX" sz="2000" dirty="0"/>
              <a:t>soportan una sobrecarga del 50%.</a:t>
            </a:r>
          </a:p>
          <a:p>
            <a:endParaRPr lang="es-MX" dirty="0"/>
          </a:p>
        </p:txBody>
      </p:sp>
    </p:spTree>
    <p:extLst>
      <p:ext uri="{BB962C8B-B14F-4D97-AF65-F5344CB8AC3E}">
        <p14:creationId xmlns:p14="http://schemas.microsoft.com/office/powerpoint/2010/main" val="35548359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4E6F79-B178-487C-AB30-DAD3A870BEFB}"/>
              </a:ext>
            </a:extLst>
          </p:cNvPr>
          <p:cNvSpPr>
            <a:spLocks noGrp="1"/>
          </p:cNvSpPr>
          <p:nvPr>
            <p:ph type="title"/>
          </p:nvPr>
        </p:nvSpPr>
        <p:spPr/>
        <p:txBody>
          <a:bodyPr>
            <a:normAutofit fontScale="90000"/>
          </a:bodyPr>
          <a:lstStyle/>
          <a:p>
            <a:pPr algn="ctr"/>
            <a:r>
              <a:rPr lang="es-MX" dirty="0"/>
              <a:t>NIVELES DE ILUMINACION EN AREAS</a:t>
            </a:r>
            <a:br>
              <a:rPr lang="es-MX" dirty="0"/>
            </a:br>
            <a:endParaRPr lang="es-MX" dirty="0"/>
          </a:p>
        </p:txBody>
      </p:sp>
      <p:graphicFrame>
        <p:nvGraphicFramePr>
          <p:cNvPr id="6" name="Tabla 5">
            <a:extLst>
              <a:ext uri="{FF2B5EF4-FFF2-40B4-BE49-F238E27FC236}">
                <a16:creationId xmlns:a16="http://schemas.microsoft.com/office/drawing/2014/main" id="{B1DDFDD5-1859-48F3-9728-7EF5E0B58F57}"/>
              </a:ext>
            </a:extLst>
          </p:cNvPr>
          <p:cNvGraphicFramePr>
            <a:graphicFrameLocks noGrp="1"/>
          </p:cNvGraphicFramePr>
          <p:nvPr>
            <p:extLst>
              <p:ext uri="{D42A27DB-BD31-4B8C-83A1-F6EECF244321}">
                <p14:modId xmlns:p14="http://schemas.microsoft.com/office/powerpoint/2010/main" val="1854747553"/>
              </p:ext>
            </p:extLst>
          </p:nvPr>
        </p:nvGraphicFramePr>
        <p:xfrm>
          <a:off x="1881159" y="2014194"/>
          <a:ext cx="8429682" cy="4144415"/>
        </p:xfrm>
        <a:graphic>
          <a:graphicData uri="http://schemas.openxmlformats.org/drawingml/2006/table">
            <a:tbl>
              <a:tblPr firstRow="1" firstCol="1" lastRow="1" lastCol="1" bandRow="1" bandCol="1">
                <a:tableStyleId>{5C22544A-7EE6-4342-B048-85BDC9FD1C3A}</a:tableStyleId>
              </a:tblPr>
              <a:tblGrid>
                <a:gridCol w="2106951">
                  <a:extLst>
                    <a:ext uri="{9D8B030D-6E8A-4147-A177-3AD203B41FA5}">
                      <a16:colId xmlns:a16="http://schemas.microsoft.com/office/drawing/2014/main" val="425704750"/>
                    </a:ext>
                  </a:extLst>
                </a:gridCol>
                <a:gridCol w="2106951">
                  <a:extLst>
                    <a:ext uri="{9D8B030D-6E8A-4147-A177-3AD203B41FA5}">
                      <a16:colId xmlns:a16="http://schemas.microsoft.com/office/drawing/2014/main" val="1647431178"/>
                    </a:ext>
                  </a:extLst>
                </a:gridCol>
                <a:gridCol w="2107890">
                  <a:extLst>
                    <a:ext uri="{9D8B030D-6E8A-4147-A177-3AD203B41FA5}">
                      <a16:colId xmlns:a16="http://schemas.microsoft.com/office/drawing/2014/main" val="822726353"/>
                    </a:ext>
                  </a:extLst>
                </a:gridCol>
                <a:gridCol w="2107890">
                  <a:extLst>
                    <a:ext uri="{9D8B030D-6E8A-4147-A177-3AD203B41FA5}">
                      <a16:colId xmlns:a16="http://schemas.microsoft.com/office/drawing/2014/main" val="88334551"/>
                    </a:ext>
                  </a:extLst>
                </a:gridCol>
              </a:tblGrid>
              <a:tr h="1103666">
                <a:tc>
                  <a:txBody>
                    <a:bodyPr/>
                    <a:lstStyle/>
                    <a:p>
                      <a:pPr indent="180340" algn="just">
                        <a:lnSpc>
                          <a:spcPct val="200000"/>
                        </a:lnSpc>
                        <a:spcAft>
                          <a:spcPts val="0"/>
                        </a:spcAft>
                      </a:pPr>
                      <a:r>
                        <a:rPr lang="es-MX" sz="1200">
                          <a:effectLst/>
                        </a:rPr>
                        <a:t>Áreas públicas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Nivel de iluminación</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Áreas operativas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Nivel de iluminación</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28168839"/>
                  </a:ext>
                </a:extLst>
              </a:tr>
              <a:tr h="509487">
                <a:tc>
                  <a:txBody>
                    <a:bodyPr/>
                    <a:lstStyle/>
                    <a:p>
                      <a:pPr indent="180340" algn="just">
                        <a:lnSpc>
                          <a:spcPct val="200000"/>
                        </a:lnSpc>
                        <a:spcAft>
                          <a:spcPts val="0"/>
                        </a:spcAft>
                      </a:pPr>
                      <a:r>
                        <a:rPr lang="es-MX" sz="1200">
                          <a:effectLst/>
                        </a:rPr>
                        <a:t>Vestíbulos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200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Jefe de estación</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200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56138513"/>
                  </a:ext>
                </a:extLst>
              </a:tr>
              <a:tr h="509487">
                <a:tc>
                  <a:txBody>
                    <a:bodyPr/>
                    <a:lstStyle/>
                    <a:p>
                      <a:pPr indent="180340" algn="just">
                        <a:lnSpc>
                          <a:spcPct val="200000"/>
                        </a:lnSpc>
                        <a:spcAft>
                          <a:spcPts val="0"/>
                        </a:spcAft>
                      </a:pPr>
                      <a:r>
                        <a:rPr lang="es-MX" sz="1200">
                          <a:effectLst/>
                        </a:rPr>
                        <a:t>Accesos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200 Luxes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Primeros auxilios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200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80364840"/>
                  </a:ext>
                </a:extLst>
              </a:tr>
              <a:tr h="509487">
                <a:tc>
                  <a:txBody>
                    <a:bodyPr/>
                    <a:lstStyle/>
                    <a:p>
                      <a:pPr indent="180340" algn="just">
                        <a:lnSpc>
                          <a:spcPct val="200000"/>
                        </a:lnSpc>
                        <a:spcAft>
                          <a:spcPts val="0"/>
                        </a:spcAft>
                      </a:pPr>
                      <a:r>
                        <a:rPr lang="es-MX" sz="1200">
                          <a:effectLst/>
                        </a:rPr>
                        <a:t>Taquillas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500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Subestaciones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150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44653869"/>
                  </a:ext>
                </a:extLst>
              </a:tr>
              <a:tr h="493314">
                <a:tc>
                  <a:txBody>
                    <a:bodyPr/>
                    <a:lstStyle/>
                    <a:p>
                      <a:pPr indent="180340" algn="just">
                        <a:lnSpc>
                          <a:spcPct val="200000"/>
                        </a:lnSpc>
                        <a:spcAft>
                          <a:spcPts val="0"/>
                        </a:spcAft>
                      </a:pPr>
                      <a:r>
                        <a:rPr lang="es-MX" sz="1200" dirty="0">
                          <a:effectLst/>
                        </a:rPr>
                        <a:t>Área de torniquetes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300 Luxes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Cuarto de máquinas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150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06597177"/>
                  </a:ext>
                </a:extLst>
              </a:tr>
              <a:tr h="509487">
                <a:tc>
                  <a:txBody>
                    <a:bodyPr/>
                    <a:lstStyle/>
                    <a:p>
                      <a:pPr indent="180340" algn="just">
                        <a:lnSpc>
                          <a:spcPct val="200000"/>
                        </a:lnSpc>
                        <a:spcAft>
                          <a:spcPts val="0"/>
                        </a:spcAft>
                      </a:pPr>
                      <a:r>
                        <a:rPr lang="es-MX" sz="1200">
                          <a:effectLst/>
                        </a:rPr>
                        <a:t>Pasarelas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200 Luxes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Bodegas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100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21248846"/>
                  </a:ext>
                </a:extLst>
              </a:tr>
              <a:tr h="509487">
                <a:tc>
                  <a:txBody>
                    <a:bodyPr/>
                    <a:lstStyle/>
                    <a:p>
                      <a:pPr indent="180340" algn="just">
                        <a:lnSpc>
                          <a:spcPct val="200000"/>
                        </a:lnSpc>
                        <a:spcAft>
                          <a:spcPts val="0"/>
                        </a:spcAft>
                      </a:pPr>
                      <a:r>
                        <a:rPr lang="es-MX" sz="1200">
                          <a:effectLst/>
                        </a:rPr>
                        <a:t>Andenes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200 Luxes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Sanitarios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100 Luxes</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1376894"/>
                  </a:ext>
                </a:extLst>
              </a:tr>
            </a:tbl>
          </a:graphicData>
        </a:graphic>
      </p:graphicFrame>
    </p:spTree>
    <p:extLst>
      <p:ext uri="{BB962C8B-B14F-4D97-AF65-F5344CB8AC3E}">
        <p14:creationId xmlns:p14="http://schemas.microsoft.com/office/powerpoint/2010/main" val="2142227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C6FFBC-5D92-4155-8B9A-DCCD06F18B7F}"/>
              </a:ext>
            </a:extLst>
          </p:cNvPr>
          <p:cNvSpPr>
            <a:spLocks noGrp="1"/>
          </p:cNvSpPr>
          <p:nvPr>
            <p:ph type="title"/>
          </p:nvPr>
        </p:nvSpPr>
        <p:spPr/>
        <p:txBody>
          <a:bodyPr>
            <a:normAutofit fontScale="90000"/>
          </a:bodyPr>
          <a:lstStyle/>
          <a:p>
            <a:pPr algn="ctr"/>
            <a:r>
              <a:rPr lang="es-MX" b="1" dirty="0"/>
              <a:t>FUERZA</a:t>
            </a:r>
            <a:br>
              <a:rPr lang="es-MX" dirty="0"/>
            </a:br>
            <a:endParaRPr lang="es-MX" dirty="0"/>
          </a:p>
        </p:txBody>
      </p:sp>
      <p:sp>
        <p:nvSpPr>
          <p:cNvPr id="3" name="Marcador de contenido 2">
            <a:extLst>
              <a:ext uri="{FF2B5EF4-FFF2-40B4-BE49-F238E27FC236}">
                <a16:creationId xmlns:a16="http://schemas.microsoft.com/office/drawing/2014/main" id="{92ECA0A4-5AAA-4BD6-B28C-C1422D39A94D}"/>
              </a:ext>
            </a:extLst>
          </p:cNvPr>
          <p:cNvSpPr>
            <a:spLocks noGrp="1"/>
          </p:cNvSpPr>
          <p:nvPr>
            <p:ph idx="1"/>
          </p:nvPr>
        </p:nvSpPr>
        <p:spPr>
          <a:xfrm>
            <a:off x="1066800" y="2014194"/>
            <a:ext cx="10058400" cy="4496463"/>
          </a:xfrm>
        </p:spPr>
        <p:txBody>
          <a:bodyPr>
            <a:normAutofit/>
          </a:bodyPr>
          <a:lstStyle/>
          <a:p>
            <a:pPr algn="just"/>
            <a:r>
              <a:rPr lang="es-MX" sz="2000" dirty="0"/>
              <a:t>En las estaciones es necesaria asimismo la alimentación eléctrica de fuerza a los motores de los equipos de bombeo, ventilación y escaleras mecánicas.</a:t>
            </a:r>
            <a:r>
              <a:rPr lang="es-ES" sz="2000" dirty="0"/>
              <a:t> </a:t>
            </a:r>
            <a:endParaRPr lang="es-MX" sz="2000" dirty="0"/>
          </a:p>
          <a:p>
            <a:pPr algn="just"/>
            <a:r>
              <a:rPr lang="es-MX" sz="2000" dirty="0"/>
              <a:t>    </a:t>
            </a:r>
            <a:r>
              <a:rPr lang="es-MX" sz="2000" b="1" dirty="0"/>
              <a:t>Equipos de bombeo</a:t>
            </a:r>
            <a:r>
              <a:rPr lang="es-MX" sz="2000" dirty="0"/>
              <a:t>. En una estación pueden existir varios tipos de cárcamo de bombeo como son los ubicados en cabeceras de estación, en pasarelas y en sanitarios.</a:t>
            </a:r>
          </a:p>
          <a:p>
            <a:pPr algn="just"/>
            <a:r>
              <a:rPr lang="es-MX" sz="2000" dirty="0"/>
              <a:t>   </a:t>
            </a:r>
            <a:r>
              <a:rPr lang="es-MX" sz="2000" b="1" dirty="0"/>
              <a:t>Escaleras mecánicas</a:t>
            </a:r>
            <a:r>
              <a:rPr lang="es-MX" sz="2000" dirty="0"/>
              <a:t>. Son utilizadas en estaciones con desniveles mayores de 6.50 metros, en pasarelas y en estaciones de correspondencia y terminales. </a:t>
            </a:r>
          </a:p>
          <a:p>
            <a:pPr algn="just"/>
            <a:r>
              <a:rPr lang="es-MX" sz="2000" dirty="0"/>
              <a:t>   </a:t>
            </a:r>
            <a:r>
              <a:rPr lang="es-MX" sz="2000" b="1" dirty="0"/>
              <a:t>Contactos</a:t>
            </a:r>
            <a:r>
              <a:rPr lang="es-MX" sz="2000" dirty="0"/>
              <a:t>. En todas las áreas de las estaciones del Metro se proyectan contactos monofásicos en 127 V, 60 Hz y contactos trifásicos en 220 V, 60 Hz especificando en los planos respectivos, el tipo de contacto y el tipo de instalación de acuerdo con los acabados de muros de la estación. </a:t>
            </a:r>
          </a:p>
          <a:p>
            <a:endParaRPr lang="es-MX" dirty="0"/>
          </a:p>
        </p:txBody>
      </p:sp>
    </p:spTree>
    <p:extLst>
      <p:ext uri="{BB962C8B-B14F-4D97-AF65-F5344CB8AC3E}">
        <p14:creationId xmlns:p14="http://schemas.microsoft.com/office/powerpoint/2010/main" val="2594816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B8076D-E25E-45FA-AC70-8BAB42A2C3FC}"/>
              </a:ext>
            </a:extLst>
          </p:cNvPr>
          <p:cNvSpPr>
            <a:spLocks noGrp="1"/>
          </p:cNvSpPr>
          <p:nvPr>
            <p:ph type="title"/>
          </p:nvPr>
        </p:nvSpPr>
        <p:spPr/>
        <p:txBody>
          <a:bodyPr>
            <a:normAutofit fontScale="90000"/>
          </a:bodyPr>
          <a:lstStyle/>
          <a:p>
            <a:pPr algn="ctr"/>
            <a:r>
              <a:rPr lang="es-MX" b="1" dirty="0"/>
              <a:t>SISTEMAS DE VENTILACIÓN</a:t>
            </a:r>
            <a:br>
              <a:rPr lang="es-MX" dirty="0"/>
            </a:br>
            <a:endParaRPr lang="es-MX" dirty="0"/>
          </a:p>
        </p:txBody>
      </p:sp>
      <p:sp>
        <p:nvSpPr>
          <p:cNvPr id="3" name="Marcador de contenido 2">
            <a:extLst>
              <a:ext uri="{FF2B5EF4-FFF2-40B4-BE49-F238E27FC236}">
                <a16:creationId xmlns:a16="http://schemas.microsoft.com/office/drawing/2014/main" id="{3055F540-6939-4E61-817D-3090E99A5F4E}"/>
              </a:ext>
            </a:extLst>
          </p:cNvPr>
          <p:cNvSpPr>
            <a:spLocks noGrp="1"/>
          </p:cNvSpPr>
          <p:nvPr>
            <p:ph idx="1"/>
          </p:nvPr>
        </p:nvSpPr>
        <p:spPr/>
        <p:txBody>
          <a:bodyPr/>
          <a:lstStyle/>
          <a:p>
            <a:pPr algn="just"/>
            <a:r>
              <a:rPr lang="es-MX" sz="2000" dirty="0"/>
              <a:t>En las estaciones existen dos tipos de ventilación denominadas ventilación menor y ventilación mayor.</a:t>
            </a:r>
          </a:p>
          <a:p>
            <a:pPr lvl="0" algn="just"/>
            <a:r>
              <a:rPr lang="es-MX" sz="2000" dirty="0"/>
              <a:t>La ventilación menor corresponde a la extracción e inyección de aire en los locales de subestaciones, jefe de estación, permanencias y taquillas. </a:t>
            </a:r>
          </a:p>
          <a:p>
            <a:pPr lvl="0" algn="just"/>
            <a:r>
              <a:rPr lang="es-MX" sz="2000" dirty="0"/>
              <a:t>La ventilación mayor, generalmente se provee por medio de motores de 150 caballos de fuerza de potencia y su alimentación se toma de subestaciones exclusivas.</a:t>
            </a:r>
          </a:p>
          <a:p>
            <a:pPr lvl="0" algn="just"/>
            <a:r>
              <a:rPr lang="es-MX" sz="2000" dirty="0"/>
              <a:t>También el sistema de ventilación es por respiraderos y por el mismo aire que produce cuando está en movimiento.</a:t>
            </a:r>
          </a:p>
          <a:p>
            <a:endParaRPr lang="es-MX" dirty="0"/>
          </a:p>
        </p:txBody>
      </p:sp>
    </p:spTree>
    <p:extLst>
      <p:ext uri="{BB962C8B-B14F-4D97-AF65-F5344CB8AC3E}">
        <p14:creationId xmlns:p14="http://schemas.microsoft.com/office/powerpoint/2010/main" val="34970599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53B1E3-EE67-4E21-9F56-3D44EC11E00F}"/>
              </a:ext>
            </a:extLst>
          </p:cNvPr>
          <p:cNvSpPr>
            <a:spLocks noGrp="1"/>
          </p:cNvSpPr>
          <p:nvPr>
            <p:ph type="title"/>
          </p:nvPr>
        </p:nvSpPr>
        <p:spPr/>
        <p:txBody>
          <a:bodyPr>
            <a:normAutofit fontScale="90000"/>
          </a:bodyPr>
          <a:lstStyle/>
          <a:p>
            <a:pPr algn="ctr"/>
            <a:r>
              <a:rPr lang="es-MX" b="1" dirty="0"/>
              <a:t>COMPOSICION DE LOS TRENES</a:t>
            </a:r>
            <a:br>
              <a:rPr lang="es-MX" dirty="0"/>
            </a:br>
            <a:endParaRPr lang="es-MX" dirty="0"/>
          </a:p>
        </p:txBody>
      </p:sp>
      <p:sp>
        <p:nvSpPr>
          <p:cNvPr id="3" name="Marcador de contenido 2">
            <a:extLst>
              <a:ext uri="{FF2B5EF4-FFF2-40B4-BE49-F238E27FC236}">
                <a16:creationId xmlns:a16="http://schemas.microsoft.com/office/drawing/2014/main" id="{33711A66-C576-4DED-A76A-E08413503035}"/>
              </a:ext>
            </a:extLst>
          </p:cNvPr>
          <p:cNvSpPr>
            <a:spLocks noGrp="1"/>
          </p:cNvSpPr>
          <p:nvPr>
            <p:ph idx="1"/>
          </p:nvPr>
        </p:nvSpPr>
        <p:spPr>
          <a:xfrm>
            <a:off x="838200" y="1825625"/>
            <a:ext cx="10515600" cy="4351338"/>
          </a:xfrm>
        </p:spPr>
        <p:txBody>
          <a:bodyPr>
            <a:normAutofit/>
          </a:bodyPr>
          <a:lstStyle/>
          <a:p>
            <a:pPr algn="just"/>
            <a:r>
              <a:rPr lang="es-MX" dirty="0"/>
              <a:t> </a:t>
            </a:r>
            <a:r>
              <a:rPr lang="es-MX" sz="2000" dirty="0"/>
              <a:t>Los trenes están formados por 9 carros o vagones los cuales tres carros forman un grupo que está constituido de dos vagones motrices entre las cuales hay un remolque. Estos vagones según su naturaleza son designados por los siguientes símbolos (M, N y R), seguidos de los números de serie. </a:t>
            </a:r>
          </a:p>
          <a:p>
            <a:pPr algn="just"/>
            <a:endParaRPr lang="es-MX" sz="2000" dirty="0"/>
          </a:p>
          <a:p>
            <a:pPr algn="just"/>
            <a:endParaRPr lang="es-MX" sz="2000" dirty="0"/>
          </a:p>
          <a:p>
            <a:pPr algn="just"/>
            <a:endParaRPr lang="es-MX" sz="2000" dirty="0"/>
          </a:p>
          <a:p>
            <a:pPr algn="just"/>
            <a:r>
              <a:rPr lang="es-ES" sz="2000" dirty="0"/>
              <a:t>M = Motriz con cabina de conducción.</a:t>
            </a:r>
            <a:endParaRPr lang="es-MX" sz="2000" dirty="0"/>
          </a:p>
          <a:p>
            <a:pPr algn="just"/>
            <a:r>
              <a:rPr lang="es-ES" sz="2000" dirty="0"/>
              <a:t> N = Motriz sin cabina de conducción.</a:t>
            </a:r>
            <a:endParaRPr lang="es-MX" sz="2000" dirty="0"/>
          </a:p>
          <a:p>
            <a:pPr algn="just"/>
            <a:r>
              <a:rPr lang="es-ES" sz="2000" dirty="0"/>
              <a:t> R = Remolque.</a:t>
            </a:r>
            <a:endParaRPr lang="es-MX" sz="2000" dirty="0"/>
          </a:p>
          <a:p>
            <a:endParaRPr lang="es-MX" dirty="0"/>
          </a:p>
        </p:txBody>
      </p:sp>
      <p:sp>
        <p:nvSpPr>
          <p:cNvPr id="13" name="Rectangle 11">
            <a:extLst>
              <a:ext uri="{FF2B5EF4-FFF2-40B4-BE49-F238E27FC236}">
                <a16:creationId xmlns:a16="http://schemas.microsoft.com/office/drawing/2014/main" id="{4DB27367-03A5-48B9-A782-37FD4C7E68CE}"/>
              </a:ext>
            </a:extLst>
          </p:cNvPr>
          <p:cNvSpPr>
            <a:spLocks noChangeArrowheads="1"/>
          </p:cNvSpPr>
          <p:nvPr/>
        </p:nvSpPr>
        <p:spPr bwMode="auto">
          <a:xfrm>
            <a:off x="3140764" y="3551582"/>
            <a:ext cx="16065399" cy="103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graphicFrame>
        <p:nvGraphicFramePr>
          <p:cNvPr id="14" name="Objeto 13">
            <a:extLst>
              <a:ext uri="{FF2B5EF4-FFF2-40B4-BE49-F238E27FC236}">
                <a16:creationId xmlns:a16="http://schemas.microsoft.com/office/drawing/2014/main" id="{FC8C690C-E3E1-41AC-8B3E-36F5BF1D6292}"/>
              </a:ext>
            </a:extLst>
          </p:cNvPr>
          <p:cNvGraphicFramePr>
            <a:graphicFrameLocks noChangeAspect="1"/>
          </p:cNvGraphicFramePr>
          <p:nvPr/>
        </p:nvGraphicFramePr>
        <p:xfrm>
          <a:off x="2601678" y="3441375"/>
          <a:ext cx="5913417" cy="894224"/>
        </p:xfrm>
        <a:graphic>
          <a:graphicData uri="http://schemas.openxmlformats.org/presentationml/2006/ole">
            <mc:AlternateContent xmlns:mc="http://schemas.openxmlformats.org/markup-compatibility/2006">
              <mc:Choice xmlns:v="urn:schemas-microsoft-com:vml" Requires="v">
                <p:oleObj spid="_x0000_s4102" r:id="rId3" imgW="2603500" imgH="393700" progId="Unknown">
                  <p:embed/>
                </p:oleObj>
              </mc:Choice>
              <mc:Fallback>
                <p:oleObj r:id="rId3" imgW="2603500" imgH="393700" progId="Unknown">
                  <p:embed/>
                  <p:pic>
                    <p:nvPicPr>
                      <p:cNvPr id="14" name="Objeto 13">
                        <a:extLst>
                          <a:ext uri="{FF2B5EF4-FFF2-40B4-BE49-F238E27FC236}">
                            <a16:creationId xmlns:a16="http://schemas.microsoft.com/office/drawing/2014/main" id="{FC8C690C-E3E1-41AC-8B3E-36F5BF1D62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1678" y="3441375"/>
                        <a:ext cx="5913417" cy="894224"/>
                      </a:xfrm>
                      <a:prstGeom prst="rect">
                        <a:avLst/>
                      </a:prstGeom>
                      <a:noFill/>
                    </p:spPr>
                  </p:pic>
                </p:oleObj>
              </mc:Fallback>
            </mc:AlternateContent>
          </a:graphicData>
        </a:graphic>
      </p:graphicFrame>
      <p:sp>
        <p:nvSpPr>
          <p:cNvPr id="15" name="Rectangle 12">
            <a:extLst>
              <a:ext uri="{FF2B5EF4-FFF2-40B4-BE49-F238E27FC236}">
                <a16:creationId xmlns:a16="http://schemas.microsoft.com/office/drawing/2014/main" id="{76341F5E-60BD-4587-8912-5892CE7E98F0}"/>
              </a:ext>
            </a:extLst>
          </p:cNvPr>
          <p:cNvSpPr>
            <a:spLocks noChangeArrowheads="1"/>
          </p:cNvSpPr>
          <p:nvPr/>
        </p:nvSpPr>
        <p:spPr bwMode="auto">
          <a:xfrm>
            <a:off x="3011110" y="3406140"/>
            <a:ext cx="1606539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Tree>
    <p:extLst>
      <p:ext uri="{BB962C8B-B14F-4D97-AF65-F5344CB8AC3E}">
        <p14:creationId xmlns:p14="http://schemas.microsoft.com/office/powerpoint/2010/main" val="2941138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1CC6C1-214B-4794-8240-0DDC28B15455}"/>
              </a:ext>
            </a:extLst>
          </p:cNvPr>
          <p:cNvSpPr>
            <a:spLocks noGrp="1"/>
          </p:cNvSpPr>
          <p:nvPr>
            <p:ph idx="1"/>
          </p:nvPr>
        </p:nvSpPr>
        <p:spPr>
          <a:xfrm>
            <a:off x="838199" y="1253330"/>
            <a:ext cx="10515600" cy="4351338"/>
          </a:xfrm>
        </p:spPr>
        <p:txBody>
          <a:bodyPr/>
          <a:lstStyle/>
          <a:p>
            <a:pPr algn="just"/>
            <a:r>
              <a:rPr lang="es-MX" sz="2000" dirty="0"/>
              <a:t>Según su capacidad de carga de pasajeros es de:</a:t>
            </a:r>
          </a:p>
          <a:p>
            <a:endParaRPr lang="es-MX" dirty="0"/>
          </a:p>
          <a:p>
            <a:endParaRPr lang="es-MX" dirty="0"/>
          </a:p>
          <a:p>
            <a:endParaRPr lang="es-MX" dirty="0"/>
          </a:p>
        </p:txBody>
      </p:sp>
      <p:graphicFrame>
        <p:nvGraphicFramePr>
          <p:cNvPr id="4" name="Tabla 3">
            <a:extLst>
              <a:ext uri="{FF2B5EF4-FFF2-40B4-BE49-F238E27FC236}">
                <a16:creationId xmlns:a16="http://schemas.microsoft.com/office/drawing/2014/main" id="{E65858CA-BDF2-471B-A5CB-5606F1780D1F}"/>
              </a:ext>
            </a:extLst>
          </p:cNvPr>
          <p:cNvGraphicFramePr>
            <a:graphicFrameLocks noGrp="1"/>
          </p:cNvGraphicFramePr>
          <p:nvPr>
            <p:extLst>
              <p:ext uri="{D42A27DB-BD31-4B8C-83A1-F6EECF244321}">
                <p14:modId xmlns:p14="http://schemas.microsoft.com/office/powerpoint/2010/main" val="1547713702"/>
              </p:ext>
            </p:extLst>
          </p:nvPr>
        </p:nvGraphicFramePr>
        <p:xfrm>
          <a:off x="3466388" y="1960179"/>
          <a:ext cx="5259223" cy="2937641"/>
        </p:xfrm>
        <a:graphic>
          <a:graphicData uri="http://schemas.openxmlformats.org/drawingml/2006/table">
            <a:tbl>
              <a:tblPr firstRow="1" firstCol="1" lastRow="1" lastCol="1" bandRow="1" bandCol="1">
                <a:tableStyleId>{5C22544A-7EE6-4342-B048-85BDC9FD1C3A}</a:tableStyleId>
              </a:tblPr>
              <a:tblGrid>
                <a:gridCol w="1051667">
                  <a:extLst>
                    <a:ext uri="{9D8B030D-6E8A-4147-A177-3AD203B41FA5}">
                      <a16:colId xmlns:a16="http://schemas.microsoft.com/office/drawing/2014/main" val="1582941299"/>
                    </a:ext>
                  </a:extLst>
                </a:gridCol>
                <a:gridCol w="1683200">
                  <a:extLst>
                    <a:ext uri="{9D8B030D-6E8A-4147-A177-3AD203B41FA5}">
                      <a16:colId xmlns:a16="http://schemas.microsoft.com/office/drawing/2014/main" val="1753670046"/>
                    </a:ext>
                  </a:extLst>
                </a:gridCol>
                <a:gridCol w="1262178">
                  <a:extLst>
                    <a:ext uri="{9D8B030D-6E8A-4147-A177-3AD203B41FA5}">
                      <a16:colId xmlns:a16="http://schemas.microsoft.com/office/drawing/2014/main" val="1072712452"/>
                    </a:ext>
                  </a:extLst>
                </a:gridCol>
                <a:gridCol w="1262178">
                  <a:extLst>
                    <a:ext uri="{9D8B030D-6E8A-4147-A177-3AD203B41FA5}">
                      <a16:colId xmlns:a16="http://schemas.microsoft.com/office/drawing/2014/main" val="395382152"/>
                    </a:ext>
                  </a:extLst>
                </a:gridCol>
              </a:tblGrid>
              <a:tr h="1171756">
                <a:tc>
                  <a:txBody>
                    <a:bodyPr/>
                    <a:lstStyle/>
                    <a:p>
                      <a:pPr indent="180340" algn="just">
                        <a:lnSpc>
                          <a:spcPct val="200000"/>
                        </a:lnSpc>
                        <a:spcAft>
                          <a:spcPts val="0"/>
                        </a:spcAft>
                      </a:pPr>
                      <a:r>
                        <a:rPr lang="es-ES" sz="1200">
                          <a:effectLst/>
                        </a:rPr>
                        <a:t>Clase</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ES" sz="1200">
                          <a:effectLst/>
                        </a:rPr>
                        <a:t>Sentados</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ES" sz="1200">
                          <a:effectLst/>
                        </a:rPr>
                        <a:t>De pie</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ES" sz="1200">
                          <a:effectLst/>
                        </a:rPr>
                        <a:t>Total</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93362836"/>
                  </a:ext>
                </a:extLst>
              </a:tr>
              <a:tr h="1765885">
                <a:tc>
                  <a:txBody>
                    <a:bodyPr/>
                    <a:lstStyle/>
                    <a:p>
                      <a:pPr indent="180340" algn="just">
                        <a:lnSpc>
                          <a:spcPct val="200000"/>
                        </a:lnSpc>
                        <a:spcAft>
                          <a:spcPts val="0"/>
                        </a:spcAft>
                      </a:pPr>
                      <a:r>
                        <a:rPr lang="es-MX" sz="1200">
                          <a:effectLst/>
                        </a:rPr>
                        <a:t>M</a:t>
                      </a:r>
                    </a:p>
                    <a:p>
                      <a:pPr indent="180340" algn="just">
                        <a:lnSpc>
                          <a:spcPct val="200000"/>
                        </a:lnSpc>
                        <a:spcAft>
                          <a:spcPts val="0"/>
                        </a:spcAft>
                      </a:pPr>
                      <a:r>
                        <a:rPr lang="es-MX" sz="1200">
                          <a:effectLst/>
                        </a:rPr>
                        <a:t>N</a:t>
                      </a:r>
                    </a:p>
                    <a:p>
                      <a:pPr indent="180340" algn="just">
                        <a:lnSpc>
                          <a:spcPct val="200000"/>
                        </a:lnSpc>
                        <a:spcAft>
                          <a:spcPts val="0"/>
                        </a:spcAft>
                      </a:pPr>
                      <a:r>
                        <a:rPr lang="es-MX" sz="1200">
                          <a:effectLst/>
                        </a:rPr>
                        <a:t>R</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38</a:t>
                      </a:r>
                    </a:p>
                    <a:p>
                      <a:pPr indent="180340" algn="just">
                        <a:lnSpc>
                          <a:spcPct val="200000"/>
                        </a:lnSpc>
                        <a:spcAft>
                          <a:spcPts val="0"/>
                        </a:spcAft>
                      </a:pPr>
                      <a:r>
                        <a:rPr lang="es-MX" sz="1200">
                          <a:effectLst/>
                        </a:rPr>
                        <a:t>39</a:t>
                      </a:r>
                    </a:p>
                    <a:p>
                      <a:pPr indent="180340" algn="just">
                        <a:lnSpc>
                          <a:spcPct val="200000"/>
                        </a:lnSpc>
                        <a:spcAft>
                          <a:spcPts val="0"/>
                        </a:spcAft>
                      </a:pPr>
                      <a:r>
                        <a:rPr lang="es-MX" sz="1200">
                          <a:effectLst/>
                        </a:rPr>
                        <a:t>39</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132</a:t>
                      </a:r>
                    </a:p>
                    <a:p>
                      <a:pPr indent="180340" algn="just">
                        <a:lnSpc>
                          <a:spcPct val="200000"/>
                        </a:lnSpc>
                        <a:spcAft>
                          <a:spcPts val="0"/>
                        </a:spcAft>
                      </a:pPr>
                      <a:r>
                        <a:rPr lang="es-MX" sz="1200">
                          <a:effectLst/>
                        </a:rPr>
                        <a:t>131</a:t>
                      </a:r>
                    </a:p>
                    <a:p>
                      <a:pPr indent="180340" algn="just">
                        <a:lnSpc>
                          <a:spcPct val="200000"/>
                        </a:lnSpc>
                        <a:spcAft>
                          <a:spcPts val="0"/>
                        </a:spcAft>
                      </a:pPr>
                      <a:r>
                        <a:rPr lang="es-MX" sz="1200">
                          <a:effectLst/>
                        </a:rPr>
                        <a:t>131</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170</a:t>
                      </a:r>
                    </a:p>
                    <a:p>
                      <a:pPr indent="180340" algn="just">
                        <a:lnSpc>
                          <a:spcPct val="200000"/>
                        </a:lnSpc>
                        <a:spcAft>
                          <a:spcPts val="0"/>
                        </a:spcAft>
                      </a:pPr>
                      <a:r>
                        <a:rPr lang="es-MX" sz="1200" dirty="0">
                          <a:effectLst/>
                        </a:rPr>
                        <a:t>170</a:t>
                      </a:r>
                    </a:p>
                    <a:p>
                      <a:pPr indent="180340" algn="just">
                        <a:lnSpc>
                          <a:spcPct val="200000"/>
                        </a:lnSpc>
                        <a:spcAft>
                          <a:spcPts val="0"/>
                        </a:spcAft>
                      </a:pPr>
                      <a:r>
                        <a:rPr lang="es-MX" sz="1200" dirty="0">
                          <a:effectLst/>
                        </a:rPr>
                        <a:t>170</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9252014"/>
                  </a:ext>
                </a:extLst>
              </a:tr>
            </a:tbl>
          </a:graphicData>
        </a:graphic>
      </p:graphicFrame>
    </p:spTree>
    <p:extLst>
      <p:ext uri="{BB962C8B-B14F-4D97-AF65-F5344CB8AC3E}">
        <p14:creationId xmlns:p14="http://schemas.microsoft.com/office/powerpoint/2010/main" val="1226447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2A893C-A696-4801-9D15-FC5517BA8C92}"/>
              </a:ext>
            </a:extLst>
          </p:cNvPr>
          <p:cNvSpPr>
            <a:spLocks noGrp="1"/>
          </p:cNvSpPr>
          <p:nvPr>
            <p:ph type="title"/>
          </p:nvPr>
        </p:nvSpPr>
        <p:spPr/>
        <p:txBody>
          <a:bodyPr>
            <a:normAutofit fontScale="90000"/>
          </a:bodyPr>
          <a:lstStyle/>
          <a:p>
            <a:pPr algn="ctr"/>
            <a:r>
              <a:rPr lang="es-MX" b="1" dirty="0"/>
              <a:t>DESCRIPCION DE LOS CARRROS.</a:t>
            </a:r>
            <a:br>
              <a:rPr lang="es-MX" dirty="0"/>
            </a:br>
            <a:endParaRPr lang="es-MX" dirty="0"/>
          </a:p>
        </p:txBody>
      </p:sp>
      <p:sp>
        <p:nvSpPr>
          <p:cNvPr id="3" name="Marcador de contenido 2">
            <a:extLst>
              <a:ext uri="{FF2B5EF4-FFF2-40B4-BE49-F238E27FC236}">
                <a16:creationId xmlns:a16="http://schemas.microsoft.com/office/drawing/2014/main" id="{A7D5620E-C9B6-4637-95CD-604C44C09463}"/>
              </a:ext>
            </a:extLst>
          </p:cNvPr>
          <p:cNvSpPr>
            <a:spLocks noGrp="1"/>
          </p:cNvSpPr>
          <p:nvPr>
            <p:ph idx="1"/>
          </p:nvPr>
        </p:nvSpPr>
        <p:spPr>
          <a:xfrm>
            <a:off x="1066800" y="1616765"/>
            <a:ext cx="10058400" cy="4850295"/>
          </a:xfrm>
        </p:spPr>
        <p:txBody>
          <a:bodyPr>
            <a:normAutofit/>
          </a:bodyPr>
          <a:lstStyle/>
          <a:p>
            <a:pPr algn="just"/>
            <a:r>
              <a:rPr lang="es-ES" sz="2000" dirty="0"/>
              <a:t>Carro motor con cabina de conducción mide de largo 17.03m;</a:t>
            </a:r>
            <a:endParaRPr lang="es-MX" sz="2000" dirty="0"/>
          </a:p>
          <a:p>
            <a:pPr algn="just"/>
            <a:r>
              <a:rPr lang="es-ES" sz="2000" dirty="0"/>
              <a:t>Carro motor sin cabina  de conducción mide de largo 16.20m;</a:t>
            </a:r>
            <a:endParaRPr lang="es-MX" sz="2000" dirty="0"/>
          </a:p>
          <a:p>
            <a:pPr algn="just"/>
            <a:r>
              <a:rPr lang="es-ES" sz="2000" dirty="0"/>
              <a:t>Carro remolque mide  de largo 16.20m;</a:t>
            </a:r>
            <a:endParaRPr lang="es-MX" sz="2000" dirty="0"/>
          </a:p>
          <a:p>
            <a:pPr algn="just"/>
            <a:r>
              <a:rPr lang="es-ES" sz="2000" dirty="0"/>
              <a:t>El ancho de todos los carros es de 2.50m;</a:t>
            </a:r>
            <a:endParaRPr lang="es-MX" sz="2000" dirty="0"/>
          </a:p>
          <a:p>
            <a:pPr algn="just"/>
            <a:r>
              <a:rPr lang="es-ES" sz="2000" dirty="0"/>
              <a:t>La altura de la pista de rodamiento  a la  parte superior de los carros es de 3.60 m.</a:t>
            </a:r>
            <a:endParaRPr lang="es-MX" sz="2000" dirty="0"/>
          </a:p>
          <a:p>
            <a:pPr algn="just"/>
            <a:r>
              <a:rPr lang="es-ES" sz="2000" dirty="0"/>
              <a:t>Cada carro tiene 4 puertas por cada lado, total 8 puertas;</a:t>
            </a:r>
            <a:endParaRPr lang="es-MX" sz="2000" dirty="0"/>
          </a:p>
          <a:p>
            <a:pPr algn="just"/>
            <a:r>
              <a:rPr lang="es-ES" sz="2000" dirty="0"/>
              <a:t>Cada convoy esta integrado por 9 carros de los cuales 6 son motrices y 3 son remolque;</a:t>
            </a:r>
            <a:endParaRPr lang="es-MX" sz="2000" dirty="0"/>
          </a:p>
          <a:p>
            <a:pPr algn="just"/>
            <a:r>
              <a:rPr lang="es-ES" sz="2000" dirty="0"/>
              <a:t>La altura del piso de los carros al techo del mismo es de 2,40 m;</a:t>
            </a:r>
            <a:endParaRPr lang="es-MX" sz="2000" dirty="0"/>
          </a:p>
          <a:p>
            <a:pPr algn="just"/>
            <a:r>
              <a:rPr lang="es-ES" sz="2000" dirty="0"/>
              <a:t>El largo total del tren de 9 carros es de  143mts.</a:t>
            </a:r>
            <a:endParaRPr lang="es-MX" sz="2000" dirty="0"/>
          </a:p>
          <a:p>
            <a:pPr algn="just"/>
            <a:r>
              <a:rPr lang="es-ES" sz="2000" dirty="0"/>
              <a:t>Cada tren de 9 carros (vació) pesa: 209,2 toneladas.</a:t>
            </a:r>
            <a:endParaRPr lang="es-MX" sz="2000" dirty="0"/>
          </a:p>
          <a:p>
            <a:endParaRPr lang="es-MX" dirty="0"/>
          </a:p>
        </p:txBody>
      </p:sp>
    </p:spTree>
    <p:extLst>
      <p:ext uri="{BB962C8B-B14F-4D97-AF65-F5344CB8AC3E}">
        <p14:creationId xmlns:p14="http://schemas.microsoft.com/office/powerpoint/2010/main" val="3873034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6E1F66A-2C92-4D59-A720-EB8787EF36FE}"/>
              </a:ext>
            </a:extLst>
          </p:cNvPr>
          <p:cNvSpPr>
            <a:spLocks noGrp="1"/>
          </p:cNvSpPr>
          <p:nvPr>
            <p:ph idx="1"/>
          </p:nvPr>
        </p:nvSpPr>
        <p:spPr>
          <a:xfrm>
            <a:off x="838200" y="1360073"/>
            <a:ext cx="10515600" cy="4137853"/>
          </a:xfrm>
        </p:spPr>
        <p:txBody>
          <a:bodyPr>
            <a:normAutofit/>
          </a:bodyPr>
          <a:lstStyle/>
          <a:p>
            <a:pPr algn="just"/>
            <a:r>
              <a:rPr lang="es-ES" sz="2000" dirty="0"/>
              <a:t>Cada carro motriz con cabina pesa: 25,4 toneladas.</a:t>
            </a:r>
            <a:endParaRPr lang="es-MX" sz="2000" dirty="0"/>
          </a:p>
          <a:p>
            <a:pPr algn="just"/>
            <a:r>
              <a:rPr lang="es-ES" sz="2000" dirty="0"/>
              <a:t>Cada carro motriz sin cabina pesa: 24,6 toneladas.</a:t>
            </a:r>
            <a:endParaRPr lang="es-MX" sz="2000" dirty="0"/>
          </a:p>
          <a:p>
            <a:pPr algn="just"/>
            <a:r>
              <a:rPr lang="es-ES" sz="2000" dirty="0"/>
              <a:t>Cada carro remolque pesa: 20.0 toneladas.</a:t>
            </a:r>
            <a:endParaRPr lang="es-MX" sz="2000" dirty="0"/>
          </a:p>
          <a:p>
            <a:pPr algn="just"/>
            <a:r>
              <a:rPr lang="es-ES" sz="2000" dirty="0"/>
              <a:t>Los carros tienen capacidad para 170 pasajeros, de los cuales 138 van de pie y 32 sentados.</a:t>
            </a:r>
            <a:endParaRPr lang="es-MX" sz="2000" dirty="0"/>
          </a:p>
          <a:p>
            <a:pPr algn="just"/>
            <a:r>
              <a:rPr lang="es-ES" sz="2000" dirty="0"/>
              <a:t>Número aproximado de pasajero por tren de 9 carros: 1,500.</a:t>
            </a:r>
            <a:endParaRPr lang="es-MX" sz="2000" dirty="0"/>
          </a:p>
          <a:p>
            <a:pPr algn="just"/>
            <a:r>
              <a:rPr lang="es-ES" sz="2000" dirty="0"/>
              <a:t>Velocidad máxima: 80Km/h. </a:t>
            </a:r>
            <a:endParaRPr lang="es-MX" sz="2000" dirty="0"/>
          </a:p>
          <a:p>
            <a:pPr algn="just"/>
            <a:r>
              <a:rPr lang="es-ES" sz="2000" dirty="0"/>
              <a:t>Velocidad promedio comercial a la que van los trenes, es de 35Km/h.</a:t>
            </a:r>
            <a:endParaRPr lang="es-MX" sz="2000" dirty="0"/>
          </a:p>
          <a:p>
            <a:pPr algn="just"/>
            <a:r>
              <a:rPr lang="es-ES" sz="2000" dirty="0"/>
              <a:t>Cada carro tiene 2 ejes delanteros y dos ejes traseros. Total: 4 ejes por carro.</a:t>
            </a:r>
            <a:endParaRPr lang="es-MX" sz="2000" dirty="0"/>
          </a:p>
          <a:p>
            <a:pPr algn="just"/>
            <a:r>
              <a:rPr lang="es-ES" sz="2000" dirty="0"/>
              <a:t>Ruedas por eje: 2</a:t>
            </a:r>
            <a:endParaRPr lang="es-MX" sz="2000" dirty="0"/>
          </a:p>
        </p:txBody>
      </p:sp>
    </p:spTree>
    <p:extLst>
      <p:ext uri="{BB962C8B-B14F-4D97-AF65-F5344CB8AC3E}">
        <p14:creationId xmlns:p14="http://schemas.microsoft.com/office/powerpoint/2010/main" val="25821628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9443B98-B99F-49C0-A2D5-9F0E59B144E7}"/>
              </a:ext>
            </a:extLst>
          </p:cNvPr>
          <p:cNvSpPr>
            <a:spLocks noGrp="1"/>
          </p:cNvSpPr>
          <p:nvPr>
            <p:ph idx="1"/>
          </p:nvPr>
        </p:nvSpPr>
        <p:spPr>
          <a:xfrm>
            <a:off x="838200" y="1335156"/>
            <a:ext cx="10515600" cy="4187687"/>
          </a:xfrm>
        </p:spPr>
        <p:txBody>
          <a:bodyPr>
            <a:normAutofit/>
          </a:bodyPr>
          <a:lstStyle/>
          <a:p>
            <a:pPr algn="just"/>
            <a:r>
              <a:rPr lang="es-ES" sz="2000" dirty="0"/>
              <a:t>En los carros motores cada eje tiene un motor de 150HP lo que nos da un total de 600HP de potencia por carro-motor. En un convoy de nueve carros se tiene 24 motores de tracción con una potencia total de: 3600HP;</a:t>
            </a:r>
            <a:endParaRPr lang="es-MX" sz="2000" dirty="0"/>
          </a:p>
          <a:p>
            <a:pPr algn="just"/>
            <a:r>
              <a:rPr lang="es-ES" sz="2000" dirty="0"/>
              <a:t>    Los carros tienen además iluminación interior a base de lámparas fluorescentes corridas que dan un alto nivel de iluminación. Además de contar con lámparas fluorescentes mas pequeñas, que solo prenderán cuando falle el alumbrado normal. Estas lámparas son alimentadas por medio de baterías de emergencia que pueden trabajar durante 6 horas y son recargables en las mismas horas. </a:t>
            </a:r>
            <a:endParaRPr lang="es-MX" sz="2000" dirty="0"/>
          </a:p>
          <a:p>
            <a:pPr algn="just"/>
            <a:r>
              <a:rPr lang="es-ES" sz="2000" dirty="0"/>
              <a:t>Las puertas corredizas de los carros cuentan con un dispositivo de mando electroneumático que es accionado a distancia por el conductor el aire para el cierre de las puertas se obtiene de los compresores, aparte manda aire al freno neumático, las presiones en las tuberías serán máximo de 8.5 bar.</a:t>
            </a:r>
            <a:endParaRPr lang="es-MX" sz="2000" dirty="0"/>
          </a:p>
        </p:txBody>
      </p:sp>
    </p:spTree>
    <p:extLst>
      <p:ext uri="{BB962C8B-B14F-4D97-AF65-F5344CB8AC3E}">
        <p14:creationId xmlns:p14="http://schemas.microsoft.com/office/powerpoint/2010/main" val="13677632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96EFA2E-83E8-467C-9059-2CFDD08AEB18}"/>
              </a:ext>
            </a:extLst>
          </p:cNvPr>
          <p:cNvSpPr>
            <a:spLocks noGrp="1"/>
          </p:cNvSpPr>
          <p:nvPr>
            <p:ph idx="1"/>
          </p:nvPr>
        </p:nvSpPr>
        <p:spPr>
          <a:xfrm>
            <a:off x="838200" y="2153978"/>
            <a:ext cx="10515600" cy="2550043"/>
          </a:xfrm>
        </p:spPr>
        <p:txBody>
          <a:bodyPr/>
          <a:lstStyle/>
          <a:p>
            <a:pPr lvl="0" algn="just"/>
            <a:r>
              <a:rPr lang="es-MX" sz="2000" b="1" dirty="0"/>
              <a:t>MOTRIZ M.</a:t>
            </a:r>
            <a:r>
              <a:rPr lang="es-MX" sz="2000" dirty="0"/>
              <a:t> Es el vagón que se encuentra al inicio y al final la cual tiene una cabina de conducción. la caja reposa sobres dos carretillas o </a:t>
            </a:r>
            <a:r>
              <a:rPr lang="es-MX" sz="2000" dirty="0" err="1"/>
              <a:t>Boggie</a:t>
            </a:r>
            <a:r>
              <a:rPr lang="es-MX" sz="2000" dirty="0"/>
              <a:t> equipadas cada una con dos motores de tracción.  </a:t>
            </a:r>
          </a:p>
          <a:p>
            <a:pPr algn="just"/>
            <a:r>
              <a:rPr lang="es-MX" sz="2000" dirty="0"/>
              <a:t> </a:t>
            </a:r>
          </a:p>
          <a:p>
            <a:pPr lvl="0" algn="just"/>
            <a:r>
              <a:rPr lang="es-MX" sz="2000" b="1" dirty="0"/>
              <a:t>MOTRIZ N.</a:t>
            </a:r>
            <a:r>
              <a:rPr lang="es-MX" sz="2000" dirty="0"/>
              <a:t> Es el vagón que no tiene cabina de conducción. motoras idénticas a aquellas de las motrices “M”. Bajo los vagones motrices N están instalados los equipos que aseguran el funcionamiento de los motores de tracción.</a:t>
            </a:r>
          </a:p>
        </p:txBody>
      </p:sp>
    </p:spTree>
    <p:extLst>
      <p:ext uri="{BB962C8B-B14F-4D97-AF65-F5344CB8AC3E}">
        <p14:creationId xmlns:p14="http://schemas.microsoft.com/office/powerpoint/2010/main" val="34949864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368C531-C4D8-4B3C-AC05-B11843819127}"/>
              </a:ext>
            </a:extLst>
          </p:cNvPr>
          <p:cNvSpPr>
            <a:spLocks noGrp="1"/>
          </p:cNvSpPr>
          <p:nvPr>
            <p:ph idx="1"/>
          </p:nvPr>
        </p:nvSpPr>
        <p:spPr>
          <a:xfrm>
            <a:off x="838200" y="768440"/>
            <a:ext cx="10515600" cy="4351338"/>
          </a:xfrm>
        </p:spPr>
        <p:txBody>
          <a:bodyPr/>
          <a:lstStyle/>
          <a:p>
            <a:pPr algn="just"/>
            <a:r>
              <a:rPr lang="es-MX" sz="2000" dirty="0"/>
              <a:t>Los motores empleados para la tracción tanto en la motriz </a:t>
            </a:r>
            <a:r>
              <a:rPr lang="es-MX" sz="2000" b="1" dirty="0"/>
              <a:t>M</a:t>
            </a:r>
            <a:r>
              <a:rPr lang="es-MX" sz="2000" dirty="0"/>
              <a:t> y la motriz </a:t>
            </a:r>
            <a:r>
              <a:rPr lang="es-MX" sz="2000" b="1" dirty="0"/>
              <a:t>N</a:t>
            </a:r>
            <a:r>
              <a:rPr lang="es-MX" sz="2000" dirty="0"/>
              <a:t> son motores de CC, de excitación serie tipo GLM-0331 para el tren MP-68 (Las siglas MP significan material sobre neumáticos y el 68 es el año en que se diseñó este modelo.) el GLM-0332 para el tren NM-73 (Las siglas significan nuevo material y el 73 es el año de diseño) cuyos datos de placa son:</a:t>
            </a:r>
          </a:p>
          <a:p>
            <a:endParaRPr lang="es-MX" dirty="0"/>
          </a:p>
        </p:txBody>
      </p:sp>
      <p:graphicFrame>
        <p:nvGraphicFramePr>
          <p:cNvPr id="4" name="Tabla 3">
            <a:extLst>
              <a:ext uri="{FF2B5EF4-FFF2-40B4-BE49-F238E27FC236}">
                <a16:creationId xmlns:a16="http://schemas.microsoft.com/office/drawing/2014/main" id="{9BA47E02-775D-4C9B-A7AA-689B12D2C24D}"/>
              </a:ext>
            </a:extLst>
          </p:cNvPr>
          <p:cNvGraphicFramePr>
            <a:graphicFrameLocks noGrp="1"/>
          </p:cNvGraphicFramePr>
          <p:nvPr>
            <p:extLst>
              <p:ext uri="{D42A27DB-BD31-4B8C-83A1-F6EECF244321}">
                <p14:modId xmlns:p14="http://schemas.microsoft.com/office/powerpoint/2010/main" val="3153586354"/>
              </p:ext>
            </p:extLst>
          </p:nvPr>
        </p:nvGraphicFramePr>
        <p:xfrm>
          <a:off x="1932953" y="2944109"/>
          <a:ext cx="8562770" cy="3391203"/>
        </p:xfrm>
        <a:graphic>
          <a:graphicData uri="http://schemas.openxmlformats.org/drawingml/2006/table">
            <a:tbl>
              <a:tblPr firstRow="1" firstCol="1" lastRow="1" lastCol="1" bandRow="1" bandCol="1">
                <a:tableStyleId>{5C22544A-7EE6-4342-B048-85BDC9FD1C3A}</a:tableStyleId>
              </a:tblPr>
              <a:tblGrid>
                <a:gridCol w="2301456">
                  <a:extLst>
                    <a:ext uri="{9D8B030D-6E8A-4147-A177-3AD203B41FA5}">
                      <a16:colId xmlns:a16="http://schemas.microsoft.com/office/drawing/2014/main" val="3573952255"/>
                    </a:ext>
                  </a:extLst>
                </a:gridCol>
                <a:gridCol w="1861472">
                  <a:extLst>
                    <a:ext uri="{9D8B030D-6E8A-4147-A177-3AD203B41FA5}">
                      <a16:colId xmlns:a16="http://schemas.microsoft.com/office/drawing/2014/main" val="3436696263"/>
                    </a:ext>
                  </a:extLst>
                </a:gridCol>
                <a:gridCol w="2876820">
                  <a:extLst>
                    <a:ext uri="{9D8B030D-6E8A-4147-A177-3AD203B41FA5}">
                      <a16:colId xmlns:a16="http://schemas.microsoft.com/office/drawing/2014/main" val="3209459098"/>
                    </a:ext>
                  </a:extLst>
                </a:gridCol>
                <a:gridCol w="1523022">
                  <a:extLst>
                    <a:ext uri="{9D8B030D-6E8A-4147-A177-3AD203B41FA5}">
                      <a16:colId xmlns:a16="http://schemas.microsoft.com/office/drawing/2014/main" val="2141475564"/>
                    </a:ext>
                  </a:extLst>
                </a:gridCol>
              </a:tblGrid>
              <a:tr h="679899">
                <a:tc>
                  <a:txBody>
                    <a:bodyPr/>
                    <a:lstStyle/>
                    <a:p>
                      <a:pPr indent="180340" algn="just">
                        <a:lnSpc>
                          <a:spcPct val="200000"/>
                        </a:lnSpc>
                        <a:spcAft>
                          <a:spcPts val="0"/>
                        </a:spcAft>
                      </a:pPr>
                      <a:r>
                        <a:rPr lang="es-MX" sz="1200">
                          <a:effectLst/>
                        </a:rPr>
                        <a:t>POTENCIA</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114 KW-140 HP</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TENSION</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720 V</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2256378"/>
                  </a:ext>
                </a:extLst>
              </a:tr>
              <a:tr h="677826">
                <a:tc>
                  <a:txBody>
                    <a:bodyPr/>
                    <a:lstStyle/>
                    <a:p>
                      <a:pPr indent="180340" algn="just">
                        <a:lnSpc>
                          <a:spcPct val="200000"/>
                        </a:lnSpc>
                        <a:spcAft>
                          <a:spcPts val="0"/>
                        </a:spcAft>
                      </a:pPr>
                      <a:r>
                        <a:rPr lang="es-MX" sz="1200">
                          <a:effectLst/>
                        </a:rPr>
                        <a:t>CORRIENTE</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360 A</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RPM</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3120</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11611696"/>
                  </a:ext>
                </a:extLst>
              </a:tr>
              <a:tr h="677826">
                <a:tc>
                  <a:txBody>
                    <a:bodyPr/>
                    <a:lstStyle/>
                    <a:p>
                      <a:pPr indent="180340" algn="just">
                        <a:lnSpc>
                          <a:spcPct val="200000"/>
                        </a:lnSpc>
                        <a:spcAft>
                          <a:spcPts val="0"/>
                        </a:spcAft>
                      </a:pPr>
                      <a:r>
                        <a:rPr lang="es-MX" sz="1200">
                          <a:effectLst/>
                        </a:rPr>
                        <a:t>TIPO DE SERVICIO</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Continuo</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CLASE DE AISLAMIENTO</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F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43660156"/>
                  </a:ext>
                </a:extLst>
              </a:tr>
              <a:tr h="677826">
                <a:tc>
                  <a:txBody>
                    <a:bodyPr/>
                    <a:lstStyle/>
                    <a:p>
                      <a:pPr indent="180340" algn="just">
                        <a:lnSpc>
                          <a:spcPct val="200000"/>
                        </a:lnSpc>
                        <a:spcAft>
                          <a:spcPts val="0"/>
                        </a:spcAft>
                      </a:pPr>
                      <a:r>
                        <a:rPr lang="es-MX" sz="1200">
                          <a:effectLst/>
                        </a:rPr>
                        <a:t>EXITACION</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Serie</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MARCA</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Alsthom</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3520651"/>
                  </a:ext>
                </a:extLst>
              </a:tr>
              <a:tr h="677826">
                <a:tc>
                  <a:txBody>
                    <a:bodyPr/>
                    <a:lstStyle/>
                    <a:p>
                      <a:pPr indent="180340" algn="just">
                        <a:lnSpc>
                          <a:spcPct val="200000"/>
                        </a:lnSpc>
                        <a:spcAft>
                          <a:spcPts val="0"/>
                        </a:spcAft>
                      </a:pPr>
                      <a:r>
                        <a:rPr lang="es-MX" sz="1200" dirty="0">
                          <a:effectLst/>
                        </a:rPr>
                        <a:t>TEMP. DE OPERA.</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250º max</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a:effectLst/>
                        </a:rPr>
                        <a:t>PESO </a:t>
                      </a:r>
                      <a:endParaRPr lang="es-MX"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180340" algn="just">
                        <a:lnSpc>
                          <a:spcPct val="200000"/>
                        </a:lnSpc>
                        <a:spcAft>
                          <a:spcPts val="0"/>
                        </a:spcAft>
                      </a:pPr>
                      <a:r>
                        <a:rPr lang="es-MX" sz="1200" dirty="0">
                          <a:effectLst/>
                        </a:rPr>
                        <a:t>620 Kg</a:t>
                      </a:r>
                      <a:endParaRPr lang="es-MX"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65132589"/>
                  </a:ext>
                </a:extLst>
              </a:tr>
            </a:tbl>
          </a:graphicData>
        </a:graphic>
      </p:graphicFrame>
    </p:spTree>
    <p:extLst>
      <p:ext uri="{BB962C8B-B14F-4D97-AF65-F5344CB8AC3E}">
        <p14:creationId xmlns:p14="http://schemas.microsoft.com/office/powerpoint/2010/main" val="692449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D17B116-6823-4971-A8E9-83A577C9A4EE}"/>
              </a:ext>
            </a:extLst>
          </p:cNvPr>
          <p:cNvSpPr/>
          <p:nvPr/>
        </p:nvSpPr>
        <p:spPr>
          <a:xfrm>
            <a:off x="646814" y="199141"/>
            <a:ext cx="10898371" cy="6459717"/>
          </a:xfrm>
          <a:prstGeom prst="rect">
            <a:avLst/>
          </a:prstGeom>
        </p:spPr>
        <p:txBody>
          <a:bodyPr wrap="square">
            <a:spAutoFit/>
          </a:bodyPr>
          <a:lstStyle/>
          <a:p>
            <a:pPr indent="180340" algn="ctr">
              <a:lnSpc>
                <a:spcPct val="150000"/>
              </a:lnSpc>
              <a:spcAft>
                <a:spcPts val="0"/>
              </a:spcAft>
            </a:pPr>
            <a:r>
              <a:rPr lang="es-MX" sz="2000" b="1" dirty="0">
                <a:latin typeface="Times New Roman" panose="02020603050405020304" pitchFamily="18" charset="0"/>
                <a:cs typeface="Times New Roman" panose="02020603050405020304" pitchFamily="18" charset="0"/>
              </a:rPr>
              <a:t>La vía</a:t>
            </a:r>
          </a:p>
          <a:p>
            <a:pPr indent="180340" algn="ctr">
              <a:lnSpc>
                <a:spcPct val="150000"/>
              </a:lnSpc>
              <a:spcAft>
                <a:spcPts val="0"/>
              </a:spcAft>
            </a:pPr>
            <a:r>
              <a:rPr lang="es-MX" sz="2000" b="1" dirty="0">
                <a:latin typeface="Times New Roman" panose="02020603050405020304" pitchFamily="18" charset="0"/>
                <a:cs typeface="Times New Roman" panose="02020603050405020304" pitchFamily="18" charset="0"/>
              </a:rPr>
              <a:t> </a:t>
            </a:r>
          </a:p>
          <a:p>
            <a:pPr indent="180340" algn="just">
              <a:lnSpc>
                <a:spcPct val="150000"/>
              </a:lnSpc>
              <a:spcAft>
                <a:spcPts val="0"/>
              </a:spcAft>
            </a:pPr>
            <a:r>
              <a:rPr lang="es-MX" sz="2000" dirty="0">
                <a:latin typeface="Times New Roman" panose="02020603050405020304" pitchFamily="18" charset="0"/>
                <a:cs typeface="Times New Roman" panose="02020603050405020304" pitchFamily="18" charset="0"/>
              </a:rPr>
              <a:t>La vía por la que corre el metro, básicamente utiliza tres pares:</a:t>
            </a:r>
            <a:endParaRPr lang="es-ES" sz="2000" dirty="0">
              <a:latin typeface="Times New Roman" panose="02020603050405020304" pitchFamily="18" charset="0"/>
              <a:cs typeface="Times New Roman" panose="02020603050405020304" pitchFamily="18" charset="0"/>
            </a:endParaRPr>
          </a:p>
          <a:p>
            <a:pPr indent="180340" algn="just">
              <a:lnSpc>
                <a:spcPct val="150000"/>
              </a:lnSpc>
              <a:spcAft>
                <a:spcPts val="0"/>
              </a:spcAft>
            </a:pPr>
            <a:r>
              <a:rPr lang="es-MX" sz="2000" b="1" dirty="0">
                <a:latin typeface="Times New Roman" panose="02020603050405020304" pitchFamily="18" charset="0"/>
                <a:cs typeface="Times New Roman" panose="02020603050405020304" pitchFamily="18" charset="0"/>
              </a:rPr>
              <a:t>1.- Dos llamadas barras de seguridad</a:t>
            </a:r>
            <a:r>
              <a:rPr lang="es-MX" sz="2000" dirty="0">
                <a:latin typeface="Times New Roman" panose="02020603050405020304" pitchFamily="18" charset="0"/>
                <a:cs typeface="Times New Roman" panose="02020603050405020304" pitchFamily="18" charset="0"/>
              </a:rPr>
              <a:t>, que son </a:t>
            </a:r>
            <a:r>
              <a:rPr lang="es-ES" sz="2000" dirty="0">
                <a:latin typeface="Times New Roman" panose="02020603050405020304" pitchFamily="18" charset="0"/>
                <a:cs typeface="Times New Roman" panose="02020603050405020304" pitchFamily="18" charset="0"/>
              </a:rPr>
              <a:t>d</a:t>
            </a:r>
            <a:r>
              <a:rPr lang="es-MX" sz="2000" dirty="0">
                <a:latin typeface="Times New Roman" panose="02020603050405020304" pitchFamily="18" charset="0"/>
                <a:cs typeface="Times New Roman" panose="02020603050405020304" pitchFamily="18" charset="0"/>
              </a:rPr>
              <a:t>os rieles de acero que forman una vía de seguridad, sobre la que se apoyan las ruedas metálicas adicionales, mismas que forman parte de la carretilla.  </a:t>
            </a:r>
            <a:endParaRPr lang="es-ES" sz="2000" dirty="0">
              <a:latin typeface="Times New Roman" panose="02020603050405020304" pitchFamily="18" charset="0"/>
              <a:cs typeface="Times New Roman" panose="02020603050405020304" pitchFamily="18" charset="0"/>
            </a:endParaRPr>
          </a:p>
          <a:p>
            <a:pPr indent="180340" algn="just">
              <a:lnSpc>
                <a:spcPct val="150000"/>
              </a:lnSpc>
              <a:spcAft>
                <a:spcPts val="0"/>
              </a:spcAft>
            </a:pPr>
            <a:r>
              <a:rPr lang="es-MX" sz="2000" b="1" dirty="0">
                <a:latin typeface="Times New Roman" panose="02020603050405020304" pitchFamily="18" charset="0"/>
                <a:cs typeface="Times New Roman" panose="02020603050405020304" pitchFamily="18" charset="0"/>
              </a:rPr>
              <a:t>2.- Dos llamadas barras de rodamiento</a:t>
            </a:r>
            <a:r>
              <a:rPr lang="es-MX" sz="2000" dirty="0">
                <a:latin typeface="Times New Roman" panose="02020603050405020304" pitchFamily="18" charset="0"/>
                <a:cs typeface="Times New Roman" panose="02020603050405020304" pitchFamily="18" charset="0"/>
              </a:rPr>
              <a:t>, que son dos rieles de 140 mm peralte, de acero con patines de 230 mm de acero estructural ASTM A-36, sobre los que se apoyan las llantas neumáticas de carga.</a:t>
            </a:r>
          </a:p>
          <a:p>
            <a:pPr indent="180340" algn="just">
              <a:lnSpc>
                <a:spcPct val="150000"/>
              </a:lnSpc>
              <a:spcAft>
                <a:spcPts val="0"/>
              </a:spcAft>
            </a:pPr>
            <a:r>
              <a:rPr lang="es-MX" sz="2000" b="1" dirty="0">
                <a:latin typeface="Times New Roman" panose="02020603050405020304" pitchFamily="18" charset="0"/>
                <a:cs typeface="Times New Roman" panose="02020603050405020304" pitchFamily="18" charset="0"/>
              </a:rPr>
              <a:t>3.-Dos llamadas barras guías o tercer riel</a:t>
            </a:r>
            <a:r>
              <a:rPr lang="es-MX" sz="2000" dirty="0">
                <a:latin typeface="Times New Roman" panose="02020603050405020304" pitchFamily="18" charset="0"/>
                <a:cs typeface="Times New Roman" panose="02020603050405020304" pitchFamily="18" charset="0"/>
              </a:rPr>
              <a:t>, e</a:t>
            </a:r>
            <a:r>
              <a:rPr lang="es-ES" sz="2000" dirty="0">
                <a:latin typeface="Times New Roman" panose="02020603050405020304" pitchFamily="18" charset="0"/>
                <a:cs typeface="Times New Roman" panose="02020603050405020304" pitchFamily="18" charset="0"/>
              </a:rPr>
              <a:t>l tercer riel puede ser un riel de perfil normal, o</a:t>
            </a:r>
            <a:r>
              <a:rPr lang="es-MX" sz="2000" dirty="0">
                <a:latin typeface="Times New Roman" panose="02020603050405020304" pitchFamily="18" charset="0"/>
                <a:cs typeface="Times New Roman" panose="02020603050405020304" pitchFamily="18" charset="0"/>
              </a:rPr>
              <a:t>"L" invertida, ubicados a los dos lados de la pista, en donde se apoyan las llantas neumáticas horizontales de menor diámetro que las de carga, formando parte de la carretilla y que guían a los trenes en su recorrido normal. </a:t>
            </a:r>
            <a:endParaRPr lang="es-ES" sz="2000" dirty="0">
              <a:latin typeface="Times New Roman" panose="02020603050405020304" pitchFamily="18" charset="0"/>
              <a:cs typeface="Times New Roman" panose="02020603050405020304" pitchFamily="18" charset="0"/>
            </a:endParaRPr>
          </a:p>
          <a:p>
            <a:pPr algn="just">
              <a:lnSpc>
                <a:spcPct val="150000"/>
              </a:lnSpc>
            </a:pPr>
            <a:r>
              <a:rPr lang="es-ES" sz="2000" dirty="0">
                <a:latin typeface="Times New Roman" panose="02020603050405020304" pitchFamily="18" charset="0"/>
                <a:cs typeface="Times New Roman" panose="02020603050405020304" pitchFamily="18" charset="0"/>
              </a:rPr>
              <a:t>El tercer riel presenta peligro para las personas y animales, se lo recubre con aislantes (maderas) para impedir al menos el contacto casual. El sistema de tercer riel solo se utiliza con corriente continua.</a:t>
            </a:r>
          </a:p>
          <a:p>
            <a:pPr indent="180340" algn="just">
              <a:lnSpc>
                <a:spcPct val="150000"/>
              </a:lnSpc>
              <a:spcAft>
                <a:spcPts val="0"/>
              </a:spcAft>
            </a:pPr>
            <a:endParaRPr lang="es-E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6009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D9FE1FF-037C-4C0F-A9B7-2AE43994F6E9}"/>
              </a:ext>
            </a:extLst>
          </p:cNvPr>
          <p:cNvPicPr>
            <a:picLocks noChangeAspect="1"/>
          </p:cNvPicPr>
          <p:nvPr/>
        </p:nvPicPr>
        <p:blipFill rotWithShape="1">
          <a:blip r:embed="rId2"/>
          <a:srcRect l="33052" t="31473" r="33110" b="29303"/>
          <a:stretch/>
        </p:blipFill>
        <p:spPr>
          <a:xfrm>
            <a:off x="1593112" y="492837"/>
            <a:ext cx="9005776" cy="5872326"/>
          </a:xfrm>
          <a:prstGeom prst="rect">
            <a:avLst/>
          </a:prstGeom>
        </p:spPr>
      </p:pic>
    </p:spTree>
    <p:extLst>
      <p:ext uri="{BB962C8B-B14F-4D97-AF65-F5344CB8AC3E}">
        <p14:creationId xmlns:p14="http://schemas.microsoft.com/office/powerpoint/2010/main" val="2837723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015CE-D96C-458E-B1B0-C1DC856EE7F1}"/>
              </a:ext>
            </a:extLst>
          </p:cNvPr>
          <p:cNvSpPr>
            <a:spLocks noGrp="1"/>
          </p:cNvSpPr>
          <p:nvPr>
            <p:ph type="title"/>
          </p:nvPr>
        </p:nvSpPr>
        <p:spPr>
          <a:xfrm>
            <a:off x="838200" y="365125"/>
            <a:ext cx="10515600" cy="1460500"/>
          </a:xfrm>
        </p:spPr>
        <p:txBody>
          <a:bodyPr/>
          <a:lstStyle/>
          <a:p>
            <a:pPr algn="ctr"/>
            <a:r>
              <a:rPr lang="es-MX" b="1" dirty="0"/>
              <a:t>TIPO DE ACOPLAMIENTOS.</a:t>
            </a:r>
            <a:endParaRPr lang="es-ES" dirty="0"/>
          </a:p>
        </p:txBody>
      </p:sp>
      <p:sp>
        <p:nvSpPr>
          <p:cNvPr id="4" name="Rectángulo 3">
            <a:extLst>
              <a:ext uri="{FF2B5EF4-FFF2-40B4-BE49-F238E27FC236}">
                <a16:creationId xmlns:a16="http://schemas.microsoft.com/office/drawing/2014/main" id="{A3B90540-71E3-4577-A92A-97035917C48F}"/>
              </a:ext>
            </a:extLst>
          </p:cNvPr>
          <p:cNvSpPr/>
          <p:nvPr/>
        </p:nvSpPr>
        <p:spPr>
          <a:xfrm>
            <a:off x="2052084" y="2441681"/>
            <a:ext cx="4043916" cy="3076291"/>
          </a:xfrm>
          <a:prstGeom prst="rect">
            <a:avLst/>
          </a:prstGeom>
        </p:spPr>
        <p:txBody>
          <a:bodyPr wrap="square">
            <a:spAutoFit/>
          </a:bodyPr>
          <a:lstStyle/>
          <a:p>
            <a:pPr indent="180340" algn="just">
              <a:lnSpc>
                <a:spcPct val="200000"/>
              </a:lnSpc>
              <a:spcAft>
                <a:spcPts val="0"/>
              </a:spcAft>
              <a:tabLst>
                <a:tab pos="622300" algn="l"/>
              </a:tabLst>
            </a:pPr>
            <a:r>
              <a:rPr lang="es-MX" sz="2000" dirty="0">
                <a:latin typeface="Times New Roman" panose="02020603050405020304" pitchFamily="18" charset="0"/>
                <a:ea typeface="Times New Roman" panose="02020603050405020304" pitchFamily="18" charset="0"/>
              </a:rPr>
              <a:t>El metro cuneta con Acoplamiento entre carros en condiciones normales de operación, los carros que forman un tren están unidos eléctrica, neumática y mecánicamente.</a:t>
            </a:r>
            <a:endParaRPr lang="es-ES" sz="2000" dirty="0">
              <a:latin typeface="Times New Roman" panose="02020603050405020304" pitchFamily="18" charset="0"/>
              <a:ea typeface="Times New Roman" panose="02020603050405020304" pitchFamily="18" charset="0"/>
            </a:endParaRPr>
          </a:p>
        </p:txBody>
      </p:sp>
      <p:pic>
        <p:nvPicPr>
          <p:cNvPr id="2050" name="Picture 2" descr="Resultado de imagen para acoplamiento de vagones del metro">
            <a:extLst>
              <a:ext uri="{FF2B5EF4-FFF2-40B4-BE49-F238E27FC236}">
                <a16:creationId xmlns:a16="http://schemas.microsoft.com/office/drawing/2014/main" id="{FDE0CC64-F5C8-46DE-9018-D2CBAEAE10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706" y="1688039"/>
            <a:ext cx="3225210" cy="4573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967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0A9F88B-9E00-437D-89DF-545685FB8052}"/>
              </a:ext>
            </a:extLst>
          </p:cNvPr>
          <p:cNvSpPr/>
          <p:nvPr/>
        </p:nvSpPr>
        <p:spPr>
          <a:xfrm>
            <a:off x="1139455" y="378036"/>
            <a:ext cx="9913089" cy="5851025"/>
          </a:xfrm>
          <a:prstGeom prst="rect">
            <a:avLst/>
          </a:prstGeom>
        </p:spPr>
        <p:txBody>
          <a:bodyPr wrap="square">
            <a:spAutoFit/>
          </a:bodyPr>
          <a:lstStyle/>
          <a:p>
            <a:pPr indent="180340" algn="just">
              <a:lnSpc>
                <a:spcPct val="200000"/>
              </a:lnSpc>
              <a:spcAft>
                <a:spcPts val="0"/>
              </a:spcAft>
              <a:tabLst>
                <a:tab pos="622300" algn="l"/>
              </a:tabLst>
            </a:pPr>
            <a:r>
              <a:rPr lang="es-MX" sz="1900" b="1" dirty="0">
                <a:latin typeface="Times New Roman" panose="02020603050405020304" pitchFamily="18" charset="0"/>
                <a:ea typeface="Times New Roman" panose="02020603050405020304" pitchFamily="18" charset="0"/>
              </a:rPr>
              <a:t>ACOPLAMIENTO ELÉCTRICO</a:t>
            </a:r>
            <a:endParaRPr lang="es-ES" sz="1900" dirty="0">
              <a:latin typeface="Times New Roman" panose="02020603050405020304" pitchFamily="18" charset="0"/>
              <a:ea typeface="Times New Roman" panose="02020603050405020304" pitchFamily="18" charset="0"/>
            </a:endParaRPr>
          </a:p>
          <a:p>
            <a:pPr indent="180340" algn="just">
              <a:lnSpc>
                <a:spcPct val="200000"/>
              </a:lnSpc>
              <a:spcAft>
                <a:spcPts val="0"/>
              </a:spcAft>
              <a:tabLst>
                <a:tab pos="622300" algn="l"/>
              </a:tabLst>
            </a:pPr>
            <a:r>
              <a:rPr lang="es-MX" sz="1900" dirty="0">
                <a:latin typeface="Times New Roman" panose="02020603050405020304" pitchFamily="18" charset="0"/>
                <a:ea typeface="Times New Roman" panose="02020603050405020304" pitchFamily="18" charset="0"/>
              </a:rPr>
              <a:t>La continuidad de los circuitos de baja tensión, de corriente alterna y continua, esta asegurada a todo lo largo del tren por seis líneas constituidas por cables multi conductores, unidos entre carros por bases de acoplamiento.</a:t>
            </a:r>
            <a:endParaRPr lang="es-ES" sz="1900" dirty="0">
              <a:latin typeface="Times New Roman" panose="02020603050405020304" pitchFamily="18" charset="0"/>
              <a:ea typeface="Times New Roman" panose="02020603050405020304" pitchFamily="18" charset="0"/>
            </a:endParaRPr>
          </a:p>
          <a:p>
            <a:pPr indent="180340" algn="just">
              <a:lnSpc>
                <a:spcPct val="200000"/>
              </a:lnSpc>
              <a:spcAft>
                <a:spcPts val="0"/>
              </a:spcAft>
              <a:tabLst>
                <a:tab pos="622300" algn="l"/>
              </a:tabLst>
            </a:pPr>
            <a:r>
              <a:rPr lang="es-MX" sz="1900" dirty="0">
                <a:latin typeface="Times New Roman" panose="02020603050405020304" pitchFamily="18" charset="0"/>
                <a:ea typeface="Times New Roman" panose="02020603050405020304" pitchFamily="18" charset="0"/>
              </a:rPr>
              <a:t>Estos cables multi conductores son conocidos como </a:t>
            </a:r>
            <a:r>
              <a:rPr lang="es-MX" sz="1900" dirty="0" err="1">
                <a:latin typeface="Times New Roman" panose="02020603050405020304" pitchFamily="18" charset="0"/>
                <a:ea typeface="Times New Roman" panose="02020603050405020304" pitchFamily="18" charset="0"/>
              </a:rPr>
              <a:t>aclopadores</a:t>
            </a:r>
            <a:r>
              <a:rPr lang="es-MX" sz="1900" dirty="0">
                <a:latin typeface="Times New Roman" panose="02020603050405020304" pitchFamily="18" charset="0"/>
                <a:ea typeface="Times New Roman" panose="02020603050405020304" pitchFamily="18" charset="0"/>
              </a:rPr>
              <a:t> y dependiendo de la función que cumplen sus hilos en los circuitos del tren, se identifican con siglas relacionadas con el nombre de la función. </a:t>
            </a:r>
            <a:endParaRPr lang="es-ES" sz="1900" dirty="0">
              <a:latin typeface="Times New Roman" panose="02020603050405020304" pitchFamily="18" charset="0"/>
              <a:ea typeface="Times New Roman" panose="02020603050405020304" pitchFamily="18" charset="0"/>
            </a:endParaRPr>
          </a:p>
          <a:p>
            <a:pPr indent="180340" algn="just">
              <a:lnSpc>
                <a:spcPct val="200000"/>
              </a:lnSpc>
              <a:spcAft>
                <a:spcPts val="0"/>
              </a:spcAft>
              <a:tabLst>
                <a:tab pos="622300" algn="l"/>
              </a:tabLst>
            </a:pPr>
            <a:r>
              <a:rPr lang="es-MX" sz="1900" dirty="0">
                <a:latin typeface="Times New Roman" panose="02020603050405020304" pitchFamily="18" charset="0"/>
                <a:ea typeface="Times New Roman" panose="02020603050405020304" pitchFamily="18" charset="0"/>
              </a:rPr>
              <a:t>Los acopladores están formados por 19 hilos (conductores) con sección transversal de 2.5 mm2. Cuando estos hilos tienen continuidad desde una cabina hasta la otra se les denomina hilos de tren. Aquellos que solo tiene continuidad entre carros del mismo elemento, se le llama hilos de grupo.</a:t>
            </a:r>
            <a:endParaRPr lang="es-ES" sz="19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726050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434B1D9-2978-446F-AC3D-36929C3EDF90}"/>
              </a:ext>
            </a:extLst>
          </p:cNvPr>
          <p:cNvSpPr>
            <a:spLocks noChangeArrowheads="1"/>
          </p:cNvSpPr>
          <p:nvPr/>
        </p:nvSpPr>
        <p:spPr bwMode="auto">
          <a:xfrm>
            <a:off x="971688" y="1227122"/>
            <a:ext cx="4263528" cy="4151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22300" algn="l"/>
              </a:tabLst>
              <a:defRPr>
                <a:solidFill>
                  <a:schemeClr val="tx1"/>
                </a:solidFill>
                <a:latin typeface="Arial" panose="020B0604020202020204" pitchFamily="34" charset="0"/>
              </a:defRPr>
            </a:lvl1pPr>
            <a:lvl2pPr eaLnBrk="0" fontAlgn="base" hangingPunct="0">
              <a:spcBef>
                <a:spcPct val="0"/>
              </a:spcBef>
              <a:spcAft>
                <a:spcPct val="0"/>
              </a:spcAft>
              <a:tabLst>
                <a:tab pos="622300" algn="l"/>
              </a:tabLst>
              <a:defRPr>
                <a:solidFill>
                  <a:schemeClr val="tx1"/>
                </a:solidFill>
                <a:latin typeface="Arial" panose="020B0604020202020204" pitchFamily="34" charset="0"/>
              </a:defRPr>
            </a:lvl2pPr>
            <a:lvl3pPr eaLnBrk="0" fontAlgn="base" hangingPunct="0">
              <a:spcBef>
                <a:spcPct val="0"/>
              </a:spcBef>
              <a:spcAft>
                <a:spcPct val="0"/>
              </a:spcAft>
              <a:tabLst>
                <a:tab pos="622300" algn="l"/>
              </a:tabLst>
              <a:defRPr>
                <a:solidFill>
                  <a:schemeClr val="tx1"/>
                </a:solidFill>
                <a:latin typeface="Arial" panose="020B0604020202020204" pitchFamily="34" charset="0"/>
              </a:defRPr>
            </a:lvl3pPr>
            <a:lvl4pPr eaLnBrk="0" fontAlgn="base" hangingPunct="0">
              <a:spcBef>
                <a:spcPct val="0"/>
              </a:spcBef>
              <a:spcAft>
                <a:spcPct val="0"/>
              </a:spcAft>
              <a:tabLst>
                <a:tab pos="622300" algn="l"/>
              </a:tabLst>
              <a:defRPr>
                <a:solidFill>
                  <a:schemeClr val="tx1"/>
                </a:solidFill>
                <a:latin typeface="Arial" panose="020B0604020202020204" pitchFamily="34" charset="0"/>
              </a:defRPr>
            </a:lvl4pPr>
            <a:lvl5pPr eaLnBrk="0" fontAlgn="base" hangingPunct="0">
              <a:spcBef>
                <a:spcPct val="0"/>
              </a:spcBef>
              <a:spcAft>
                <a:spcPct val="0"/>
              </a:spcAft>
              <a:tabLst>
                <a:tab pos="622300" algn="l"/>
              </a:tabLst>
              <a:defRPr>
                <a:solidFill>
                  <a:schemeClr val="tx1"/>
                </a:solidFill>
                <a:latin typeface="Arial" panose="020B0604020202020204" pitchFamily="34" charset="0"/>
              </a:defRPr>
            </a:lvl5pPr>
            <a:lvl6pPr eaLnBrk="0" fontAlgn="base" hangingPunct="0">
              <a:spcBef>
                <a:spcPct val="0"/>
              </a:spcBef>
              <a:spcAft>
                <a:spcPct val="0"/>
              </a:spcAft>
              <a:tabLst>
                <a:tab pos="622300" algn="l"/>
              </a:tabLst>
              <a:defRPr>
                <a:solidFill>
                  <a:schemeClr val="tx1"/>
                </a:solidFill>
                <a:latin typeface="Arial" panose="020B0604020202020204" pitchFamily="34" charset="0"/>
              </a:defRPr>
            </a:lvl6pPr>
            <a:lvl7pPr eaLnBrk="0" fontAlgn="base" hangingPunct="0">
              <a:spcBef>
                <a:spcPct val="0"/>
              </a:spcBef>
              <a:spcAft>
                <a:spcPct val="0"/>
              </a:spcAft>
              <a:tabLst>
                <a:tab pos="622300" algn="l"/>
              </a:tabLst>
              <a:defRPr>
                <a:solidFill>
                  <a:schemeClr val="tx1"/>
                </a:solidFill>
                <a:latin typeface="Arial" panose="020B0604020202020204" pitchFamily="34" charset="0"/>
              </a:defRPr>
            </a:lvl7pPr>
            <a:lvl8pPr eaLnBrk="0" fontAlgn="base" hangingPunct="0">
              <a:spcBef>
                <a:spcPct val="0"/>
              </a:spcBef>
              <a:spcAft>
                <a:spcPct val="0"/>
              </a:spcAft>
              <a:tabLst>
                <a:tab pos="622300" algn="l"/>
              </a:tabLst>
              <a:defRPr>
                <a:solidFill>
                  <a:schemeClr val="tx1"/>
                </a:solidFill>
                <a:latin typeface="Arial" panose="020B0604020202020204" pitchFamily="34" charset="0"/>
              </a:defRPr>
            </a:lvl8pPr>
            <a:lvl9pPr eaLnBrk="0" fontAlgn="base" hangingPunct="0">
              <a:spcBef>
                <a:spcPct val="0"/>
              </a:spcBef>
              <a:spcAft>
                <a:spcPct val="0"/>
              </a:spcAft>
              <a:tabLst>
                <a:tab pos="6223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ACOPLAMIENTO MECÁNICO</a:t>
            </a: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endParaRPr kumimoji="0" lang="es-ES" altLang="es-E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sz="20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s-MX" altLang="es-ES" sz="20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La unión mecánica entre los carros para formar el tren se efectúa por un dispositivo de enganche llamado SCHARFENBERG, el cual se ubica en la parte trasera y delantera de los carros sobre su eje central.</a:t>
            </a:r>
            <a:endParaRPr kumimoji="0" lang="es-ES" altLang="es-E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180975" algn="l" defTabSz="914400" rtl="0" eaLnBrk="0" fontAlgn="base" latinLnBrk="0" hangingPunct="0">
              <a:lnSpc>
                <a:spcPct val="150000"/>
              </a:lnSpc>
              <a:spcBef>
                <a:spcPct val="0"/>
              </a:spcBef>
              <a:spcAft>
                <a:spcPct val="0"/>
              </a:spcAft>
              <a:buClrTx/>
              <a:buSzTx/>
              <a:buFontTx/>
              <a:buNone/>
              <a:tabLst>
                <a:tab pos="622300" algn="l"/>
              </a:tabLst>
            </a:pPr>
            <a:endParaRPr kumimoji="0" lang="es-ES" altLang="es-E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073" name="Picture 1" descr="Imagen076">
            <a:extLst>
              <a:ext uri="{FF2B5EF4-FFF2-40B4-BE49-F238E27FC236}">
                <a16:creationId xmlns:a16="http://schemas.microsoft.com/office/drawing/2014/main" id="{932951BF-26D5-457E-BF33-DDFF099B4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0077" y="1757190"/>
            <a:ext cx="5298571" cy="309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0917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39AD0B-83B6-44C2-8539-EADCD61A5B26}"/>
              </a:ext>
            </a:extLst>
          </p:cNvPr>
          <p:cNvSpPr/>
          <p:nvPr/>
        </p:nvSpPr>
        <p:spPr>
          <a:xfrm>
            <a:off x="253409" y="408814"/>
            <a:ext cx="11685181" cy="6291209"/>
          </a:xfrm>
          <a:prstGeom prst="rect">
            <a:avLst/>
          </a:prstGeom>
        </p:spPr>
        <p:txBody>
          <a:bodyPr wrap="square">
            <a:spAutoFit/>
          </a:bodyPr>
          <a:lstStyle/>
          <a:p>
            <a:pPr indent="180340" algn="just">
              <a:lnSpc>
                <a:spcPct val="200000"/>
              </a:lnSpc>
              <a:spcAft>
                <a:spcPts val="0"/>
              </a:spcAft>
            </a:pPr>
            <a:r>
              <a:rPr lang="es-MX" sz="1700" b="1" dirty="0">
                <a:latin typeface="Times New Roman" panose="02020603050405020304" pitchFamily="18" charset="0"/>
                <a:ea typeface="Times New Roman" panose="02020603050405020304" pitchFamily="18" charset="0"/>
              </a:rPr>
              <a:t>ACOPLAMIENTO NEUMÁTICO</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La continuidad del circuito neumático se logra igualmente a través del enganche SCHARFENBERG, por la válvula instalada en al parte superior de la cara de los mismos y unidos a los dispositivos de la tubería de equilibrio por mangueras flexibles.</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b="1" dirty="0">
                <a:latin typeface="Times New Roman" panose="02020603050405020304" pitchFamily="18" charset="0"/>
                <a:ea typeface="Times New Roman" panose="02020603050405020304" pitchFamily="18" charset="0"/>
              </a:rPr>
              <a:t>ACOPLAMIENTOS ESPECIALES</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Cuando dos trenes se acoplan, para socorro, es necesario asegurar entre ellos la continuidad de algunos circuitos como: Mando de frenos, timbre; esta continuidad se asegura por dos acopladores especiales.</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 Acoplador SD Socorro Descompuesto. 12 conductores de 2.5 mm2.</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 Acoplador PCS Toma de Continuidad del Timbre. 2 conductores de 2.5 mm2.</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Un enchufe SD y otro PCS, se encuentran a cada lado del eje del carro motor M en su parte delantera, estando conectados entre si cada juego de SD y PCS, con el fin de utilizar el mas accesible.</a:t>
            </a:r>
            <a:endParaRPr lang="es-ES" sz="1700" dirty="0">
              <a:latin typeface="Times New Roman" panose="02020603050405020304" pitchFamily="18" charset="0"/>
              <a:ea typeface="Times New Roman" panose="02020603050405020304" pitchFamily="18" charset="0"/>
            </a:endParaRPr>
          </a:p>
          <a:p>
            <a:pPr indent="180340" algn="just">
              <a:lnSpc>
                <a:spcPct val="200000"/>
              </a:lnSpc>
              <a:spcAft>
                <a:spcPts val="0"/>
              </a:spcAft>
            </a:pPr>
            <a:r>
              <a:rPr lang="es-MX" sz="1700" dirty="0">
                <a:latin typeface="Times New Roman" panose="02020603050405020304" pitchFamily="18" charset="0"/>
                <a:ea typeface="Times New Roman" panose="02020603050405020304" pitchFamily="18" charset="0"/>
              </a:rPr>
              <a:t> Dentro de las cabinas de conducción, se encuentran unas bases, para la colocación de los acopladores SD y PCS, únicamente para su disponibilidad de uso.</a:t>
            </a:r>
            <a:endParaRPr lang="es-ES" sz="17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14627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11EF958-903A-4434-AFBF-F65CD5154CEE}"/>
              </a:ext>
            </a:extLst>
          </p:cNvPr>
          <p:cNvSpPr>
            <a:spLocks noChangeArrowheads="1"/>
          </p:cNvSpPr>
          <p:nvPr/>
        </p:nvSpPr>
        <p:spPr bwMode="auto">
          <a:xfrm>
            <a:off x="775584" y="353608"/>
            <a:ext cx="10640832" cy="183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60400" algn="l"/>
              </a:tabLst>
              <a:defRPr>
                <a:solidFill>
                  <a:schemeClr val="tx1"/>
                </a:solidFill>
                <a:latin typeface="Arial" panose="020B0604020202020204" pitchFamily="34" charset="0"/>
              </a:defRPr>
            </a:lvl1pPr>
            <a:lvl2pPr eaLnBrk="0" fontAlgn="base" hangingPunct="0">
              <a:spcBef>
                <a:spcPct val="0"/>
              </a:spcBef>
              <a:spcAft>
                <a:spcPct val="0"/>
              </a:spcAft>
              <a:tabLst>
                <a:tab pos="660400" algn="l"/>
              </a:tabLst>
              <a:defRPr>
                <a:solidFill>
                  <a:schemeClr val="tx1"/>
                </a:solidFill>
                <a:latin typeface="Arial" panose="020B0604020202020204" pitchFamily="34" charset="0"/>
              </a:defRPr>
            </a:lvl2pPr>
            <a:lvl3pPr eaLnBrk="0" fontAlgn="base" hangingPunct="0">
              <a:spcBef>
                <a:spcPct val="0"/>
              </a:spcBef>
              <a:spcAft>
                <a:spcPct val="0"/>
              </a:spcAft>
              <a:tabLst>
                <a:tab pos="660400" algn="l"/>
              </a:tabLst>
              <a:defRPr>
                <a:solidFill>
                  <a:schemeClr val="tx1"/>
                </a:solidFill>
                <a:latin typeface="Arial" panose="020B0604020202020204" pitchFamily="34" charset="0"/>
              </a:defRPr>
            </a:lvl3pPr>
            <a:lvl4pPr eaLnBrk="0" fontAlgn="base" hangingPunct="0">
              <a:spcBef>
                <a:spcPct val="0"/>
              </a:spcBef>
              <a:spcAft>
                <a:spcPct val="0"/>
              </a:spcAft>
              <a:tabLst>
                <a:tab pos="660400" algn="l"/>
              </a:tabLst>
              <a:defRPr>
                <a:solidFill>
                  <a:schemeClr val="tx1"/>
                </a:solidFill>
                <a:latin typeface="Arial" panose="020B0604020202020204" pitchFamily="34" charset="0"/>
              </a:defRPr>
            </a:lvl4pPr>
            <a:lvl5pPr eaLnBrk="0" fontAlgn="base" hangingPunct="0">
              <a:spcBef>
                <a:spcPct val="0"/>
              </a:spcBef>
              <a:spcAft>
                <a:spcPct val="0"/>
              </a:spcAft>
              <a:tabLst>
                <a:tab pos="660400" algn="l"/>
              </a:tabLst>
              <a:defRPr>
                <a:solidFill>
                  <a:schemeClr val="tx1"/>
                </a:solidFill>
                <a:latin typeface="Arial" panose="020B0604020202020204" pitchFamily="34" charset="0"/>
              </a:defRPr>
            </a:lvl5pPr>
            <a:lvl6pPr eaLnBrk="0" fontAlgn="base" hangingPunct="0">
              <a:spcBef>
                <a:spcPct val="0"/>
              </a:spcBef>
              <a:spcAft>
                <a:spcPct val="0"/>
              </a:spcAft>
              <a:tabLst>
                <a:tab pos="660400" algn="l"/>
              </a:tabLst>
              <a:defRPr>
                <a:solidFill>
                  <a:schemeClr val="tx1"/>
                </a:solidFill>
                <a:latin typeface="Arial" panose="020B0604020202020204" pitchFamily="34" charset="0"/>
              </a:defRPr>
            </a:lvl6pPr>
            <a:lvl7pPr eaLnBrk="0" fontAlgn="base" hangingPunct="0">
              <a:spcBef>
                <a:spcPct val="0"/>
              </a:spcBef>
              <a:spcAft>
                <a:spcPct val="0"/>
              </a:spcAft>
              <a:tabLst>
                <a:tab pos="660400" algn="l"/>
              </a:tabLst>
              <a:defRPr>
                <a:solidFill>
                  <a:schemeClr val="tx1"/>
                </a:solidFill>
                <a:latin typeface="Arial" panose="020B0604020202020204" pitchFamily="34" charset="0"/>
              </a:defRPr>
            </a:lvl7pPr>
            <a:lvl8pPr eaLnBrk="0" fontAlgn="base" hangingPunct="0">
              <a:spcBef>
                <a:spcPct val="0"/>
              </a:spcBef>
              <a:spcAft>
                <a:spcPct val="0"/>
              </a:spcAft>
              <a:tabLst>
                <a:tab pos="660400" algn="l"/>
              </a:tabLst>
              <a:defRPr>
                <a:solidFill>
                  <a:schemeClr val="tx1"/>
                </a:solidFill>
                <a:latin typeface="Arial" panose="020B0604020202020204" pitchFamily="34" charset="0"/>
              </a:defRPr>
            </a:lvl8pPr>
            <a:lvl9pPr eaLnBrk="0" fontAlgn="base" hangingPunct="0">
              <a:spcBef>
                <a:spcPct val="0"/>
              </a:spcBef>
              <a:spcAft>
                <a:spcPct val="0"/>
              </a:spcAft>
              <a:tabLst>
                <a:tab pos="6604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00000"/>
              </a:lnSpc>
              <a:spcBef>
                <a:spcPct val="0"/>
              </a:spcBef>
              <a:spcAft>
                <a:spcPct val="0"/>
              </a:spcAft>
              <a:buClrTx/>
              <a:buSzTx/>
              <a:buFontTx/>
              <a:buNone/>
              <a:tabLst>
                <a:tab pos="660400" algn="l"/>
              </a:tabLst>
            </a:pPr>
            <a:r>
              <a:rPr kumimoji="0" lang="es-MX" altLang="es-ES" sz="1900" b="1" i="0" u="sng"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CARRETILLAS Y SUS PARTES (BOGIE).</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00000"/>
              </a:lnSpc>
              <a:spcBef>
                <a:spcPct val="0"/>
              </a:spcBef>
              <a:spcAft>
                <a:spcPct val="0"/>
              </a:spcAft>
              <a:buClrTx/>
              <a:buSzTx/>
              <a:buFontTx/>
              <a:buNone/>
              <a:tabLst>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00000"/>
              </a:lnSpc>
              <a:spcBef>
                <a:spcPct val="0"/>
              </a:spcBef>
              <a:spcAft>
                <a:spcPct val="0"/>
              </a:spcAft>
              <a:buClrTx/>
              <a:buSzTx/>
              <a:buFontTx/>
              <a:buNone/>
              <a:tabLst>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DEFINICION: Es el punto de unión entre ejes y carrocería que trasmiten los esfuerzos de tracción y frenado,  de los dispositivos de tracción hacia la carrocería y de la carrocería a los elementos de arrastre.</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660400" algn="l"/>
              </a:tabLst>
            </a:pPr>
            <a:endParaRPr kumimoji="0" lang="es-ES" altLang="es-E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097" name="Picture 1" descr="Imagen008">
            <a:extLst>
              <a:ext uri="{FF2B5EF4-FFF2-40B4-BE49-F238E27FC236}">
                <a16:creationId xmlns:a16="http://schemas.microsoft.com/office/drawing/2014/main" id="{1B1CF588-5C85-45B4-9702-41B5BAE0F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030832"/>
            <a:ext cx="5501764" cy="249385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4ABE25F9-36DC-4D63-9398-37B3E793E8BE}"/>
              </a:ext>
            </a:extLst>
          </p:cNvPr>
          <p:cNvSpPr>
            <a:spLocks noChangeArrowheads="1"/>
          </p:cNvSpPr>
          <p:nvPr/>
        </p:nvSpPr>
        <p:spPr bwMode="auto">
          <a:xfrm>
            <a:off x="480824" y="2184879"/>
            <a:ext cx="5250125"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 pos="6604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00000"/>
              </a:lnSpc>
              <a:spcBef>
                <a:spcPct val="0"/>
              </a:spcBef>
              <a:spcAft>
                <a:spcPct val="0"/>
              </a:spcAft>
              <a:buClrTx/>
              <a:buSzTx/>
              <a:buFontTx/>
              <a:buNone/>
              <a:tabLst>
                <a:tab pos="457200" algn="l"/>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Una carretilla  tiene dos ejes en cuyos extremos están fijas a dos llantas portadoras que están unidas a las ruedas de seguridad de acero.</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Las ruedas de guía son las horizontales que corren por el tercer riel o barra </a:t>
            </a:r>
            <a:r>
              <a:rPr kumimoji="0" lang="es-MX" altLang="es-ES" sz="19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gia</a:t>
            </a: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y están fijadas a los brazos de las extremidades del chasis de  la caretilla y estas proporcionan la orientación a la carretilla sobre los ejes de la vía. Ósea que existen tres tipos de rodamientos en la carretilla o </a:t>
            </a:r>
            <a:r>
              <a:rPr kumimoji="0" lang="es-MX" altLang="es-ES" sz="19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bogie</a:t>
            </a: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Rueda portadora.</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Rueda de seguridad.</a:t>
            </a:r>
            <a:endParaRPr kumimoji="0" lang="es-ES" altLang="es-ES" sz="1900" b="0" i="0" u="none" strike="noStrike" cap="none" normalizeH="0" baseline="0" dirty="0">
              <a:ln>
                <a:noFill/>
              </a:ln>
              <a:solidFill>
                <a:schemeClr val="tx1"/>
              </a:solidFill>
              <a:effectLst/>
              <a:latin typeface="+mn-l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 pos="660400" algn="l"/>
              </a:tabLst>
            </a:pPr>
            <a:r>
              <a:rPr kumimoji="0" lang="es-MX" altLang="es-ES" sz="19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Rueda guía</a:t>
            </a:r>
            <a:endParaRPr kumimoji="0" lang="es-MX" altLang="es-ES" sz="1900" b="0" i="0" u="none" strike="noStrike" cap="none" normalizeH="0" baseline="0" dirty="0">
              <a:ln>
                <a:noFill/>
              </a:ln>
              <a:solidFill>
                <a:schemeClr val="tx1"/>
              </a:solidFill>
              <a:effectLst/>
              <a:latin typeface="+mn-lt"/>
              <a:cs typeface="Times New Roman" panose="02020603050405020304" pitchFamily="18" charset="0"/>
            </a:endParaRPr>
          </a:p>
        </p:txBody>
      </p:sp>
    </p:spTree>
    <p:extLst>
      <p:ext uri="{BB962C8B-B14F-4D97-AF65-F5344CB8AC3E}">
        <p14:creationId xmlns:p14="http://schemas.microsoft.com/office/powerpoint/2010/main" val="5084100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81B549E-E73F-4895-9B30-5FCD24101067}"/>
              </a:ext>
            </a:extLst>
          </p:cNvPr>
          <p:cNvSpPr>
            <a:spLocks noChangeArrowheads="1"/>
          </p:cNvSpPr>
          <p:nvPr/>
        </p:nvSpPr>
        <p:spPr bwMode="auto">
          <a:xfrm>
            <a:off x="754912" y="149062"/>
            <a:ext cx="5341088" cy="671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60400" algn="l"/>
              </a:tabLst>
              <a:defRPr>
                <a:solidFill>
                  <a:schemeClr val="tx1"/>
                </a:solidFill>
                <a:latin typeface="Arial" panose="020B0604020202020204" pitchFamily="34" charset="0"/>
              </a:defRPr>
            </a:lvl1pPr>
            <a:lvl2pPr eaLnBrk="0" fontAlgn="base" hangingPunct="0">
              <a:spcBef>
                <a:spcPct val="0"/>
              </a:spcBef>
              <a:spcAft>
                <a:spcPct val="0"/>
              </a:spcAft>
              <a:tabLst>
                <a:tab pos="660400" algn="l"/>
              </a:tabLst>
              <a:defRPr>
                <a:solidFill>
                  <a:schemeClr val="tx1"/>
                </a:solidFill>
                <a:latin typeface="Arial" panose="020B0604020202020204" pitchFamily="34" charset="0"/>
              </a:defRPr>
            </a:lvl2pPr>
            <a:lvl3pPr eaLnBrk="0" fontAlgn="base" hangingPunct="0">
              <a:spcBef>
                <a:spcPct val="0"/>
              </a:spcBef>
              <a:spcAft>
                <a:spcPct val="0"/>
              </a:spcAft>
              <a:tabLst>
                <a:tab pos="660400" algn="l"/>
              </a:tabLst>
              <a:defRPr>
                <a:solidFill>
                  <a:schemeClr val="tx1"/>
                </a:solidFill>
                <a:latin typeface="Arial" panose="020B0604020202020204" pitchFamily="34" charset="0"/>
              </a:defRPr>
            </a:lvl3pPr>
            <a:lvl4pPr eaLnBrk="0" fontAlgn="base" hangingPunct="0">
              <a:spcBef>
                <a:spcPct val="0"/>
              </a:spcBef>
              <a:spcAft>
                <a:spcPct val="0"/>
              </a:spcAft>
              <a:tabLst>
                <a:tab pos="660400" algn="l"/>
              </a:tabLst>
              <a:defRPr>
                <a:solidFill>
                  <a:schemeClr val="tx1"/>
                </a:solidFill>
                <a:latin typeface="Arial" panose="020B0604020202020204" pitchFamily="34" charset="0"/>
              </a:defRPr>
            </a:lvl4pPr>
            <a:lvl5pPr eaLnBrk="0" fontAlgn="base" hangingPunct="0">
              <a:spcBef>
                <a:spcPct val="0"/>
              </a:spcBef>
              <a:spcAft>
                <a:spcPct val="0"/>
              </a:spcAft>
              <a:tabLst>
                <a:tab pos="660400" algn="l"/>
              </a:tabLst>
              <a:defRPr>
                <a:solidFill>
                  <a:schemeClr val="tx1"/>
                </a:solidFill>
                <a:latin typeface="Arial" panose="020B0604020202020204" pitchFamily="34" charset="0"/>
              </a:defRPr>
            </a:lvl5pPr>
            <a:lvl6pPr eaLnBrk="0" fontAlgn="base" hangingPunct="0">
              <a:spcBef>
                <a:spcPct val="0"/>
              </a:spcBef>
              <a:spcAft>
                <a:spcPct val="0"/>
              </a:spcAft>
              <a:tabLst>
                <a:tab pos="660400" algn="l"/>
              </a:tabLst>
              <a:defRPr>
                <a:solidFill>
                  <a:schemeClr val="tx1"/>
                </a:solidFill>
                <a:latin typeface="Arial" panose="020B0604020202020204" pitchFamily="34" charset="0"/>
              </a:defRPr>
            </a:lvl6pPr>
            <a:lvl7pPr eaLnBrk="0" fontAlgn="base" hangingPunct="0">
              <a:spcBef>
                <a:spcPct val="0"/>
              </a:spcBef>
              <a:spcAft>
                <a:spcPct val="0"/>
              </a:spcAft>
              <a:tabLst>
                <a:tab pos="660400" algn="l"/>
              </a:tabLst>
              <a:defRPr>
                <a:solidFill>
                  <a:schemeClr val="tx1"/>
                </a:solidFill>
                <a:latin typeface="Arial" panose="020B0604020202020204" pitchFamily="34" charset="0"/>
              </a:defRPr>
            </a:lvl7pPr>
            <a:lvl8pPr eaLnBrk="0" fontAlgn="base" hangingPunct="0">
              <a:spcBef>
                <a:spcPct val="0"/>
              </a:spcBef>
              <a:spcAft>
                <a:spcPct val="0"/>
              </a:spcAft>
              <a:tabLst>
                <a:tab pos="660400" algn="l"/>
              </a:tabLst>
              <a:defRPr>
                <a:solidFill>
                  <a:schemeClr val="tx1"/>
                </a:solidFill>
                <a:latin typeface="Arial" panose="020B0604020202020204" pitchFamily="34" charset="0"/>
              </a:defRPr>
            </a:lvl8pPr>
            <a:lvl9pPr eaLnBrk="0" fontAlgn="base" hangingPunct="0">
              <a:spcBef>
                <a:spcPct val="0"/>
              </a:spcBef>
              <a:spcAft>
                <a:spcPct val="0"/>
              </a:spcAft>
              <a:tabLst>
                <a:tab pos="6604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ES" altLang="es-ES" sz="17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LAS LLANTAS DEL METRO</a:t>
            </a:r>
            <a:endParaRPr kumimoji="0" lang="es-ES" altLang="es-ES" sz="17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El metro emplea nitrógeno para inflar las llantas que utilizan a diario los 269 trenes, que integran el parque vehicular de rodadura neumática del metro para evitar el calentamiento.</a:t>
            </a:r>
            <a:endParaRPr kumimoji="0" lang="es-ES" altLang="es-ES" sz="17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Debido a que el nitrógeno es un gas inerte, que no produce flama, en caso de presentarse alguna </a:t>
            </a:r>
            <a:r>
              <a:rPr kumimoji="0" lang="es-MX" altLang="es-ES" sz="17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ponchaducha</a:t>
            </a:r>
            <a:r>
              <a:rPr kumimoji="0" lang="es-MX"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no se incendie; además permite que la llanta al estar circulando se conserve fría</a:t>
            </a:r>
            <a:r>
              <a:rPr kumimoji="0" lang="es-ES"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a:t>
            </a:r>
            <a:endParaRPr kumimoji="0" lang="es-ES" altLang="es-ES" sz="17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En las vías del metro se cuenta con unos censores los cuales detectan si un neumático se encuentra desinflado. De ocurrir así el tren sale de circulación y es llevado a los talleres.</a:t>
            </a:r>
            <a:endParaRPr kumimoji="0" lang="es-ES" altLang="es-ES" sz="17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La duración garantizada de las ruedas portadoras y de seguridad es de 250,000 Km.</a:t>
            </a:r>
            <a:endParaRPr kumimoji="0" lang="es-ES" altLang="es-ES" sz="1700" b="0" i="0" u="none" strike="noStrike" cap="none" normalizeH="0" baseline="0" dirty="0">
              <a:ln>
                <a:noFill/>
              </a:ln>
              <a:solidFill>
                <a:schemeClr val="tx1"/>
              </a:solidFill>
              <a:effectLst/>
              <a:latin typeface="+mn-lt"/>
              <a:cs typeface="Times New Roman" panose="02020603050405020304" pitchFamily="18" charset="0"/>
            </a:endParaRPr>
          </a:p>
        </p:txBody>
      </p:sp>
      <p:pic>
        <p:nvPicPr>
          <p:cNvPr id="5121" name="Picture 1" descr="ruwwe">
            <a:extLst>
              <a:ext uri="{FF2B5EF4-FFF2-40B4-BE49-F238E27FC236}">
                <a16:creationId xmlns:a16="http://schemas.microsoft.com/office/drawing/2014/main" id="{B689160C-70B8-47A9-8EC6-7ED7D4365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2426" y="1865149"/>
            <a:ext cx="4062651" cy="3323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3970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1804F315-8634-4E8E-A84D-9D12D111DFAB}"/>
              </a:ext>
            </a:extLst>
          </p:cNvPr>
          <p:cNvGraphicFramePr>
            <a:graphicFrameLocks noGrp="1"/>
          </p:cNvGraphicFramePr>
          <p:nvPr/>
        </p:nvGraphicFramePr>
        <p:xfrm>
          <a:off x="6847368" y="1483240"/>
          <a:ext cx="4114801" cy="3891519"/>
        </p:xfrm>
        <a:graphic>
          <a:graphicData uri="http://schemas.openxmlformats.org/drawingml/2006/table">
            <a:tbl>
              <a:tblPr firstRow="1" firstCol="1" lastRow="1" lastCol="1" bandRow="1" bandCol="1">
                <a:tableStyleId>{5C22544A-7EE6-4342-B048-85BDC9FD1C3A}</a:tableStyleId>
              </a:tblPr>
              <a:tblGrid>
                <a:gridCol w="1159981">
                  <a:extLst>
                    <a:ext uri="{9D8B030D-6E8A-4147-A177-3AD203B41FA5}">
                      <a16:colId xmlns:a16="http://schemas.microsoft.com/office/drawing/2014/main" val="2347968039"/>
                    </a:ext>
                  </a:extLst>
                </a:gridCol>
                <a:gridCol w="1191334">
                  <a:extLst>
                    <a:ext uri="{9D8B030D-6E8A-4147-A177-3AD203B41FA5}">
                      <a16:colId xmlns:a16="http://schemas.microsoft.com/office/drawing/2014/main" val="608302989"/>
                    </a:ext>
                  </a:extLst>
                </a:gridCol>
                <a:gridCol w="940526">
                  <a:extLst>
                    <a:ext uri="{9D8B030D-6E8A-4147-A177-3AD203B41FA5}">
                      <a16:colId xmlns:a16="http://schemas.microsoft.com/office/drawing/2014/main" val="1367139707"/>
                    </a:ext>
                  </a:extLst>
                </a:gridCol>
                <a:gridCol w="822960">
                  <a:extLst>
                    <a:ext uri="{9D8B030D-6E8A-4147-A177-3AD203B41FA5}">
                      <a16:colId xmlns:a16="http://schemas.microsoft.com/office/drawing/2014/main" val="3986464074"/>
                    </a:ext>
                  </a:extLst>
                </a:gridCol>
              </a:tblGrid>
              <a:tr h="1124186">
                <a:tc>
                  <a:txBody>
                    <a:bodyPr/>
                    <a:lstStyle/>
                    <a:p>
                      <a:pPr indent="180340" algn="just">
                        <a:lnSpc>
                          <a:spcPct val="200000"/>
                        </a:lnSpc>
                        <a:spcAft>
                          <a:spcPts val="0"/>
                        </a:spcAft>
                        <a:tabLst>
                          <a:tab pos="660400" algn="l"/>
                        </a:tabLst>
                      </a:pPr>
                      <a:r>
                        <a:rPr lang="es-MX" sz="1200">
                          <a:effectLst/>
                        </a:rPr>
                        <a:t>RUEDA</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CARRETILLA</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VAGON</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TREN</a:t>
                      </a:r>
                      <a:endParaRPr lang="es-E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720719892"/>
                  </a:ext>
                </a:extLst>
              </a:tr>
              <a:tr h="1124186">
                <a:tc>
                  <a:txBody>
                    <a:bodyPr/>
                    <a:lstStyle/>
                    <a:p>
                      <a:pPr indent="180340" algn="just">
                        <a:lnSpc>
                          <a:spcPct val="200000"/>
                        </a:lnSpc>
                        <a:spcAft>
                          <a:spcPts val="0"/>
                        </a:spcAft>
                        <a:tabLst>
                          <a:tab pos="660400" algn="l"/>
                        </a:tabLst>
                      </a:pPr>
                      <a:r>
                        <a:rPr lang="es-MX" sz="1200">
                          <a:effectLst/>
                        </a:rPr>
                        <a:t>PORTADORA</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dirty="0">
                          <a:effectLst/>
                        </a:rPr>
                        <a:t>4</a:t>
                      </a:r>
                      <a:endParaRPr lang="es-E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8</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dirty="0">
                          <a:effectLst/>
                        </a:rPr>
                        <a:t>72</a:t>
                      </a:r>
                      <a:endParaRPr lang="es-E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71148834"/>
                  </a:ext>
                </a:extLst>
              </a:tr>
              <a:tr h="518961">
                <a:tc>
                  <a:txBody>
                    <a:bodyPr/>
                    <a:lstStyle/>
                    <a:p>
                      <a:pPr indent="180340" algn="just">
                        <a:lnSpc>
                          <a:spcPct val="200000"/>
                        </a:lnSpc>
                        <a:spcAft>
                          <a:spcPts val="0"/>
                        </a:spcAft>
                        <a:tabLst>
                          <a:tab pos="660400" algn="l"/>
                        </a:tabLst>
                      </a:pPr>
                      <a:r>
                        <a:rPr lang="es-MX" sz="1200">
                          <a:effectLst/>
                        </a:rPr>
                        <a:t>DE GIA</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4</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8</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72</a:t>
                      </a:r>
                      <a:endParaRPr lang="es-E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11036902"/>
                  </a:ext>
                </a:extLst>
              </a:tr>
              <a:tr h="1124186">
                <a:tc>
                  <a:txBody>
                    <a:bodyPr/>
                    <a:lstStyle/>
                    <a:p>
                      <a:pPr indent="180340" algn="just">
                        <a:lnSpc>
                          <a:spcPct val="200000"/>
                        </a:lnSpc>
                        <a:spcAft>
                          <a:spcPts val="0"/>
                        </a:spcAft>
                        <a:tabLst>
                          <a:tab pos="660400" algn="l"/>
                        </a:tabLst>
                      </a:pPr>
                      <a:r>
                        <a:rPr lang="es-MX" sz="1200">
                          <a:effectLst/>
                        </a:rPr>
                        <a:t>SEGURIDAD</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4</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a:effectLst/>
                        </a:rPr>
                        <a:t>8</a:t>
                      </a:r>
                      <a:endParaRPr lang="es-E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indent="180340" algn="just">
                        <a:lnSpc>
                          <a:spcPct val="200000"/>
                        </a:lnSpc>
                        <a:spcAft>
                          <a:spcPts val="0"/>
                        </a:spcAft>
                        <a:tabLst>
                          <a:tab pos="660400" algn="l"/>
                        </a:tabLst>
                      </a:pPr>
                      <a:r>
                        <a:rPr lang="es-MX" sz="1200" dirty="0">
                          <a:effectLst/>
                        </a:rPr>
                        <a:t>72</a:t>
                      </a:r>
                      <a:endParaRPr lang="es-E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83972561"/>
                  </a:ext>
                </a:extLst>
              </a:tr>
            </a:tbl>
          </a:graphicData>
        </a:graphic>
      </p:graphicFrame>
      <p:sp>
        <p:nvSpPr>
          <p:cNvPr id="5" name="Rectangle 1">
            <a:extLst>
              <a:ext uri="{FF2B5EF4-FFF2-40B4-BE49-F238E27FC236}">
                <a16:creationId xmlns:a16="http://schemas.microsoft.com/office/drawing/2014/main" id="{6AFF514E-FDE4-4534-B063-EE5AF735FAE6}"/>
              </a:ext>
            </a:extLst>
          </p:cNvPr>
          <p:cNvSpPr>
            <a:spLocks noChangeArrowheads="1"/>
          </p:cNvSpPr>
          <p:nvPr/>
        </p:nvSpPr>
        <p:spPr bwMode="auto">
          <a:xfrm>
            <a:off x="1009126" y="725497"/>
            <a:ext cx="4654845" cy="465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60400" algn="l"/>
              </a:tabLst>
              <a:defRPr>
                <a:solidFill>
                  <a:schemeClr val="tx1"/>
                </a:solidFill>
                <a:latin typeface="Arial" panose="020B0604020202020204" pitchFamily="34" charset="0"/>
              </a:defRPr>
            </a:lvl1pPr>
            <a:lvl2pPr eaLnBrk="0" fontAlgn="base" hangingPunct="0">
              <a:spcBef>
                <a:spcPct val="0"/>
              </a:spcBef>
              <a:spcAft>
                <a:spcPct val="0"/>
              </a:spcAft>
              <a:tabLst>
                <a:tab pos="660400" algn="l"/>
              </a:tabLst>
              <a:defRPr>
                <a:solidFill>
                  <a:schemeClr val="tx1"/>
                </a:solidFill>
                <a:latin typeface="Arial" panose="020B0604020202020204" pitchFamily="34" charset="0"/>
              </a:defRPr>
            </a:lvl2pPr>
            <a:lvl3pPr eaLnBrk="0" fontAlgn="base" hangingPunct="0">
              <a:spcBef>
                <a:spcPct val="0"/>
              </a:spcBef>
              <a:spcAft>
                <a:spcPct val="0"/>
              </a:spcAft>
              <a:tabLst>
                <a:tab pos="660400" algn="l"/>
              </a:tabLst>
              <a:defRPr>
                <a:solidFill>
                  <a:schemeClr val="tx1"/>
                </a:solidFill>
                <a:latin typeface="Arial" panose="020B0604020202020204" pitchFamily="34" charset="0"/>
              </a:defRPr>
            </a:lvl3pPr>
            <a:lvl4pPr eaLnBrk="0" fontAlgn="base" hangingPunct="0">
              <a:spcBef>
                <a:spcPct val="0"/>
              </a:spcBef>
              <a:spcAft>
                <a:spcPct val="0"/>
              </a:spcAft>
              <a:tabLst>
                <a:tab pos="660400" algn="l"/>
              </a:tabLst>
              <a:defRPr>
                <a:solidFill>
                  <a:schemeClr val="tx1"/>
                </a:solidFill>
                <a:latin typeface="Arial" panose="020B0604020202020204" pitchFamily="34" charset="0"/>
              </a:defRPr>
            </a:lvl4pPr>
            <a:lvl5pPr eaLnBrk="0" fontAlgn="base" hangingPunct="0">
              <a:spcBef>
                <a:spcPct val="0"/>
              </a:spcBef>
              <a:spcAft>
                <a:spcPct val="0"/>
              </a:spcAft>
              <a:tabLst>
                <a:tab pos="660400" algn="l"/>
              </a:tabLst>
              <a:defRPr>
                <a:solidFill>
                  <a:schemeClr val="tx1"/>
                </a:solidFill>
                <a:latin typeface="Arial" panose="020B0604020202020204" pitchFamily="34" charset="0"/>
              </a:defRPr>
            </a:lvl5pPr>
            <a:lvl6pPr eaLnBrk="0" fontAlgn="base" hangingPunct="0">
              <a:spcBef>
                <a:spcPct val="0"/>
              </a:spcBef>
              <a:spcAft>
                <a:spcPct val="0"/>
              </a:spcAft>
              <a:tabLst>
                <a:tab pos="660400" algn="l"/>
              </a:tabLst>
              <a:defRPr>
                <a:solidFill>
                  <a:schemeClr val="tx1"/>
                </a:solidFill>
                <a:latin typeface="Arial" panose="020B0604020202020204" pitchFamily="34" charset="0"/>
              </a:defRPr>
            </a:lvl6pPr>
            <a:lvl7pPr eaLnBrk="0" fontAlgn="base" hangingPunct="0">
              <a:spcBef>
                <a:spcPct val="0"/>
              </a:spcBef>
              <a:spcAft>
                <a:spcPct val="0"/>
              </a:spcAft>
              <a:tabLst>
                <a:tab pos="660400" algn="l"/>
              </a:tabLst>
              <a:defRPr>
                <a:solidFill>
                  <a:schemeClr val="tx1"/>
                </a:solidFill>
                <a:latin typeface="Arial" panose="020B0604020202020204" pitchFamily="34" charset="0"/>
              </a:defRPr>
            </a:lvl7pPr>
            <a:lvl8pPr eaLnBrk="0" fontAlgn="base" hangingPunct="0">
              <a:spcBef>
                <a:spcPct val="0"/>
              </a:spcBef>
              <a:spcAft>
                <a:spcPct val="0"/>
              </a:spcAft>
              <a:tabLst>
                <a:tab pos="660400" algn="l"/>
              </a:tabLst>
              <a:defRPr>
                <a:solidFill>
                  <a:schemeClr val="tx1"/>
                </a:solidFill>
                <a:latin typeface="Arial" panose="020B0604020202020204" pitchFamily="34" charset="0"/>
              </a:defRPr>
            </a:lvl8pPr>
            <a:lvl9pPr eaLnBrk="0" fontAlgn="base" hangingPunct="0">
              <a:spcBef>
                <a:spcPct val="0"/>
              </a:spcBef>
              <a:spcAft>
                <a:spcPct val="0"/>
              </a:spcAft>
              <a:tabLst>
                <a:tab pos="6604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20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Total de ruedas en:</a:t>
            </a: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endParaRPr kumimoji="0" lang="es-ES" altLang="es-ES" sz="2000" b="1"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60400" algn="l"/>
              </a:tabLst>
            </a:pPr>
            <a:r>
              <a:rPr kumimoji="0" lang="es-MX" altLang="es-ES" sz="20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Un vagón contiene dos carretillas que es una delantera y una trasera las funciones del conjunto de carretillas son soportar el peso de la carrocería, su carga y los elementos que  integran las carretillas, exceptuando los ejes, masa y ruedas  portadoras y de seguridad. </a:t>
            </a:r>
            <a:endParaRPr kumimoji="0" lang="es-MX" altLang="es-ES" sz="2000" b="0" i="0" u="none" strike="noStrike" cap="none" normalizeH="0" baseline="0" dirty="0">
              <a:ln>
                <a:noFill/>
              </a:ln>
              <a:solidFill>
                <a:schemeClr val="tx1"/>
              </a:solidFill>
              <a:effectLst/>
              <a:latin typeface="+mn-lt"/>
              <a:cs typeface="Times New Roman" panose="02020603050405020304" pitchFamily="18" charset="0"/>
            </a:endParaRPr>
          </a:p>
        </p:txBody>
      </p:sp>
    </p:spTree>
    <p:extLst>
      <p:ext uri="{BB962C8B-B14F-4D97-AF65-F5344CB8AC3E}">
        <p14:creationId xmlns:p14="http://schemas.microsoft.com/office/powerpoint/2010/main" val="31101886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4D1A038-A35A-4C80-8740-597AE284B312}"/>
              </a:ext>
            </a:extLst>
          </p:cNvPr>
          <p:cNvSpPr>
            <a:spLocks noChangeArrowheads="1"/>
          </p:cNvSpPr>
          <p:nvPr/>
        </p:nvSpPr>
        <p:spPr bwMode="auto">
          <a:xfrm>
            <a:off x="236688" y="414515"/>
            <a:ext cx="6213513" cy="4610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22300" algn="l"/>
              </a:tabLst>
              <a:defRPr>
                <a:solidFill>
                  <a:schemeClr val="tx1"/>
                </a:solidFill>
                <a:latin typeface="Arial" panose="020B0604020202020204" pitchFamily="34" charset="0"/>
              </a:defRPr>
            </a:lvl1pPr>
            <a:lvl2pPr eaLnBrk="0" fontAlgn="base" hangingPunct="0">
              <a:spcBef>
                <a:spcPct val="0"/>
              </a:spcBef>
              <a:spcAft>
                <a:spcPct val="0"/>
              </a:spcAft>
              <a:tabLst>
                <a:tab pos="622300" algn="l"/>
              </a:tabLst>
              <a:defRPr>
                <a:solidFill>
                  <a:schemeClr val="tx1"/>
                </a:solidFill>
                <a:latin typeface="Arial" panose="020B0604020202020204" pitchFamily="34" charset="0"/>
              </a:defRPr>
            </a:lvl2pPr>
            <a:lvl3pPr eaLnBrk="0" fontAlgn="base" hangingPunct="0">
              <a:spcBef>
                <a:spcPct val="0"/>
              </a:spcBef>
              <a:spcAft>
                <a:spcPct val="0"/>
              </a:spcAft>
              <a:tabLst>
                <a:tab pos="622300" algn="l"/>
              </a:tabLst>
              <a:defRPr>
                <a:solidFill>
                  <a:schemeClr val="tx1"/>
                </a:solidFill>
                <a:latin typeface="Arial" panose="020B0604020202020204" pitchFamily="34" charset="0"/>
              </a:defRPr>
            </a:lvl3pPr>
            <a:lvl4pPr eaLnBrk="0" fontAlgn="base" hangingPunct="0">
              <a:spcBef>
                <a:spcPct val="0"/>
              </a:spcBef>
              <a:spcAft>
                <a:spcPct val="0"/>
              </a:spcAft>
              <a:tabLst>
                <a:tab pos="622300" algn="l"/>
              </a:tabLst>
              <a:defRPr>
                <a:solidFill>
                  <a:schemeClr val="tx1"/>
                </a:solidFill>
                <a:latin typeface="Arial" panose="020B0604020202020204" pitchFamily="34" charset="0"/>
              </a:defRPr>
            </a:lvl4pPr>
            <a:lvl5pPr eaLnBrk="0" fontAlgn="base" hangingPunct="0">
              <a:spcBef>
                <a:spcPct val="0"/>
              </a:spcBef>
              <a:spcAft>
                <a:spcPct val="0"/>
              </a:spcAft>
              <a:tabLst>
                <a:tab pos="622300" algn="l"/>
              </a:tabLst>
              <a:defRPr>
                <a:solidFill>
                  <a:schemeClr val="tx1"/>
                </a:solidFill>
                <a:latin typeface="Arial" panose="020B0604020202020204" pitchFamily="34" charset="0"/>
              </a:defRPr>
            </a:lvl5pPr>
            <a:lvl6pPr eaLnBrk="0" fontAlgn="base" hangingPunct="0">
              <a:spcBef>
                <a:spcPct val="0"/>
              </a:spcBef>
              <a:spcAft>
                <a:spcPct val="0"/>
              </a:spcAft>
              <a:tabLst>
                <a:tab pos="622300" algn="l"/>
              </a:tabLst>
              <a:defRPr>
                <a:solidFill>
                  <a:schemeClr val="tx1"/>
                </a:solidFill>
                <a:latin typeface="Arial" panose="020B0604020202020204" pitchFamily="34" charset="0"/>
              </a:defRPr>
            </a:lvl6pPr>
            <a:lvl7pPr eaLnBrk="0" fontAlgn="base" hangingPunct="0">
              <a:spcBef>
                <a:spcPct val="0"/>
              </a:spcBef>
              <a:spcAft>
                <a:spcPct val="0"/>
              </a:spcAft>
              <a:tabLst>
                <a:tab pos="622300" algn="l"/>
              </a:tabLst>
              <a:defRPr>
                <a:solidFill>
                  <a:schemeClr val="tx1"/>
                </a:solidFill>
                <a:latin typeface="Arial" panose="020B0604020202020204" pitchFamily="34" charset="0"/>
              </a:defRPr>
            </a:lvl7pPr>
            <a:lvl8pPr eaLnBrk="0" fontAlgn="base" hangingPunct="0">
              <a:spcBef>
                <a:spcPct val="0"/>
              </a:spcBef>
              <a:spcAft>
                <a:spcPct val="0"/>
              </a:spcAft>
              <a:tabLst>
                <a:tab pos="622300" algn="l"/>
              </a:tabLst>
              <a:defRPr>
                <a:solidFill>
                  <a:schemeClr val="tx1"/>
                </a:solidFill>
                <a:latin typeface="Arial" panose="020B0604020202020204" pitchFamily="34" charset="0"/>
              </a:defRPr>
            </a:lvl8pPr>
            <a:lvl9pPr eaLnBrk="0" fontAlgn="base" hangingPunct="0">
              <a:spcBef>
                <a:spcPct val="0"/>
              </a:spcBef>
              <a:spcAft>
                <a:spcPct val="0"/>
              </a:spcAft>
              <a:tabLst>
                <a:tab pos="6223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En la delantera contiene los siguientes elementos constituyentes en las carretillas motoras que son: </a:t>
            </a: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BASTIDOR.-</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Tiene forma de H, en su travesaño principal se encuentra la cubeta de nivel de aceite para el pivote.</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EJES DIFERENCIALES.-</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Son dos por carretilla, unidos al bastidor por medio de cuatro tornillos tubulares, que sirven además para el montaje de la suspensión primaria.</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p:txBody>
      </p:sp>
      <p:pic>
        <p:nvPicPr>
          <p:cNvPr id="7169" name="Picture 1" descr="EJE">
            <a:extLst>
              <a:ext uri="{FF2B5EF4-FFF2-40B4-BE49-F238E27FC236}">
                <a16:creationId xmlns:a16="http://schemas.microsoft.com/office/drawing/2014/main" id="{0BFDCF98-FAB7-4713-9650-1FC5F03750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831" y="1407032"/>
            <a:ext cx="4649105" cy="22805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FDDFBB6B-F6C7-4BBE-8355-AF89413B8391}"/>
              </a:ext>
            </a:extLst>
          </p:cNvPr>
          <p:cNvSpPr>
            <a:spLocks noChangeArrowheads="1"/>
          </p:cNvSpPr>
          <p:nvPr/>
        </p:nvSpPr>
        <p:spPr bwMode="auto">
          <a:xfrm>
            <a:off x="5471296" y="4498580"/>
            <a:ext cx="6213513" cy="2117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22300" algn="l"/>
              </a:tabLst>
              <a:defRPr>
                <a:solidFill>
                  <a:schemeClr val="tx1"/>
                </a:solidFill>
                <a:latin typeface="Arial" panose="020B0604020202020204" pitchFamily="34" charset="0"/>
              </a:defRPr>
            </a:lvl1pPr>
            <a:lvl2pPr eaLnBrk="0" fontAlgn="base" hangingPunct="0">
              <a:spcBef>
                <a:spcPct val="0"/>
              </a:spcBef>
              <a:spcAft>
                <a:spcPct val="0"/>
              </a:spcAft>
              <a:tabLst>
                <a:tab pos="622300" algn="l"/>
              </a:tabLst>
              <a:defRPr>
                <a:solidFill>
                  <a:schemeClr val="tx1"/>
                </a:solidFill>
                <a:latin typeface="Arial" panose="020B0604020202020204" pitchFamily="34" charset="0"/>
              </a:defRPr>
            </a:lvl2pPr>
            <a:lvl3pPr eaLnBrk="0" fontAlgn="base" hangingPunct="0">
              <a:spcBef>
                <a:spcPct val="0"/>
              </a:spcBef>
              <a:spcAft>
                <a:spcPct val="0"/>
              </a:spcAft>
              <a:tabLst>
                <a:tab pos="622300" algn="l"/>
              </a:tabLst>
              <a:defRPr>
                <a:solidFill>
                  <a:schemeClr val="tx1"/>
                </a:solidFill>
                <a:latin typeface="Arial" panose="020B0604020202020204" pitchFamily="34" charset="0"/>
              </a:defRPr>
            </a:lvl3pPr>
            <a:lvl4pPr eaLnBrk="0" fontAlgn="base" hangingPunct="0">
              <a:spcBef>
                <a:spcPct val="0"/>
              </a:spcBef>
              <a:spcAft>
                <a:spcPct val="0"/>
              </a:spcAft>
              <a:tabLst>
                <a:tab pos="622300" algn="l"/>
              </a:tabLst>
              <a:defRPr>
                <a:solidFill>
                  <a:schemeClr val="tx1"/>
                </a:solidFill>
                <a:latin typeface="Arial" panose="020B0604020202020204" pitchFamily="34" charset="0"/>
              </a:defRPr>
            </a:lvl4pPr>
            <a:lvl5pPr eaLnBrk="0" fontAlgn="base" hangingPunct="0">
              <a:spcBef>
                <a:spcPct val="0"/>
              </a:spcBef>
              <a:spcAft>
                <a:spcPct val="0"/>
              </a:spcAft>
              <a:tabLst>
                <a:tab pos="622300" algn="l"/>
              </a:tabLst>
              <a:defRPr>
                <a:solidFill>
                  <a:schemeClr val="tx1"/>
                </a:solidFill>
                <a:latin typeface="Arial" panose="020B0604020202020204" pitchFamily="34" charset="0"/>
              </a:defRPr>
            </a:lvl5pPr>
            <a:lvl6pPr eaLnBrk="0" fontAlgn="base" hangingPunct="0">
              <a:spcBef>
                <a:spcPct val="0"/>
              </a:spcBef>
              <a:spcAft>
                <a:spcPct val="0"/>
              </a:spcAft>
              <a:tabLst>
                <a:tab pos="622300" algn="l"/>
              </a:tabLst>
              <a:defRPr>
                <a:solidFill>
                  <a:schemeClr val="tx1"/>
                </a:solidFill>
                <a:latin typeface="Arial" panose="020B0604020202020204" pitchFamily="34" charset="0"/>
              </a:defRPr>
            </a:lvl6pPr>
            <a:lvl7pPr eaLnBrk="0" fontAlgn="base" hangingPunct="0">
              <a:spcBef>
                <a:spcPct val="0"/>
              </a:spcBef>
              <a:spcAft>
                <a:spcPct val="0"/>
              </a:spcAft>
              <a:tabLst>
                <a:tab pos="622300" algn="l"/>
              </a:tabLst>
              <a:defRPr>
                <a:solidFill>
                  <a:schemeClr val="tx1"/>
                </a:solidFill>
                <a:latin typeface="Arial" panose="020B0604020202020204" pitchFamily="34" charset="0"/>
              </a:defRPr>
            </a:lvl7pPr>
            <a:lvl8pPr eaLnBrk="0" fontAlgn="base" hangingPunct="0">
              <a:spcBef>
                <a:spcPct val="0"/>
              </a:spcBef>
              <a:spcAft>
                <a:spcPct val="0"/>
              </a:spcAft>
              <a:tabLst>
                <a:tab pos="622300" algn="l"/>
              </a:tabLst>
              <a:defRPr>
                <a:solidFill>
                  <a:schemeClr val="tx1"/>
                </a:solidFill>
                <a:latin typeface="Arial" panose="020B0604020202020204" pitchFamily="34" charset="0"/>
              </a:defRPr>
            </a:lvl8pPr>
            <a:lvl9pPr eaLnBrk="0" fontAlgn="base" hangingPunct="0">
              <a:spcBef>
                <a:spcPct val="0"/>
              </a:spcBef>
              <a:spcAft>
                <a:spcPct val="0"/>
              </a:spcAft>
              <a:tabLst>
                <a:tab pos="6223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MOTORES DE TRACCIÓN.-</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Acoplados a cada puente diferencial va montado un motor de tracción, el cual es soportado a su vez por un travesaño, que se fija en la cara interior de los largueros del bastidor en sus extremos.  </a:t>
            </a:r>
            <a:endParaRPr kumimoji="0" lang="es-MX" altLang="es-ES" b="0" i="0" u="none" strike="noStrike" cap="none" normalizeH="0" baseline="0" dirty="0">
              <a:ln>
                <a:noFill/>
              </a:ln>
              <a:solidFill>
                <a:schemeClr val="tx1"/>
              </a:solidFill>
              <a:effectLst/>
              <a:latin typeface="+mn-lt"/>
              <a:cs typeface="Times New Roman" panose="02020603050405020304" pitchFamily="18" charset="0"/>
            </a:endParaRPr>
          </a:p>
        </p:txBody>
      </p:sp>
    </p:spTree>
    <p:extLst>
      <p:ext uri="{BB962C8B-B14F-4D97-AF65-F5344CB8AC3E}">
        <p14:creationId xmlns:p14="http://schemas.microsoft.com/office/powerpoint/2010/main" val="4275724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5A37603-01BA-4A03-B932-F67503E77E6D}"/>
              </a:ext>
            </a:extLst>
          </p:cNvPr>
          <p:cNvSpPr>
            <a:spLocks noChangeArrowheads="1"/>
          </p:cNvSpPr>
          <p:nvPr/>
        </p:nvSpPr>
        <p:spPr bwMode="auto">
          <a:xfrm>
            <a:off x="695729" y="1219716"/>
            <a:ext cx="4957590" cy="465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22300" algn="l"/>
              </a:tabLst>
              <a:defRPr>
                <a:solidFill>
                  <a:schemeClr val="tx1"/>
                </a:solidFill>
                <a:latin typeface="Arial" panose="020B0604020202020204" pitchFamily="34" charset="0"/>
              </a:defRPr>
            </a:lvl1pPr>
            <a:lvl2pPr eaLnBrk="0" fontAlgn="base" hangingPunct="0">
              <a:spcBef>
                <a:spcPct val="0"/>
              </a:spcBef>
              <a:spcAft>
                <a:spcPct val="0"/>
              </a:spcAft>
              <a:tabLst>
                <a:tab pos="622300" algn="l"/>
              </a:tabLst>
              <a:defRPr>
                <a:solidFill>
                  <a:schemeClr val="tx1"/>
                </a:solidFill>
                <a:latin typeface="Arial" panose="020B0604020202020204" pitchFamily="34" charset="0"/>
              </a:defRPr>
            </a:lvl2pPr>
            <a:lvl3pPr eaLnBrk="0" fontAlgn="base" hangingPunct="0">
              <a:spcBef>
                <a:spcPct val="0"/>
              </a:spcBef>
              <a:spcAft>
                <a:spcPct val="0"/>
              </a:spcAft>
              <a:tabLst>
                <a:tab pos="622300" algn="l"/>
              </a:tabLst>
              <a:defRPr>
                <a:solidFill>
                  <a:schemeClr val="tx1"/>
                </a:solidFill>
                <a:latin typeface="Arial" panose="020B0604020202020204" pitchFamily="34" charset="0"/>
              </a:defRPr>
            </a:lvl3pPr>
            <a:lvl4pPr eaLnBrk="0" fontAlgn="base" hangingPunct="0">
              <a:spcBef>
                <a:spcPct val="0"/>
              </a:spcBef>
              <a:spcAft>
                <a:spcPct val="0"/>
              </a:spcAft>
              <a:tabLst>
                <a:tab pos="622300" algn="l"/>
              </a:tabLst>
              <a:defRPr>
                <a:solidFill>
                  <a:schemeClr val="tx1"/>
                </a:solidFill>
                <a:latin typeface="Arial" panose="020B0604020202020204" pitchFamily="34" charset="0"/>
              </a:defRPr>
            </a:lvl4pPr>
            <a:lvl5pPr eaLnBrk="0" fontAlgn="base" hangingPunct="0">
              <a:spcBef>
                <a:spcPct val="0"/>
              </a:spcBef>
              <a:spcAft>
                <a:spcPct val="0"/>
              </a:spcAft>
              <a:tabLst>
                <a:tab pos="622300" algn="l"/>
              </a:tabLst>
              <a:defRPr>
                <a:solidFill>
                  <a:schemeClr val="tx1"/>
                </a:solidFill>
                <a:latin typeface="Arial" panose="020B0604020202020204" pitchFamily="34" charset="0"/>
              </a:defRPr>
            </a:lvl5pPr>
            <a:lvl6pPr eaLnBrk="0" fontAlgn="base" hangingPunct="0">
              <a:spcBef>
                <a:spcPct val="0"/>
              </a:spcBef>
              <a:spcAft>
                <a:spcPct val="0"/>
              </a:spcAft>
              <a:tabLst>
                <a:tab pos="622300" algn="l"/>
              </a:tabLst>
              <a:defRPr>
                <a:solidFill>
                  <a:schemeClr val="tx1"/>
                </a:solidFill>
                <a:latin typeface="Arial" panose="020B0604020202020204" pitchFamily="34" charset="0"/>
              </a:defRPr>
            </a:lvl6pPr>
            <a:lvl7pPr eaLnBrk="0" fontAlgn="base" hangingPunct="0">
              <a:spcBef>
                <a:spcPct val="0"/>
              </a:spcBef>
              <a:spcAft>
                <a:spcPct val="0"/>
              </a:spcAft>
              <a:tabLst>
                <a:tab pos="622300" algn="l"/>
              </a:tabLst>
              <a:defRPr>
                <a:solidFill>
                  <a:schemeClr val="tx1"/>
                </a:solidFill>
                <a:latin typeface="Arial" panose="020B0604020202020204" pitchFamily="34" charset="0"/>
              </a:defRPr>
            </a:lvl7pPr>
            <a:lvl8pPr eaLnBrk="0" fontAlgn="base" hangingPunct="0">
              <a:spcBef>
                <a:spcPct val="0"/>
              </a:spcBef>
              <a:spcAft>
                <a:spcPct val="0"/>
              </a:spcAft>
              <a:tabLst>
                <a:tab pos="622300" algn="l"/>
              </a:tabLst>
              <a:defRPr>
                <a:solidFill>
                  <a:schemeClr val="tx1"/>
                </a:solidFill>
                <a:latin typeface="Arial" panose="020B0604020202020204" pitchFamily="34" charset="0"/>
              </a:defRPr>
            </a:lvl8pPr>
            <a:lvl9pPr eaLnBrk="0" fontAlgn="base" hangingPunct="0">
              <a:spcBef>
                <a:spcPct val="0"/>
              </a:spcBef>
              <a:spcAft>
                <a:spcPct val="0"/>
              </a:spcAft>
              <a:tabLst>
                <a:tab pos="622300" algn="l"/>
              </a:tabLs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50000"/>
              </a:lnSpc>
              <a:spcBef>
                <a:spcPct val="0"/>
              </a:spcBef>
              <a:spcAft>
                <a:spcPct val="0"/>
              </a:spcAft>
              <a:buClrTx/>
              <a:buSzTx/>
              <a:buFontTx/>
              <a:buChar char="-"/>
              <a:tabLst>
                <a:tab pos="622300" algn="l"/>
              </a:tabLst>
            </a:pPr>
            <a:r>
              <a:rPr kumimoji="0" lang="es-MX" altLang="es-ES" sz="20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TRAVESAÑOS DE PROTECCIÓN.-</a:t>
            </a:r>
            <a:r>
              <a:rPr kumimoji="0" lang="es-MX" altLang="es-ES" sz="20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Sirve como </a:t>
            </a:r>
            <a:r>
              <a:rPr kumimoji="0" lang="es-MX" altLang="es-ES" sz="2000" b="0" i="0" u="none" strike="noStrike" cap="none" normalizeH="0" baseline="0" dirty="0" err="1">
                <a:ln>
                  <a:noFill/>
                </a:ln>
                <a:solidFill>
                  <a:schemeClr val="tx1"/>
                </a:solidFill>
                <a:effectLst/>
                <a:latin typeface="+mn-lt"/>
                <a:ea typeface="Times New Roman" panose="02020603050405020304" pitchFamily="18" charset="0"/>
                <a:cs typeface="Times New Roman" panose="02020603050405020304" pitchFamily="18" charset="0"/>
              </a:rPr>
              <a:t>pibote</a:t>
            </a:r>
            <a:r>
              <a:rPr kumimoji="0" lang="es-MX" altLang="es-ES" sz="20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y son de dos tipos, travesaños de protección del filtro o rejilla del motor, cuya función es proteger al motor de impactos producidos por cuerpos extraños.</a:t>
            </a:r>
          </a:p>
          <a:p>
            <a:pPr marL="285750" marR="0" lvl="0" indent="-285750" algn="just" defTabSz="914400" rtl="0" eaLnBrk="0" fontAlgn="base" latinLnBrk="0" hangingPunct="0">
              <a:lnSpc>
                <a:spcPct val="150000"/>
              </a:lnSpc>
              <a:spcBef>
                <a:spcPct val="0"/>
              </a:spcBef>
              <a:spcAft>
                <a:spcPct val="0"/>
              </a:spcAft>
              <a:buClrTx/>
              <a:buSzTx/>
              <a:buFontTx/>
              <a:buChar char="-"/>
              <a:tabLst>
                <a:tab pos="622300" algn="l"/>
              </a:tabLst>
            </a:pPr>
            <a:endParaRPr kumimoji="0" lang="es-ES" altLang="es-ES" sz="2000"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sz="2000"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SUSPENSIÓN SECUNDARIA.- </a:t>
            </a:r>
            <a:r>
              <a:rPr kumimoji="0" lang="es-MX" altLang="es-ES" sz="20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Se ubica sobre el bastidor de la carretilla, aproximadamente al centro. </a:t>
            </a:r>
            <a:endParaRPr kumimoji="0" lang="es-ES" altLang="es-ES" sz="2000" b="0" i="0" u="none" strike="noStrike" cap="none" normalizeH="0" baseline="0" dirty="0">
              <a:ln>
                <a:noFill/>
              </a:ln>
              <a:solidFill>
                <a:schemeClr val="tx1"/>
              </a:solidFill>
              <a:effectLst/>
              <a:latin typeface="+mn-lt"/>
              <a:cs typeface="Times New Roman" panose="02020603050405020304" pitchFamily="18" charset="0"/>
            </a:endParaRPr>
          </a:p>
        </p:txBody>
      </p:sp>
      <p:pic>
        <p:nvPicPr>
          <p:cNvPr id="8193" name="Picture 1" descr="SUPES">
            <a:extLst>
              <a:ext uri="{FF2B5EF4-FFF2-40B4-BE49-F238E27FC236}">
                <a16:creationId xmlns:a16="http://schemas.microsoft.com/office/drawing/2014/main" id="{C8ED7048-2F47-407C-BF2B-92820BF325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4449" y="1972532"/>
            <a:ext cx="4537123" cy="3194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2738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FE26">
            <a:extLst>
              <a:ext uri="{FF2B5EF4-FFF2-40B4-BE49-F238E27FC236}">
                <a16:creationId xmlns:a16="http://schemas.microsoft.com/office/drawing/2014/main" id="{F6E01D1F-4CD1-42DF-88AD-DF6A81F3E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3609" y="2347580"/>
            <a:ext cx="5730953" cy="1671528"/>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1">
            <a:extLst>
              <a:ext uri="{FF2B5EF4-FFF2-40B4-BE49-F238E27FC236}">
                <a16:creationId xmlns:a16="http://schemas.microsoft.com/office/drawing/2014/main" id="{708F5222-A67D-471C-A6B8-51CCF1147497}"/>
              </a:ext>
            </a:extLst>
          </p:cNvPr>
          <p:cNvSpPr txBox="1">
            <a:spLocks noChangeArrowheads="1"/>
          </p:cNvSpPr>
          <p:nvPr/>
        </p:nvSpPr>
        <p:spPr bwMode="auto">
          <a:xfrm>
            <a:off x="6993021" y="4353531"/>
            <a:ext cx="2869894" cy="28257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180975" algn="l" defTabSz="914400" rtl="0" eaLnBrk="0" fontAlgn="base" latinLnBrk="0" hangingPunct="0">
              <a:lnSpc>
                <a:spcPct val="100000"/>
              </a:lnSpc>
              <a:spcBef>
                <a:spcPct val="0"/>
              </a:spcBef>
              <a:spcAft>
                <a:spcPct val="0"/>
              </a:spcAft>
              <a:buClrTx/>
              <a:buSzTx/>
              <a:buFontTx/>
              <a:buNone/>
              <a:tabLst/>
            </a:pPr>
            <a:r>
              <a:rPr kumimoji="0" lang="es-MX" altLang="es-E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Vistas del  eje  diferencial  y motor</a:t>
            </a:r>
            <a:endParaRPr kumimoji="0" lang="es-ES" altLang="es-ES" sz="900" b="0" i="0" u="none" strike="noStrike" cap="none" normalizeH="0" baseline="0" dirty="0">
              <a:ln>
                <a:noFill/>
              </a:ln>
              <a:solidFill>
                <a:schemeClr val="tx1"/>
              </a:solidFill>
              <a:effectLst/>
              <a:latin typeface="Arial" panose="020B0604020202020204" pitchFamily="34" charset="0"/>
            </a:endParaRPr>
          </a:p>
          <a:p>
            <a:pPr marL="0" marR="0" lvl="0" indent="180975"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D6CC0E58-D967-45E2-9828-FDCB924F5D82}"/>
              </a:ext>
            </a:extLst>
          </p:cNvPr>
          <p:cNvSpPr>
            <a:spLocks noChangeArrowheads="1"/>
          </p:cNvSpPr>
          <p:nvPr/>
        </p:nvSpPr>
        <p:spPr bwMode="auto">
          <a:xfrm>
            <a:off x="914401" y="85168"/>
            <a:ext cx="4114800" cy="668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622300" algn="l"/>
              </a:tabLst>
              <a:defRPr>
                <a:solidFill>
                  <a:schemeClr val="tx1"/>
                </a:solidFill>
                <a:latin typeface="Arial" panose="020B0604020202020204" pitchFamily="34" charset="0"/>
              </a:defRPr>
            </a:lvl1pPr>
            <a:lvl2pPr eaLnBrk="0" fontAlgn="base" hangingPunct="0">
              <a:spcBef>
                <a:spcPct val="0"/>
              </a:spcBef>
              <a:spcAft>
                <a:spcPct val="0"/>
              </a:spcAft>
              <a:tabLst>
                <a:tab pos="622300" algn="l"/>
              </a:tabLst>
              <a:defRPr>
                <a:solidFill>
                  <a:schemeClr val="tx1"/>
                </a:solidFill>
                <a:latin typeface="Arial" panose="020B0604020202020204" pitchFamily="34" charset="0"/>
              </a:defRPr>
            </a:lvl2pPr>
            <a:lvl3pPr eaLnBrk="0" fontAlgn="base" hangingPunct="0">
              <a:spcBef>
                <a:spcPct val="0"/>
              </a:spcBef>
              <a:spcAft>
                <a:spcPct val="0"/>
              </a:spcAft>
              <a:tabLst>
                <a:tab pos="622300" algn="l"/>
              </a:tabLst>
              <a:defRPr>
                <a:solidFill>
                  <a:schemeClr val="tx1"/>
                </a:solidFill>
                <a:latin typeface="Arial" panose="020B0604020202020204" pitchFamily="34" charset="0"/>
              </a:defRPr>
            </a:lvl3pPr>
            <a:lvl4pPr eaLnBrk="0" fontAlgn="base" hangingPunct="0">
              <a:spcBef>
                <a:spcPct val="0"/>
              </a:spcBef>
              <a:spcAft>
                <a:spcPct val="0"/>
              </a:spcAft>
              <a:tabLst>
                <a:tab pos="622300" algn="l"/>
              </a:tabLst>
              <a:defRPr>
                <a:solidFill>
                  <a:schemeClr val="tx1"/>
                </a:solidFill>
                <a:latin typeface="Arial" panose="020B0604020202020204" pitchFamily="34" charset="0"/>
              </a:defRPr>
            </a:lvl4pPr>
            <a:lvl5pPr eaLnBrk="0" fontAlgn="base" hangingPunct="0">
              <a:spcBef>
                <a:spcPct val="0"/>
              </a:spcBef>
              <a:spcAft>
                <a:spcPct val="0"/>
              </a:spcAft>
              <a:tabLst>
                <a:tab pos="622300" algn="l"/>
              </a:tabLst>
              <a:defRPr>
                <a:solidFill>
                  <a:schemeClr val="tx1"/>
                </a:solidFill>
                <a:latin typeface="Arial" panose="020B0604020202020204" pitchFamily="34" charset="0"/>
              </a:defRPr>
            </a:lvl5pPr>
            <a:lvl6pPr eaLnBrk="0" fontAlgn="base" hangingPunct="0">
              <a:spcBef>
                <a:spcPct val="0"/>
              </a:spcBef>
              <a:spcAft>
                <a:spcPct val="0"/>
              </a:spcAft>
              <a:tabLst>
                <a:tab pos="622300" algn="l"/>
              </a:tabLst>
              <a:defRPr>
                <a:solidFill>
                  <a:schemeClr val="tx1"/>
                </a:solidFill>
                <a:latin typeface="Arial" panose="020B0604020202020204" pitchFamily="34" charset="0"/>
              </a:defRPr>
            </a:lvl6pPr>
            <a:lvl7pPr eaLnBrk="0" fontAlgn="base" hangingPunct="0">
              <a:spcBef>
                <a:spcPct val="0"/>
              </a:spcBef>
              <a:spcAft>
                <a:spcPct val="0"/>
              </a:spcAft>
              <a:tabLst>
                <a:tab pos="622300" algn="l"/>
              </a:tabLst>
              <a:defRPr>
                <a:solidFill>
                  <a:schemeClr val="tx1"/>
                </a:solidFill>
                <a:latin typeface="Arial" panose="020B0604020202020204" pitchFamily="34" charset="0"/>
              </a:defRPr>
            </a:lvl7pPr>
            <a:lvl8pPr eaLnBrk="0" fontAlgn="base" hangingPunct="0">
              <a:spcBef>
                <a:spcPct val="0"/>
              </a:spcBef>
              <a:spcAft>
                <a:spcPct val="0"/>
              </a:spcAft>
              <a:tabLst>
                <a:tab pos="622300" algn="l"/>
              </a:tabLst>
              <a:defRPr>
                <a:solidFill>
                  <a:schemeClr val="tx1"/>
                </a:solidFill>
                <a:latin typeface="Arial" panose="020B0604020202020204" pitchFamily="34" charset="0"/>
              </a:defRPr>
            </a:lvl8pPr>
            <a:lvl9pPr eaLnBrk="0" fontAlgn="base" hangingPunct="0">
              <a:spcBef>
                <a:spcPct val="0"/>
              </a:spcBef>
              <a:spcAft>
                <a:spcPct val="0"/>
              </a:spcAft>
              <a:tabLst>
                <a:tab pos="622300" algn="l"/>
              </a:tabLs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50000"/>
              </a:lnSpc>
              <a:spcBef>
                <a:spcPct val="0"/>
              </a:spcBef>
              <a:spcAft>
                <a:spcPct val="0"/>
              </a:spcAft>
              <a:buClrTx/>
              <a:buSzTx/>
              <a:buFontTx/>
              <a:buChar char="-"/>
              <a:tabLst>
                <a:tab pos="622300" algn="l"/>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MECANISMOS DE FRENO.-</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Son cuatro por carretilla, que actúan simultáneamente, frenando cada uno de ellos en una rueda de seguridad para lograr el paro del tren.</a:t>
            </a:r>
          </a:p>
          <a:p>
            <a:pPr marL="285750" marR="0" lvl="0" indent="-285750" algn="just" defTabSz="914400" rtl="0" eaLnBrk="0" fontAlgn="base" latinLnBrk="0" hangingPunct="0">
              <a:lnSpc>
                <a:spcPct val="150000"/>
              </a:lnSpc>
              <a:spcBef>
                <a:spcPct val="0"/>
              </a:spcBef>
              <a:spcAft>
                <a:spcPct val="0"/>
              </a:spcAft>
              <a:buClrTx/>
              <a:buSzTx/>
              <a:buFontTx/>
              <a:buChar char="-"/>
              <a:tabLst>
                <a:tab pos="622300" algn="l"/>
              </a:tabLst>
            </a:pP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622300" algn="l"/>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Escobillas.-</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Son de dos tipos, positivas, ubicadas en la parte media exterior de cada larguero del bastidor y de masa ubicadas en la parte media inferior de los largueros del bastidor de la carretilla, lleva una placa soporte en cada lado del larguero donde se fija la escobilla positiva.</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p:txBody>
      </p:sp>
      <p:sp>
        <p:nvSpPr>
          <p:cNvPr id="6" name="Rectangle 4">
            <a:extLst>
              <a:ext uri="{FF2B5EF4-FFF2-40B4-BE49-F238E27FC236}">
                <a16:creationId xmlns:a16="http://schemas.microsoft.com/office/drawing/2014/main" id="{2E6932E4-65C5-49C2-A064-D94DE9865D8C}"/>
              </a:ext>
            </a:extLst>
          </p:cNvPr>
          <p:cNvSpPr>
            <a:spLocks noChangeArrowheads="1"/>
          </p:cNvSpPr>
          <p:nvPr/>
        </p:nvSpPr>
        <p:spPr bwMode="auto">
          <a:xfrm>
            <a:off x="0" y="17907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7" name="Rectangle 5">
            <a:extLst>
              <a:ext uri="{FF2B5EF4-FFF2-40B4-BE49-F238E27FC236}">
                <a16:creationId xmlns:a16="http://schemas.microsoft.com/office/drawing/2014/main" id="{72BE463F-E3BD-43C4-B531-4907E5D66C92}"/>
              </a:ext>
            </a:extLst>
          </p:cNvPr>
          <p:cNvSpPr>
            <a:spLocks noChangeArrowheads="1"/>
          </p:cNvSpPr>
          <p:nvPr/>
        </p:nvSpPr>
        <p:spPr bwMode="auto">
          <a:xfrm>
            <a:off x="0" y="224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4274038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1" name="Picture 1" descr="fig">
            <a:extLst>
              <a:ext uri="{FF2B5EF4-FFF2-40B4-BE49-F238E27FC236}">
                <a16:creationId xmlns:a16="http://schemas.microsoft.com/office/drawing/2014/main" id="{B2DEBD80-D288-4570-B054-4BFD14894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2819" y="796889"/>
            <a:ext cx="5806361" cy="37439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9E3457A-7499-4AD7-AFE1-ED6C1549B631}"/>
              </a:ext>
            </a:extLst>
          </p:cNvPr>
          <p:cNvSpPr>
            <a:spLocks noChangeArrowheads="1"/>
          </p:cNvSpPr>
          <p:nvPr/>
        </p:nvSpPr>
        <p:spPr bwMode="auto">
          <a:xfrm>
            <a:off x="4880451" y="4741845"/>
            <a:ext cx="28423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60400" algn="l"/>
              </a:tabLst>
              <a:defRPr>
                <a:solidFill>
                  <a:schemeClr val="tx1"/>
                </a:solidFill>
                <a:latin typeface="Arial" panose="020B0604020202020204" pitchFamily="34" charset="0"/>
              </a:defRPr>
            </a:lvl1pPr>
            <a:lvl2pPr eaLnBrk="0" fontAlgn="base" hangingPunct="0">
              <a:spcBef>
                <a:spcPct val="0"/>
              </a:spcBef>
              <a:spcAft>
                <a:spcPct val="0"/>
              </a:spcAft>
              <a:tabLst>
                <a:tab pos="660400" algn="l"/>
              </a:tabLst>
              <a:defRPr>
                <a:solidFill>
                  <a:schemeClr val="tx1"/>
                </a:solidFill>
                <a:latin typeface="Arial" panose="020B0604020202020204" pitchFamily="34" charset="0"/>
              </a:defRPr>
            </a:lvl2pPr>
            <a:lvl3pPr eaLnBrk="0" fontAlgn="base" hangingPunct="0">
              <a:spcBef>
                <a:spcPct val="0"/>
              </a:spcBef>
              <a:spcAft>
                <a:spcPct val="0"/>
              </a:spcAft>
              <a:tabLst>
                <a:tab pos="660400" algn="l"/>
              </a:tabLst>
              <a:defRPr>
                <a:solidFill>
                  <a:schemeClr val="tx1"/>
                </a:solidFill>
                <a:latin typeface="Arial" panose="020B0604020202020204" pitchFamily="34" charset="0"/>
              </a:defRPr>
            </a:lvl3pPr>
            <a:lvl4pPr eaLnBrk="0" fontAlgn="base" hangingPunct="0">
              <a:spcBef>
                <a:spcPct val="0"/>
              </a:spcBef>
              <a:spcAft>
                <a:spcPct val="0"/>
              </a:spcAft>
              <a:tabLst>
                <a:tab pos="660400" algn="l"/>
              </a:tabLst>
              <a:defRPr>
                <a:solidFill>
                  <a:schemeClr val="tx1"/>
                </a:solidFill>
                <a:latin typeface="Arial" panose="020B0604020202020204" pitchFamily="34" charset="0"/>
              </a:defRPr>
            </a:lvl4pPr>
            <a:lvl5pPr eaLnBrk="0" fontAlgn="base" hangingPunct="0">
              <a:spcBef>
                <a:spcPct val="0"/>
              </a:spcBef>
              <a:spcAft>
                <a:spcPct val="0"/>
              </a:spcAft>
              <a:tabLst>
                <a:tab pos="660400" algn="l"/>
              </a:tabLst>
              <a:defRPr>
                <a:solidFill>
                  <a:schemeClr val="tx1"/>
                </a:solidFill>
                <a:latin typeface="Arial" panose="020B0604020202020204" pitchFamily="34" charset="0"/>
              </a:defRPr>
            </a:lvl5pPr>
            <a:lvl6pPr eaLnBrk="0" fontAlgn="base" hangingPunct="0">
              <a:spcBef>
                <a:spcPct val="0"/>
              </a:spcBef>
              <a:spcAft>
                <a:spcPct val="0"/>
              </a:spcAft>
              <a:tabLst>
                <a:tab pos="660400" algn="l"/>
              </a:tabLst>
              <a:defRPr>
                <a:solidFill>
                  <a:schemeClr val="tx1"/>
                </a:solidFill>
                <a:latin typeface="Arial" panose="020B0604020202020204" pitchFamily="34" charset="0"/>
              </a:defRPr>
            </a:lvl6pPr>
            <a:lvl7pPr eaLnBrk="0" fontAlgn="base" hangingPunct="0">
              <a:spcBef>
                <a:spcPct val="0"/>
              </a:spcBef>
              <a:spcAft>
                <a:spcPct val="0"/>
              </a:spcAft>
              <a:tabLst>
                <a:tab pos="660400" algn="l"/>
              </a:tabLst>
              <a:defRPr>
                <a:solidFill>
                  <a:schemeClr val="tx1"/>
                </a:solidFill>
                <a:latin typeface="Arial" panose="020B0604020202020204" pitchFamily="34" charset="0"/>
              </a:defRPr>
            </a:lvl7pPr>
            <a:lvl8pPr eaLnBrk="0" fontAlgn="base" hangingPunct="0">
              <a:spcBef>
                <a:spcPct val="0"/>
              </a:spcBef>
              <a:spcAft>
                <a:spcPct val="0"/>
              </a:spcAft>
              <a:tabLst>
                <a:tab pos="660400" algn="l"/>
              </a:tabLst>
              <a:defRPr>
                <a:solidFill>
                  <a:schemeClr val="tx1"/>
                </a:solidFill>
                <a:latin typeface="Arial" panose="020B0604020202020204" pitchFamily="34" charset="0"/>
              </a:defRPr>
            </a:lvl8pPr>
            <a:lvl9pPr eaLnBrk="0" fontAlgn="base" hangingPunct="0">
              <a:spcBef>
                <a:spcPct val="0"/>
              </a:spcBef>
              <a:spcAft>
                <a:spcPct val="0"/>
              </a:spcAft>
              <a:tabLst>
                <a:tab pos="6604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00000"/>
              </a:lnSpc>
              <a:spcBef>
                <a:spcPct val="0"/>
              </a:spcBef>
              <a:spcAft>
                <a:spcPct val="0"/>
              </a:spcAft>
              <a:buClrTx/>
              <a:buSzTx/>
              <a:buFontTx/>
              <a:buNone/>
              <a:tabLst>
                <a:tab pos="660400" algn="l"/>
              </a:tabLst>
            </a:pPr>
            <a:r>
              <a:rPr kumimoji="0" lang="es-MX" altLang="es-E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CARRETILLAS (BOGUIES)</a:t>
            </a:r>
            <a:endParaRPr kumimoji="0" lang="es-MX"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6655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0B54A1A-F9CC-4166-AA7B-7F89A64E10A1}"/>
              </a:ext>
            </a:extLst>
          </p:cNvPr>
          <p:cNvSpPr/>
          <p:nvPr/>
        </p:nvSpPr>
        <p:spPr>
          <a:xfrm>
            <a:off x="1267046" y="484362"/>
            <a:ext cx="9657908" cy="6099042"/>
          </a:xfrm>
          <a:prstGeom prst="rect">
            <a:avLst/>
          </a:prstGeom>
        </p:spPr>
        <p:txBody>
          <a:bodyPr wrap="square">
            <a:spAutoFit/>
          </a:bodyPr>
          <a:lstStyle/>
          <a:p>
            <a:pPr indent="180340" algn="ctr">
              <a:lnSpc>
                <a:spcPct val="200000"/>
              </a:lnSpc>
              <a:spcAft>
                <a:spcPts val="0"/>
              </a:spcAft>
              <a:tabLst>
                <a:tab pos="660400" algn="l"/>
              </a:tabLst>
            </a:pPr>
            <a:r>
              <a:rPr lang="es-MX" b="1" u="sng" dirty="0">
                <a:ea typeface="Times New Roman" panose="02020603050405020304" pitchFamily="18" charset="0"/>
              </a:rPr>
              <a:t>ESCOBILLAS.</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Definición: Elemento que sirve para una conexión eléctrica entre una parte móvil y una fija.</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Las escobillas van montadas en diferentes tipos de patines el metálico, el carbón tipo </a:t>
            </a:r>
            <a:r>
              <a:rPr lang="es-MX" dirty="0" err="1">
                <a:ea typeface="Times New Roman" panose="02020603050405020304" pitchFamily="18" charset="0"/>
              </a:rPr>
              <a:t>faiveley</a:t>
            </a:r>
            <a:r>
              <a:rPr lang="es-MX" dirty="0">
                <a:ea typeface="Times New Roman" panose="02020603050405020304" pitchFamily="18" charset="0"/>
              </a:rPr>
              <a:t> y el carbón tipo </a:t>
            </a:r>
            <a:r>
              <a:rPr lang="es-MX" dirty="0" err="1">
                <a:ea typeface="Times New Roman" panose="02020603050405020304" pitchFamily="18" charset="0"/>
              </a:rPr>
              <a:t>montreal</a:t>
            </a:r>
            <a:r>
              <a:rPr lang="es-MX" dirty="0">
                <a:ea typeface="Times New Roman" panose="02020603050405020304" pitchFamily="18" charset="0"/>
              </a:rPr>
              <a:t>, en el metro tienen la función de establecer el contacto con el tercer riel el cual es el portador de la energía con el fin de alimentar los equipos del tren, existen tres tipos de escobillas que son:</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Escobillas positivas </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Escobillas negativas </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Escobillas a tierra</a:t>
            </a:r>
            <a:endParaRPr lang="es-ES" dirty="0">
              <a:ea typeface="Times New Roman" panose="02020603050405020304" pitchFamily="18" charset="0"/>
            </a:endParaRPr>
          </a:p>
        </p:txBody>
      </p:sp>
    </p:spTree>
    <p:extLst>
      <p:ext uri="{BB962C8B-B14F-4D97-AF65-F5344CB8AC3E}">
        <p14:creationId xmlns:p14="http://schemas.microsoft.com/office/powerpoint/2010/main" val="515200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F0CF3DF-A2ED-4A4D-BFD8-A998E1D5B984}"/>
              </a:ext>
            </a:extLst>
          </p:cNvPr>
          <p:cNvSpPr>
            <a:spLocks noChangeArrowheads="1"/>
          </p:cNvSpPr>
          <p:nvPr/>
        </p:nvSpPr>
        <p:spPr bwMode="auto">
          <a:xfrm>
            <a:off x="1169581" y="1305342"/>
            <a:ext cx="427454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80975" eaLnBrk="0" fontAlgn="base" hangingPunct="0">
              <a:spcBef>
                <a:spcPct val="0"/>
              </a:spcBef>
              <a:spcAft>
                <a:spcPct val="0"/>
              </a:spcAft>
              <a:tabLst>
                <a:tab pos="1104900" algn="l"/>
              </a:tabLst>
              <a:defRPr>
                <a:solidFill>
                  <a:schemeClr val="tx1"/>
                </a:solidFill>
                <a:latin typeface="Arial" panose="020B0604020202020204" pitchFamily="34" charset="0"/>
              </a:defRPr>
            </a:lvl1pPr>
            <a:lvl2pPr eaLnBrk="0" fontAlgn="base" hangingPunct="0">
              <a:spcBef>
                <a:spcPct val="0"/>
              </a:spcBef>
              <a:spcAft>
                <a:spcPct val="0"/>
              </a:spcAft>
              <a:tabLst>
                <a:tab pos="1104900" algn="l"/>
              </a:tabLst>
              <a:defRPr>
                <a:solidFill>
                  <a:schemeClr val="tx1"/>
                </a:solidFill>
                <a:latin typeface="Arial" panose="020B0604020202020204" pitchFamily="34" charset="0"/>
              </a:defRPr>
            </a:lvl2pPr>
            <a:lvl3pPr eaLnBrk="0" fontAlgn="base" hangingPunct="0">
              <a:spcBef>
                <a:spcPct val="0"/>
              </a:spcBef>
              <a:spcAft>
                <a:spcPct val="0"/>
              </a:spcAft>
              <a:tabLst>
                <a:tab pos="1104900" algn="l"/>
              </a:tabLst>
              <a:defRPr>
                <a:solidFill>
                  <a:schemeClr val="tx1"/>
                </a:solidFill>
                <a:latin typeface="Arial" panose="020B0604020202020204" pitchFamily="34" charset="0"/>
              </a:defRPr>
            </a:lvl3pPr>
            <a:lvl4pPr eaLnBrk="0" fontAlgn="base" hangingPunct="0">
              <a:spcBef>
                <a:spcPct val="0"/>
              </a:spcBef>
              <a:spcAft>
                <a:spcPct val="0"/>
              </a:spcAft>
              <a:tabLst>
                <a:tab pos="1104900" algn="l"/>
              </a:tabLst>
              <a:defRPr>
                <a:solidFill>
                  <a:schemeClr val="tx1"/>
                </a:solidFill>
                <a:latin typeface="Arial" panose="020B0604020202020204" pitchFamily="34" charset="0"/>
              </a:defRPr>
            </a:lvl4pPr>
            <a:lvl5pPr eaLnBrk="0" fontAlgn="base" hangingPunct="0">
              <a:spcBef>
                <a:spcPct val="0"/>
              </a:spcBef>
              <a:spcAft>
                <a:spcPct val="0"/>
              </a:spcAft>
              <a:tabLst>
                <a:tab pos="1104900" algn="l"/>
              </a:tabLst>
              <a:defRPr>
                <a:solidFill>
                  <a:schemeClr val="tx1"/>
                </a:solidFill>
                <a:latin typeface="Arial" panose="020B0604020202020204" pitchFamily="34" charset="0"/>
              </a:defRPr>
            </a:lvl5pPr>
            <a:lvl6pPr eaLnBrk="0" fontAlgn="base" hangingPunct="0">
              <a:spcBef>
                <a:spcPct val="0"/>
              </a:spcBef>
              <a:spcAft>
                <a:spcPct val="0"/>
              </a:spcAft>
              <a:tabLst>
                <a:tab pos="1104900" algn="l"/>
              </a:tabLst>
              <a:defRPr>
                <a:solidFill>
                  <a:schemeClr val="tx1"/>
                </a:solidFill>
                <a:latin typeface="Arial" panose="020B0604020202020204" pitchFamily="34" charset="0"/>
              </a:defRPr>
            </a:lvl6pPr>
            <a:lvl7pPr eaLnBrk="0" fontAlgn="base" hangingPunct="0">
              <a:spcBef>
                <a:spcPct val="0"/>
              </a:spcBef>
              <a:spcAft>
                <a:spcPct val="0"/>
              </a:spcAft>
              <a:tabLst>
                <a:tab pos="1104900" algn="l"/>
              </a:tabLst>
              <a:defRPr>
                <a:solidFill>
                  <a:schemeClr val="tx1"/>
                </a:solidFill>
                <a:latin typeface="Arial" panose="020B0604020202020204" pitchFamily="34" charset="0"/>
              </a:defRPr>
            </a:lvl7pPr>
            <a:lvl8pPr eaLnBrk="0" fontAlgn="base" hangingPunct="0">
              <a:spcBef>
                <a:spcPct val="0"/>
              </a:spcBef>
              <a:spcAft>
                <a:spcPct val="0"/>
              </a:spcAft>
              <a:tabLst>
                <a:tab pos="1104900" algn="l"/>
              </a:tabLst>
              <a:defRPr>
                <a:solidFill>
                  <a:schemeClr val="tx1"/>
                </a:solidFill>
                <a:latin typeface="Arial" panose="020B0604020202020204" pitchFamily="34" charset="0"/>
              </a:defRPr>
            </a:lvl8pPr>
            <a:lvl9pPr eaLnBrk="0" fontAlgn="base" hangingPunct="0">
              <a:spcBef>
                <a:spcPct val="0"/>
              </a:spcBef>
              <a:spcAft>
                <a:spcPct val="0"/>
              </a:spcAft>
              <a:tabLst>
                <a:tab pos="1104900" algn="l"/>
              </a:tabLst>
              <a:defRPr>
                <a:solidFill>
                  <a:schemeClr val="tx1"/>
                </a:solidFill>
                <a:latin typeface="Arial" panose="020B0604020202020204" pitchFamily="34" charset="0"/>
              </a:defRPr>
            </a:lvl9pPr>
          </a:lstStyle>
          <a:p>
            <a:pPr marL="0" marR="0" lvl="0" indent="180975" algn="just" defTabSz="914400" rtl="0" eaLnBrk="0" fontAlgn="base" latinLnBrk="0" hangingPunct="0">
              <a:lnSpc>
                <a:spcPct val="100000"/>
              </a:lnSpc>
              <a:spcBef>
                <a:spcPct val="0"/>
              </a:spcBef>
              <a:spcAft>
                <a:spcPct val="0"/>
              </a:spcAft>
              <a:buClrTx/>
              <a:buSzTx/>
              <a:buFontTx/>
              <a:buNone/>
              <a:tabLst>
                <a:tab pos="1104900" algn="l"/>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ESCOBILLAS POSITIVAS</a:t>
            </a:r>
          </a:p>
          <a:p>
            <a:pPr marL="0" marR="0" lvl="0" indent="180975" algn="just" defTabSz="914400" rtl="0" eaLnBrk="0" fontAlgn="base" latinLnBrk="0" hangingPunct="0">
              <a:lnSpc>
                <a:spcPct val="100000"/>
              </a:lnSpc>
              <a:spcBef>
                <a:spcPct val="0"/>
              </a:spcBef>
              <a:spcAft>
                <a:spcPct val="0"/>
              </a:spcAft>
              <a:buClrTx/>
              <a:buSzTx/>
              <a:buFontTx/>
              <a:buNone/>
              <a:tabLst>
                <a:tab pos="1104900" algn="l"/>
              </a:tabLst>
            </a:pP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just" defTabSz="914400" rtl="0" eaLnBrk="0" fontAlgn="base" latinLnBrk="0" hangingPunct="0">
              <a:lnSpc>
                <a:spcPct val="150000"/>
              </a:lnSpc>
              <a:spcBef>
                <a:spcPct val="0"/>
              </a:spcBef>
              <a:spcAft>
                <a:spcPct val="0"/>
              </a:spcAft>
              <a:buClrTx/>
              <a:buSzTx/>
              <a:buFontTx/>
              <a:buNone/>
              <a:tabLst>
                <a:tab pos="1104900" algn="l"/>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Las escobillas positivas tienen la función de establecer el contacto del tercer riel  que es el portador de energía para el fin de alimentar los equipos correspondientes de cada motor en total son 4 por vagón estas escobillas están fijadas bajo el chasis de la carretilla y están </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180975" algn="l" defTabSz="914400" rtl="0" eaLnBrk="0" fontAlgn="base" latinLnBrk="0" hangingPunct="0">
              <a:lnSpc>
                <a:spcPct val="100000"/>
              </a:lnSpc>
              <a:spcBef>
                <a:spcPct val="0"/>
              </a:spcBef>
              <a:spcAft>
                <a:spcPct val="0"/>
              </a:spcAft>
              <a:buClrTx/>
              <a:buSzTx/>
              <a:buFontTx/>
              <a:buNone/>
              <a:tabLst>
                <a:tab pos="1104900" algn="l"/>
              </a:tabLst>
            </a:pPr>
            <a:endParaRPr kumimoji="0" lang="es-ES" altLang="es-E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265" name="Picture 1" descr="ESCO">
            <a:extLst>
              <a:ext uri="{FF2B5EF4-FFF2-40B4-BE49-F238E27FC236}">
                <a16:creationId xmlns:a16="http://schemas.microsoft.com/office/drawing/2014/main" id="{D53F82EA-F0D5-4124-A702-CFB63C1D2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3707" y="2436178"/>
            <a:ext cx="4215357" cy="231525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108DEB3B-2719-4D7C-B01F-30034D75C0B1}"/>
              </a:ext>
            </a:extLst>
          </p:cNvPr>
          <p:cNvSpPr>
            <a:spLocks noChangeArrowheads="1"/>
          </p:cNvSpPr>
          <p:nvPr/>
        </p:nvSpPr>
        <p:spPr bwMode="auto">
          <a:xfrm>
            <a:off x="0" y="18383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24328662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51F1BA6-E74F-4D08-8686-9C93CBD2448A}"/>
              </a:ext>
            </a:extLst>
          </p:cNvPr>
          <p:cNvSpPr>
            <a:spLocks noChangeArrowheads="1"/>
          </p:cNvSpPr>
          <p:nvPr/>
        </p:nvSpPr>
        <p:spPr bwMode="auto">
          <a:xfrm>
            <a:off x="606055" y="292917"/>
            <a:ext cx="6528391" cy="6272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49263"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80975" algn="l" defTabSz="914400" rtl="0" eaLnBrk="0" fontAlgn="base" latinLnBrk="0" hangingPunct="0">
              <a:lnSpc>
                <a:spcPct val="150000"/>
              </a:lnSpc>
              <a:spcBef>
                <a:spcPct val="0"/>
              </a:spcBef>
              <a:spcAft>
                <a:spcPct val="0"/>
              </a:spcAft>
              <a:buClrTx/>
              <a:buSzTx/>
              <a:buFontTx/>
              <a:buNone/>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ESCOBILLAS NEGATIVAS Y ESCOBILLAS DE TIERRA</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449263" algn="l" defTabSz="914400" rtl="0" eaLnBrk="0" fontAlgn="base" latinLnBrk="0" hangingPunct="0">
              <a:lnSpc>
                <a:spcPct val="150000"/>
              </a:lnSpc>
              <a:spcBef>
                <a:spcPct val="0"/>
              </a:spcBef>
              <a:spcAft>
                <a:spcPct val="0"/>
              </a:spcAft>
              <a:buClrTx/>
              <a:buSzTx/>
              <a:buFontTx/>
              <a:buNone/>
              <a:tabLst/>
            </a:pP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r>
              <a:rPr kumimoji="0" lang="es-ES"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Estas escobillas están fijadas bajo el chasis de la carretilla  están en contacto permanente con los rieles de seguridad, sobre los cuales se apoyan mediante un resorte. </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449263" algn="l" defTabSz="914400" rtl="0" eaLnBrk="0" fontAlgn="base" latinLnBrk="0" hangingPunct="0">
              <a:lnSpc>
                <a:spcPct val="150000"/>
              </a:lnSpc>
              <a:spcBef>
                <a:spcPct val="0"/>
              </a:spcBef>
              <a:spcAft>
                <a:spcPct val="0"/>
              </a:spcAft>
              <a:buClrTx/>
              <a:buSzTx/>
              <a:buFontTx/>
              <a:buNone/>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Existen dos tipos de escobillas:</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449263" algn="l" defTabSz="914400" rtl="0" eaLnBrk="0" fontAlgn="base" latinLnBrk="0" hangingPunct="0">
              <a:lnSpc>
                <a:spcPct val="150000"/>
              </a:lnSpc>
              <a:spcBef>
                <a:spcPct val="0"/>
              </a:spcBef>
              <a:spcAft>
                <a:spcPct val="0"/>
              </a:spcAft>
              <a:buClrTx/>
              <a:buSzTx/>
              <a:buFontTx/>
              <a:buNone/>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1)</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Escobillas negativas: Estas van montadas en la carretilla trasera de los trenes motrices la función de estas es el retorno de la corriente de los circuitos de alta tensión, motores compresores.</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a:p>
            <a:pPr marL="0" marR="0" lvl="0" indent="449263" algn="just" defTabSz="914400" rtl="0" eaLnBrk="0" fontAlgn="base" latinLnBrk="0" hangingPunct="0">
              <a:lnSpc>
                <a:spcPct val="150000"/>
              </a:lnSpc>
              <a:spcBef>
                <a:spcPct val="0"/>
              </a:spcBef>
              <a:spcAft>
                <a:spcPct val="0"/>
              </a:spcAft>
              <a:buClrTx/>
              <a:buSzTx/>
              <a:buFontTx/>
              <a:buNone/>
              <a:tabLst/>
            </a:pP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a:t>
            </a:r>
            <a:r>
              <a:rPr kumimoji="0" lang="es-MX" altLang="es-E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2)</a:t>
            </a:r>
            <a:r>
              <a:rPr kumimoji="0" lang="es-MX" altLang="es-ES"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rPr>
              <a:t>  Escobillas de tierra: Estas van montadas dos en la carretilla delantera y dos en la trasera de los trenes motrices, la función de estas es poner a tierra por medio del riel todas las partes metálicas de los coches en caso de corto circuito o para descarga corrientes parásitas.</a:t>
            </a:r>
            <a:endParaRPr kumimoji="0" lang="es-ES" altLang="es-ES" b="0" i="0" u="none" strike="noStrike" cap="none" normalizeH="0" baseline="0" dirty="0">
              <a:ln>
                <a:noFill/>
              </a:ln>
              <a:solidFill>
                <a:schemeClr val="tx1"/>
              </a:solidFill>
              <a:effectLst/>
              <a:latin typeface="+mn-lt"/>
              <a:cs typeface="Times New Roman" panose="02020603050405020304" pitchFamily="18" charset="0"/>
            </a:endParaRPr>
          </a:p>
        </p:txBody>
      </p:sp>
      <p:pic>
        <p:nvPicPr>
          <p:cNvPr id="12289" name="Picture 1" descr="SCON">
            <a:extLst>
              <a:ext uri="{FF2B5EF4-FFF2-40B4-BE49-F238E27FC236}">
                <a16:creationId xmlns:a16="http://schemas.microsoft.com/office/drawing/2014/main" id="{0936E8D1-F75A-428C-BC2E-E6C7D1EBA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7714" y="1978039"/>
            <a:ext cx="4318994" cy="2306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5858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BC93AC91-42D3-47D2-91CF-4E9E0E93CC67}"/>
              </a:ext>
            </a:extLst>
          </p:cNvPr>
          <p:cNvSpPr/>
          <p:nvPr/>
        </p:nvSpPr>
        <p:spPr>
          <a:xfrm>
            <a:off x="2306378" y="379479"/>
            <a:ext cx="7579243" cy="6099042"/>
          </a:xfrm>
          <a:prstGeom prst="rect">
            <a:avLst/>
          </a:prstGeom>
        </p:spPr>
        <p:txBody>
          <a:bodyPr wrap="square">
            <a:spAutoFit/>
          </a:bodyPr>
          <a:lstStyle/>
          <a:p>
            <a:pPr indent="180340" algn="just">
              <a:lnSpc>
                <a:spcPct val="200000"/>
              </a:lnSpc>
              <a:spcAft>
                <a:spcPts val="0"/>
              </a:spcAft>
            </a:pPr>
            <a:r>
              <a:rPr lang="es-MX" b="1" dirty="0">
                <a:ea typeface="Times New Roman" panose="02020603050405020304" pitchFamily="18" charset="0"/>
              </a:rPr>
              <a:t>LOS CONVOYES RENOVADOS</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Los primeros trenes operaron con un sistema de tracción – frenado basado en mecanismos de levas y relevadores electromagnéticos.</a:t>
            </a:r>
            <a:endParaRPr lang="es-ES" dirty="0">
              <a:ea typeface="Times New Roman" panose="02020603050405020304" pitchFamily="18" charset="0"/>
            </a:endParaRPr>
          </a:p>
          <a:p>
            <a:pPr indent="180340" algn="just">
              <a:lnSpc>
                <a:spcPct val="200000"/>
              </a:lnSpc>
              <a:spcAft>
                <a:spcPts val="0"/>
              </a:spcAft>
            </a:pPr>
            <a:r>
              <a:rPr lang="es-MX" dirty="0">
                <a:ea typeface="Times New Roman" panose="02020603050405020304" pitchFamily="18" charset="0"/>
              </a:rPr>
              <a:t>   Actualmente, se implementan dispositivos electromagnéticos con tecnología de punta como son semiconductores y microprocesadores. Así, el convoy controla el esfuerzo de propulsión de acuerdo a las condiciones de carga y requerimientos de las vías. Los sistemas nuevos garantizan el arranque, marcha y frenado; de acuerdo a las especificaciones técnicas propias del sistema. </a:t>
            </a:r>
            <a:endParaRPr lang="es-ES" dirty="0">
              <a:ea typeface="Times New Roman" panose="02020603050405020304" pitchFamily="18" charset="0"/>
            </a:endParaRPr>
          </a:p>
        </p:txBody>
      </p:sp>
    </p:spTree>
    <p:extLst>
      <p:ext uri="{BB962C8B-B14F-4D97-AF65-F5344CB8AC3E}">
        <p14:creationId xmlns:p14="http://schemas.microsoft.com/office/powerpoint/2010/main" val="993155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MX" dirty="0"/>
              <a:t>Tipos de frenado.</a:t>
            </a:r>
          </a:p>
        </p:txBody>
      </p:sp>
      <p:sp>
        <p:nvSpPr>
          <p:cNvPr id="3" name="2 Subtítulo"/>
          <p:cNvSpPr>
            <a:spLocks noGrp="1"/>
          </p:cNvSpPr>
          <p:nvPr>
            <p:ph idx="1"/>
          </p:nvPr>
        </p:nvSpPr>
        <p:spPr>
          <a:xfrm>
            <a:off x="838200" y="2014194"/>
            <a:ext cx="10515600" cy="4430202"/>
          </a:xfrm>
        </p:spPr>
        <p:txBody>
          <a:bodyPr>
            <a:noAutofit/>
          </a:bodyPr>
          <a:lstStyle/>
          <a:p>
            <a:pPr algn="just"/>
            <a:r>
              <a:rPr lang="es-MX" sz="2000" dirty="0"/>
              <a:t>Los trenes cuentan con 3 tipos de frenado: </a:t>
            </a:r>
          </a:p>
          <a:p>
            <a:pPr algn="just"/>
            <a:endParaRPr lang="es-MX" sz="2000" dirty="0"/>
          </a:p>
          <a:p>
            <a:pPr lvl="0" algn="just"/>
            <a:r>
              <a:rPr lang="es-ES" sz="2000" b="1" dirty="0"/>
              <a:t>REOST</a:t>
            </a:r>
            <a:r>
              <a:rPr lang="es-MX" sz="2000" b="1" dirty="0"/>
              <a:t>Á</a:t>
            </a:r>
            <a:r>
              <a:rPr lang="es-ES" sz="2000" b="1" dirty="0"/>
              <a:t>TICO.</a:t>
            </a:r>
            <a:r>
              <a:rPr lang="es-ES" sz="2000" dirty="0"/>
              <a:t> Haciendo funcionar los motores como generadores (hasta de 12 Km/h);</a:t>
            </a:r>
            <a:endParaRPr lang="es-MX" sz="2000" dirty="0"/>
          </a:p>
          <a:p>
            <a:pPr lvl="0" algn="just"/>
            <a:r>
              <a:rPr lang="es-ES" sz="2000" dirty="0"/>
              <a:t> </a:t>
            </a:r>
            <a:endParaRPr lang="es-MX" sz="2000" dirty="0"/>
          </a:p>
          <a:p>
            <a:pPr lvl="0" algn="just"/>
            <a:r>
              <a:rPr lang="es-ES" sz="2000" b="1" dirty="0"/>
              <a:t>NEUMÁTICO.</a:t>
            </a:r>
            <a:r>
              <a:rPr lang="es-ES" sz="2000" dirty="0"/>
              <a:t>  Por medio de zapatas de madera que son accionadas por medio de aire comprimido mandado este por los cilindros de freno. Este tipo de frenado actúa normalmente a velocidad interior de 12 Km/h a 0 Km/h.</a:t>
            </a:r>
          </a:p>
          <a:p>
            <a:pPr lvl="0" algn="just"/>
            <a:endParaRPr lang="es-MX" sz="2000" dirty="0"/>
          </a:p>
          <a:p>
            <a:pPr lvl="0" algn="just">
              <a:buFont typeface="Arial" pitchFamily="34" charset="0"/>
              <a:buChar char="•"/>
            </a:pPr>
            <a:r>
              <a:rPr lang="es-ES" sz="2000" b="1" dirty="0"/>
              <a:t>MECÁNICO.</a:t>
            </a:r>
            <a:r>
              <a:rPr lang="es-ES" sz="2000" dirty="0"/>
              <a:t>   Es un tipo de frenado manual que se encuentra en las dos cabinas de conducción y otro individual por carretilla. Este freno se usa solamente en estacionamiento de </a:t>
            </a:r>
            <a:r>
              <a:rPr lang="es-ES" sz="2000" dirty="0" err="1"/>
              <a:t>garage</a:t>
            </a:r>
            <a:r>
              <a:rPr lang="es-ES" sz="2000" dirty="0"/>
              <a:t>.</a:t>
            </a:r>
            <a:endParaRPr lang="es-MX" sz="2000" dirty="0"/>
          </a:p>
          <a:p>
            <a:pPr>
              <a:buFont typeface="Arial" pitchFamily="34" charset="0"/>
              <a:buChar char="•"/>
            </a:pPr>
            <a:endParaRPr lang="es-MX" sz="20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30CC74-F34D-40C3-B795-44B24F3B3889}"/>
              </a:ext>
            </a:extLst>
          </p:cNvPr>
          <p:cNvSpPr>
            <a:spLocks noGrp="1"/>
          </p:cNvSpPr>
          <p:nvPr>
            <p:ph type="title"/>
          </p:nvPr>
        </p:nvSpPr>
        <p:spPr/>
        <p:txBody>
          <a:bodyPr/>
          <a:lstStyle/>
          <a:p>
            <a:endParaRPr lang="es-MX"/>
          </a:p>
        </p:txBody>
      </p:sp>
      <p:sp>
        <p:nvSpPr>
          <p:cNvPr id="3" name="2 Marcador de contenido"/>
          <p:cNvSpPr>
            <a:spLocks noGrp="1"/>
          </p:cNvSpPr>
          <p:nvPr>
            <p:ph idx="1"/>
          </p:nvPr>
        </p:nvSpPr>
        <p:spPr/>
        <p:txBody>
          <a:bodyPr>
            <a:normAutofit/>
          </a:bodyPr>
          <a:lstStyle/>
          <a:p>
            <a:pPr>
              <a:buNone/>
            </a:pPr>
            <a:endParaRPr lang="es-MX" dirty="0"/>
          </a:p>
          <a:p>
            <a:pPr algn="just"/>
            <a:r>
              <a:rPr lang="es-ES" sz="2000" b="1" dirty="0"/>
              <a:t>CAPTOR DEL PILOTAJE AUTOMÁTICO</a:t>
            </a:r>
            <a:r>
              <a:rPr lang="es-ES" sz="2000" dirty="0"/>
              <a:t>: Equipo de procesamiento de !a señal del pilotaje automático. </a:t>
            </a:r>
          </a:p>
          <a:p>
            <a:pPr algn="just"/>
            <a:endParaRPr lang="es-MX" sz="2000" dirty="0"/>
          </a:p>
          <a:p>
            <a:pPr algn="just"/>
            <a:r>
              <a:rPr lang="es-ES" sz="2000" b="1" dirty="0"/>
              <a:t>PILOTAJE AUTOMÁTICO</a:t>
            </a:r>
            <a:r>
              <a:rPr lang="es-MX" sz="2000" b="1" dirty="0"/>
              <a:t>.</a:t>
            </a:r>
            <a:endParaRPr lang="es-MX" sz="2000" dirty="0"/>
          </a:p>
          <a:p>
            <a:pPr algn="just">
              <a:buNone/>
            </a:pPr>
            <a:r>
              <a:rPr lang="es-MX" sz="2000" dirty="0"/>
              <a:t> Los primeros trenes del Metro de la Ciudad de México están equipados  con paro de sistema automático, que actúa sobre el freno neumático de zapatas</a:t>
            </a:r>
            <a:r>
              <a:rPr lang="es-ES" sz="2000" dirty="0"/>
              <a:t>.</a:t>
            </a:r>
            <a:endParaRPr lang="es-MX" sz="2000" dirty="0"/>
          </a:p>
          <a:p>
            <a:pPr algn="just">
              <a:buNone/>
            </a:pPr>
            <a:r>
              <a:rPr lang="es-MX" sz="2000" dirty="0"/>
              <a:t> Se equipan los trenes con pilotaje automático, se optimiza la marcha del tren, así como el sistema </a:t>
            </a:r>
            <a:r>
              <a:rPr lang="es-MX" sz="2000" i="1" dirty="0"/>
              <a:t>chopper</a:t>
            </a:r>
            <a:r>
              <a:rPr lang="es-MX" sz="2000" dirty="0"/>
              <a:t> de recuperación de energía en el frenado, al desacelerar el tren.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66800" y="836212"/>
            <a:ext cx="10058400" cy="5185576"/>
          </a:xfrm>
        </p:spPr>
        <p:txBody>
          <a:bodyPr>
            <a:normAutofit fontScale="85000" lnSpcReduction="20000"/>
          </a:bodyPr>
          <a:lstStyle/>
          <a:p>
            <a:pPr algn="just">
              <a:buNone/>
            </a:pPr>
            <a:r>
              <a:rPr lang="es-MX" sz="2400" dirty="0"/>
              <a:t> Los primeros sistemas de pilotaje automático en el Metro de la Ciudad de México están conceptualizados en cinco modos de conducción:</a:t>
            </a:r>
          </a:p>
          <a:p>
            <a:pPr lvl="0" algn="just"/>
            <a:r>
              <a:rPr lang="es-MX" sz="2400" dirty="0"/>
              <a:t> Pilotaje automático, donde el conductor sólo supervisa la circulación del tren.</a:t>
            </a:r>
          </a:p>
          <a:p>
            <a:pPr lvl="0" algn="just"/>
            <a:r>
              <a:rPr lang="es-MX" sz="2400" dirty="0"/>
              <a:t>Conducción manual controlada; permite tener al conductor tener el control sobre el tren, siempre y cuando respete los mismos lineamientos establecidos para la conducción automática, con el objeto de no olvidar la forma de conducir normalmente.</a:t>
            </a:r>
          </a:p>
          <a:p>
            <a:pPr lvl="0" algn="just"/>
            <a:r>
              <a:rPr lang="es-MX" sz="2400" dirty="0"/>
              <a:t>Conducción manual limitada; el conductor debe respetar la señalización lateral y una velocidad limitada, de no ser así, se penaliza con la aplicación del frenado de urgencia.</a:t>
            </a:r>
          </a:p>
          <a:p>
            <a:pPr lvl="0" algn="just"/>
            <a:r>
              <a:rPr lang="es-MX" sz="2400" dirty="0"/>
              <a:t>Conducción manual restringida; el conductor está obligado a respetar una velocidad restringida, de no ser así, se penaliza con la aplicación del frenado de urgencia.</a:t>
            </a:r>
          </a:p>
          <a:p>
            <a:pPr lvl="0" algn="just"/>
            <a:r>
              <a:rPr lang="es-MX" sz="2400" dirty="0"/>
              <a:t>Conducción manual libre; el conductor tiene como única limitante el no poder acelerar más allá de lo permitido por un gobernador, lo que implica moderar la velocidad en función del perfil de las vías.</a:t>
            </a:r>
          </a:p>
          <a:p>
            <a:pPr>
              <a:buNone/>
            </a:pPr>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l"/>
            <a:r>
              <a:rPr lang="es-MX" dirty="0"/>
              <a:t>Señalización</a:t>
            </a:r>
            <a:r>
              <a:rPr lang="es-MX" sz="2700" dirty="0"/>
              <a:t>. </a:t>
            </a:r>
            <a:r>
              <a:rPr lang="es-MX" sz="2700" b="1" dirty="0"/>
              <a:t> </a:t>
            </a:r>
            <a:br>
              <a:rPr lang="es-MX" sz="2700" dirty="0"/>
            </a:br>
            <a:endParaRPr lang="es-MX" dirty="0"/>
          </a:p>
        </p:txBody>
      </p:sp>
      <p:sp>
        <p:nvSpPr>
          <p:cNvPr id="3" name="2 Marcador de contenido"/>
          <p:cNvSpPr>
            <a:spLocks noGrp="1"/>
          </p:cNvSpPr>
          <p:nvPr>
            <p:ph idx="1"/>
          </p:nvPr>
        </p:nvSpPr>
        <p:spPr>
          <a:xfrm>
            <a:off x="1066800" y="2014194"/>
            <a:ext cx="10058400" cy="3931920"/>
          </a:xfrm>
        </p:spPr>
        <p:txBody>
          <a:bodyPr>
            <a:normAutofit/>
          </a:bodyPr>
          <a:lstStyle/>
          <a:p>
            <a:pPr algn="just">
              <a:buNone/>
            </a:pPr>
            <a:r>
              <a:rPr lang="es-ES" sz="2000" dirty="0"/>
              <a:t>Existen señales para garantizar la seguridad de la marcha de los trenes, estas señales permiten la transmisión automática o no al personal de trenes, dan las órdenes de avance, reducciones de velocidad, paro y de indicaciones relativas al itinerario a seguir.</a:t>
            </a:r>
            <a:endParaRPr lang="es-MX" sz="2000" dirty="0"/>
          </a:p>
          <a:p>
            <a:pPr algn="just">
              <a:buNone/>
            </a:pPr>
            <a:r>
              <a:rPr lang="es-ES" sz="2000" dirty="0"/>
              <a:t>Las señales se clasifican en:</a:t>
            </a:r>
            <a:endParaRPr lang="es-MX" sz="2000" dirty="0"/>
          </a:p>
          <a:p>
            <a:pPr lvl="0" algn="just"/>
            <a:r>
              <a:rPr lang="es-ES" sz="2000" dirty="0"/>
              <a:t>Señales fijas.</a:t>
            </a:r>
            <a:endParaRPr lang="es-MX" sz="2000" dirty="0"/>
          </a:p>
          <a:p>
            <a:pPr lvl="0" algn="just"/>
            <a:r>
              <a:rPr lang="es-ES" sz="2000" dirty="0"/>
              <a:t>Señales movibles</a:t>
            </a:r>
            <a:r>
              <a:rPr lang="es-MX" sz="2000" dirty="0"/>
              <a:t>:</a:t>
            </a:r>
          </a:p>
          <a:p>
            <a:pPr algn="just">
              <a:buNone/>
            </a:pPr>
            <a:r>
              <a:rPr lang="es-MX" sz="2000" dirty="0"/>
              <a:t>	- </a:t>
            </a:r>
            <a:r>
              <a:rPr lang="es-ES" sz="2000" dirty="0"/>
              <a:t>Ópticas.</a:t>
            </a:r>
            <a:endParaRPr lang="es-MX" sz="2000" dirty="0"/>
          </a:p>
          <a:p>
            <a:pPr algn="just">
              <a:buNone/>
            </a:pPr>
            <a:r>
              <a:rPr lang="es-MX" sz="2000" dirty="0"/>
              <a:t>	- </a:t>
            </a:r>
            <a:r>
              <a:rPr lang="es-ES" sz="2000" dirty="0"/>
              <a:t>Sonoras. </a:t>
            </a:r>
            <a:endParaRPr lang="es-MX" sz="2000" dirty="0"/>
          </a:p>
          <a:p>
            <a:pPr algn="just">
              <a:buNone/>
            </a:pPr>
            <a:r>
              <a:rPr lang="es-ES" sz="2000" dirty="0"/>
              <a:t>     - Señales de trenes. </a:t>
            </a:r>
            <a:endParaRPr lang="es-MX" sz="2000" dirty="0"/>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78295" y="271669"/>
            <a:ext cx="11635409" cy="6314661"/>
          </a:xfrm>
        </p:spPr>
        <p:txBody>
          <a:bodyPr>
            <a:noAutofit/>
          </a:bodyPr>
          <a:lstStyle/>
          <a:p>
            <a:pPr algn="just">
              <a:buNone/>
            </a:pPr>
            <a:r>
              <a:rPr lang="es-ES" sz="1700" b="1" dirty="0"/>
              <a:t>Señales fijas:</a:t>
            </a:r>
          </a:p>
          <a:p>
            <a:pPr algn="just">
              <a:buNone/>
            </a:pPr>
            <a:r>
              <a:rPr lang="es-ES" sz="1700" dirty="0"/>
              <a:t>Son las señales cuyas indicaciones que deben dar son conocidas del personal interesado, deben estar colocadas en principio a la derecha y en la proximidad de la vía que interesen.</a:t>
            </a:r>
            <a:endParaRPr lang="es-MX" sz="1700" dirty="0"/>
          </a:p>
          <a:p>
            <a:pPr algn="just">
              <a:buNone/>
            </a:pPr>
            <a:r>
              <a:rPr lang="es-ES" sz="1700" b="1" dirty="0"/>
              <a:t>Señales movibles:</a:t>
            </a:r>
            <a:endParaRPr lang="es-MX" sz="1700" dirty="0"/>
          </a:p>
          <a:p>
            <a:pPr algn="just">
              <a:buNone/>
            </a:pPr>
            <a:r>
              <a:rPr lang="es-ES" sz="1700" dirty="0"/>
              <a:t>Son las señales que pueden ser presentados  o dirigidas en todo instante a los conductores, sin que estos hayan sido previamente notificados.</a:t>
            </a:r>
            <a:endParaRPr lang="es-MX" sz="1700" dirty="0"/>
          </a:p>
          <a:p>
            <a:pPr algn="just">
              <a:buNone/>
            </a:pPr>
            <a:r>
              <a:rPr lang="es-ES" sz="1700" dirty="0"/>
              <a:t>Las señales móviles comprende dos clasificaciones: señal óptica y señal acústica.</a:t>
            </a:r>
            <a:endParaRPr lang="es-MX" sz="1700" dirty="0"/>
          </a:p>
          <a:p>
            <a:pPr algn="just">
              <a:buNone/>
            </a:pPr>
            <a:r>
              <a:rPr lang="es-ES" sz="1700" b="1" dirty="0"/>
              <a:t>Señales de trenes:</a:t>
            </a:r>
            <a:endParaRPr lang="es-MX" sz="1700" dirty="0"/>
          </a:p>
          <a:p>
            <a:pPr algn="just">
              <a:buNone/>
            </a:pPr>
            <a:r>
              <a:rPr lang="es-ES" sz="1700" dirty="0"/>
              <a:t>Todo tren circulando o parado sobre las vías principalmente debe tener:	</a:t>
            </a:r>
            <a:endParaRPr lang="es-MX" sz="1700" dirty="0"/>
          </a:p>
          <a:p>
            <a:pPr algn="just">
              <a:buNone/>
            </a:pPr>
            <a:r>
              <a:rPr lang="es-ES" sz="1700" b="1" dirty="0"/>
              <a:t>Adelante:</a:t>
            </a:r>
            <a:r>
              <a:rPr lang="es-ES" sz="1700" dirty="0"/>
              <a:t> Al menos una luz blanca en ausencia de toda luz roja; la luz blanca permite a un observador distinguir un tren que se dirige hacia el.</a:t>
            </a:r>
            <a:endParaRPr lang="es-MX" sz="1700" dirty="0"/>
          </a:p>
          <a:p>
            <a:pPr algn="just">
              <a:buNone/>
            </a:pPr>
            <a:r>
              <a:rPr lang="es-ES" sz="1700" b="1" dirty="0"/>
              <a:t>Atrás:</a:t>
            </a:r>
            <a:r>
              <a:rPr lang="es-ES" sz="1700" dirty="0"/>
              <a:t> Al menos una luz roja en ausencia de toda luz blanca.</a:t>
            </a:r>
            <a:endParaRPr lang="es-MX" sz="1700" dirty="0"/>
          </a:p>
          <a:p>
            <a:pPr algn="just">
              <a:buNone/>
            </a:pPr>
            <a:r>
              <a:rPr lang="es-ES" sz="1700" dirty="0"/>
              <a:t>      Un tren que no da servicio de viajeros, por estar descompuesto o por hacer su retorno a su estación de garaje, llevara encendidas en fijo en ambas cabinas dos luces amarillas.</a:t>
            </a:r>
            <a:endParaRPr lang="es-MX" sz="1700" dirty="0"/>
          </a:p>
          <a:p>
            <a:pPr algn="just">
              <a:buNone/>
            </a:pPr>
            <a:r>
              <a:rPr lang="es-ES" sz="1700" dirty="0"/>
              <a:t>El último tren circulando sobre cada vía antes de la interrupción del servicio  diario, llevara las luces amarillas encendidas en parpadeantes.</a:t>
            </a:r>
            <a:endParaRPr lang="es-MX" sz="1700" dirty="0"/>
          </a:p>
          <a:p>
            <a:pPr algn="just">
              <a:buNone/>
            </a:pPr>
            <a:r>
              <a:rPr lang="es-ES" sz="1700" dirty="0"/>
              <a:t>En términos generales, la actualización se divide  en   dos grupos:</a:t>
            </a:r>
            <a:endParaRPr lang="es-MX" sz="1700" dirty="0"/>
          </a:p>
          <a:p>
            <a:pPr lvl="0" algn="just"/>
            <a:r>
              <a:rPr lang="es-ES" sz="1700" dirty="0"/>
              <a:t>  De espaciamiento</a:t>
            </a:r>
            <a:endParaRPr lang="es-MX" sz="1700" dirty="0"/>
          </a:p>
          <a:p>
            <a:pPr lvl="0" algn="just"/>
            <a:r>
              <a:rPr lang="es-ES" sz="1700" dirty="0"/>
              <a:t>  De maniobra </a:t>
            </a:r>
            <a:endParaRPr lang="es-MX" sz="17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2035" y="265043"/>
            <a:ext cx="11860695" cy="6347792"/>
          </a:xfrm>
        </p:spPr>
        <p:txBody>
          <a:bodyPr>
            <a:normAutofit lnSpcReduction="10000"/>
          </a:bodyPr>
          <a:lstStyle/>
          <a:p>
            <a:pPr algn="just">
              <a:buNone/>
            </a:pPr>
            <a:r>
              <a:rPr lang="es-ES" b="1" dirty="0"/>
              <a:t>SEÑALIZACIÓN DE ESPACIAMIENTO.</a:t>
            </a:r>
            <a:endParaRPr lang="es-MX" b="1" dirty="0"/>
          </a:p>
          <a:p>
            <a:pPr algn="just">
              <a:buNone/>
            </a:pPr>
            <a:r>
              <a:rPr lang="es-ES" dirty="0"/>
              <a:t>La señalización de espaciamiento tiene como finalidad asegurar una cierta distancia entre dos trenes inmediatos, a través de dos señales de este tipo, en alto, a fin de evitar un posible alcance. Su principio de funcionamiento es el siguiente:</a:t>
            </a:r>
            <a:endParaRPr lang="es-MX" dirty="0"/>
          </a:p>
          <a:p>
            <a:pPr algn="just">
              <a:buNone/>
            </a:pPr>
            <a:r>
              <a:rPr lang="es-ES" dirty="0"/>
              <a:t>Un tramo de vía separado por juntas aislantes, forma un circuito eléctrico, el cual al ser corto-</a:t>
            </a:r>
            <a:r>
              <a:rPr lang="es-ES" dirty="0" err="1"/>
              <a:t>circuitado</a:t>
            </a:r>
            <a:r>
              <a:rPr lang="es-ES" dirty="0"/>
              <a:t> por las escobillas negativas de las motrices, detecta la presencia de un tren, a  este circuito se le llama circuito de vía.</a:t>
            </a:r>
            <a:endParaRPr lang="es-MX" dirty="0"/>
          </a:p>
          <a:p>
            <a:pPr algn="just">
              <a:buNone/>
            </a:pPr>
            <a:r>
              <a:rPr lang="es-ES" dirty="0"/>
              <a:t>En cada circuito de vía se encuentran colocados 2 transformadores, que al mismo tiempo como reactores. Uno de ellos sirve para alimentar la corriente alterna de la vía, esta tensión llega al transformador que se encuentra en la siguiente separación e induce una tensión en su secundario, que mantiene energizado a un relevador. En esta forma se enciende una lámpara serie, indicando que la vía está libre. En el momento de que para un tren a través de sus escobillas, pone en C.D.V. la tensión de señalización </a:t>
            </a:r>
            <a:r>
              <a:rPr lang="es-ES" dirty="0" err="1"/>
              <a:t>desenergizando</a:t>
            </a:r>
            <a:r>
              <a:rPr lang="es-ES" dirty="0"/>
              <a:t> el relevador, encendiéndose la luz roja que indica que la vía está ocupada.</a:t>
            </a:r>
            <a:endParaRPr lang="es-MX" dirty="0"/>
          </a:p>
          <a:p>
            <a:pPr algn="just">
              <a:buNone/>
            </a:pPr>
            <a:r>
              <a:rPr lang="es-ES" dirty="0"/>
              <a:t> </a:t>
            </a:r>
            <a:endParaRPr lang="es-MX" dirty="0"/>
          </a:p>
          <a:p>
            <a:pPr algn="just">
              <a:buNone/>
            </a:pPr>
            <a:r>
              <a:rPr lang="es-ES" b="1" dirty="0"/>
              <a:t>SEÑALES DE MANIOBRA.</a:t>
            </a:r>
            <a:endParaRPr lang="es-MX" b="1" dirty="0"/>
          </a:p>
          <a:p>
            <a:pPr algn="just">
              <a:buNone/>
            </a:pPr>
            <a:r>
              <a:rPr lang="es-ES" dirty="0"/>
              <a:t>     Sirven para proteger movimientos de trenes en zonas "banalizadas” de la vía, para lo cual funcionan en combinación con las señales de espaciamiento. Estas pueden ser comandadas a distancia desde el P.C.C. (Puesto Central de Control) y el T.C.O. (Tablero de Control Óptico), o bien por un botón de señal, al pie de éste.</a:t>
            </a:r>
            <a:endParaRPr lang="es-MX" dirty="0"/>
          </a:p>
          <a:p>
            <a:pPr algn="just">
              <a:buNone/>
            </a:pPr>
            <a:r>
              <a:rPr lang="es-ES" dirty="0"/>
              <a:t> El color de la señal, rojo, verde o ámbar, da a saber respectivamente que la aguja que cubre, está en posición favorable o desfavorable a la dirección del tren.</a:t>
            </a:r>
            <a:endParaRPr lang="es-MX" dirty="0"/>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37322" y="437322"/>
            <a:ext cx="11463130" cy="5597718"/>
          </a:xfrm>
        </p:spPr>
        <p:txBody>
          <a:bodyPr>
            <a:normAutofit/>
          </a:bodyPr>
          <a:lstStyle/>
          <a:p>
            <a:pPr>
              <a:buNone/>
            </a:pPr>
            <a:r>
              <a:rPr lang="es-ES" dirty="0"/>
              <a:t> </a:t>
            </a:r>
            <a:endParaRPr lang="es-MX" dirty="0"/>
          </a:p>
          <a:p>
            <a:pPr algn="just">
              <a:buNone/>
            </a:pPr>
            <a:r>
              <a:rPr lang="es-ES" sz="2000" b="1" dirty="0"/>
              <a:t>SISTEMA DE PARO AUTOMATICO.</a:t>
            </a:r>
            <a:endParaRPr lang="es-MX" sz="2000" b="1" dirty="0"/>
          </a:p>
          <a:p>
            <a:pPr algn="just">
              <a:buNone/>
            </a:pPr>
            <a:r>
              <a:rPr lang="es-ES" sz="2000" dirty="0"/>
              <a:t> Este sistema actúa tanto al desobedecer una señal  en alto de espaciamiento o de maniobra, como cuando se sobrepasa la velocidad máxima autorizada.</a:t>
            </a:r>
            <a:endParaRPr lang="es-MX" sz="2000" dirty="0"/>
          </a:p>
          <a:p>
            <a:pPr algn="just">
              <a:buNone/>
            </a:pPr>
            <a:r>
              <a:rPr lang="es-ES" sz="2000" dirty="0"/>
              <a:t>El paro automático se encuentra ligado a un cable piloto, que recorre toda la vía paralelo a uno de los rieles.</a:t>
            </a:r>
            <a:endParaRPr lang="es-MX" sz="2000" dirty="0"/>
          </a:p>
          <a:p>
            <a:pPr algn="just">
              <a:buNone/>
            </a:pPr>
            <a:r>
              <a:rPr lang="es-ES" sz="2000" dirty="0"/>
              <a:t> </a:t>
            </a:r>
            <a:endParaRPr lang="es-MX" sz="2000" dirty="0"/>
          </a:p>
          <a:p>
            <a:pPr algn="just">
              <a:buNone/>
            </a:pPr>
            <a:r>
              <a:rPr lang="es-ES" sz="2000" b="1" dirty="0"/>
              <a:t>DETENCIÓN DE SOBREVELOCIDAD.</a:t>
            </a:r>
            <a:endParaRPr lang="es-MX" sz="2000" b="1" dirty="0"/>
          </a:p>
          <a:p>
            <a:pPr algn="just">
              <a:buNone/>
            </a:pPr>
            <a:r>
              <a:rPr lang="es-ES" sz="2000" dirty="0"/>
              <a:t>A</a:t>
            </a:r>
            <a:r>
              <a:rPr lang="es-MX" sz="2000" dirty="0"/>
              <a:t> la disposición  de</a:t>
            </a:r>
            <a:r>
              <a:rPr lang="es-ES" sz="2000" dirty="0"/>
              <a:t>los términos espacio-tiempo</a:t>
            </a:r>
            <a:r>
              <a:rPr lang="es-MX" sz="2000" dirty="0"/>
              <a:t> permite el control permanente de la velocidad a lo largo de la línea. </a:t>
            </a:r>
            <a:r>
              <a:rPr lang="es-ES" sz="2000" dirty="0"/>
              <a:t>El término espacio se obtiene del giro de la rueda, gracias a las informaciones del transmisor de velocidad acoplado al motor de tracción.</a:t>
            </a:r>
            <a:endParaRPr lang="es-MX" sz="2000" dirty="0"/>
          </a:p>
          <a:p>
            <a:pPr algn="just">
              <a:buNone/>
            </a:pPr>
            <a:r>
              <a:rPr lang="es-ES" sz="2000" dirty="0"/>
              <a:t> El término tiempo, se obtiene por la frecuencia de la corriente que circula por el cable piloto, al contarse el número de períodos durante el tiempo que una rueda da vuelta.</a:t>
            </a:r>
            <a:endParaRPr lang="es-MX" sz="2000" dirty="0"/>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a:t>Talleres</a:t>
            </a:r>
          </a:p>
        </p:txBody>
      </p:sp>
      <p:sp>
        <p:nvSpPr>
          <p:cNvPr id="3" name="2 Marcador de contenido"/>
          <p:cNvSpPr>
            <a:spLocks noGrp="1"/>
          </p:cNvSpPr>
          <p:nvPr>
            <p:ph idx="1"/>
          </p:nvPr>
        </p:nvSpPr>
        <p:spPr>
          <a:xfrm>
            <a:off x="1066800" y="1987553"/>
            <a:ext cx="10058400" cy="3931920"/>
          </a:xfrm>
        </p:spPr>
        <p:txBody>
          <a:bodyPr>
            <a:normAutofit/>
          </a:bodyPr>
          <a:lstStyle/>
          <a:p>
            <a:pPr algn="just">
              <a:buNone/>
            </a:pPr>
            <a:r>
              <a:rPr lang="es-MX" dirty="0"/>
              <a:t>  </a:t>
            </a:r>
            <a:r>
              <a:rPr lang="es-MX" sz="2000" dirty="0"/>
              <a:t>Los talleres </a:t>
            </a:r>
            <a:r>
              <a:rPr lang="es-ES" sz="2000" dirty="0"/>
              <a:t>son instalaciones donde trabajadores especializados brindan mantenimiento menor y mayor a los diversos sistemas que conforman los trenes estos están ubicados en Zaragoza y </a:t>
            </a:r>
            <a:r>
              <a:rPr lang="es-ES" sz="2000" dirty="0" err="1"/>
              <a:t>Ticomán</a:t>
            </a:r>
            <a:r>
              <a:rPr lang="es-ES" sz="2000" dirty="0"/>
              <a:t>.</a:t>
            </a:r>
            <a:endParaRPr lang="es-MX" sz="2000" dirty="0"/>
          </a:p>
          <a:p>
            <a:pPr algn="just">
              <a:buNone/>
            </a:pPr>
            <a:r>
              <a:rPr lang="es-MX" sz="2000" dirty="0"/>
              <a:t>Las maniobras de mantenimiento a trenes se llevan con estrictas normas de seguridad industrial, que se reflejan en la calidad de servicio para los 4.5 millones de usuarios que usan el METRO  a diario.</a:t>
            </a:r>
          </a:p>
          <a:p>
            <a:pPr algn="just">
              <a:buNone/>
            </a:pPr>
            <a:r>
              <a:rPr lang="es-MX" dirty="0"/>
              <a:t> </a:t>
            </a:r>
          </a:p>
        </p:txBody>
      </p:sp>
      <p:pic>
        <p:nvPicPr>
          <p:cNvPr id="4" name="3 Imagen" descr="visitasg3"/>
          <p:cNvPicPr/>
          <p:nvPr/>
        </p:nvPicPr>
        <p:blipFill>
          <a:blip r:embed="rId2">
            <a:extLst>
              <a:ext uri="{28A0092B-C50C-407E-A947-70E740481C1C}">
                <a14:useLocalDpi xmlns:a14="http://schemas.microsoft.com/office/drawing/2010/main" val="0"/>
              </a:ext>
            </a:extLst>
          </a:blip>
          <a:srcRect/>
          <a:stretch>
            <a:fillRect/>
          </a:stretch>
        </p:blipFill>
        <p:spPr bwMode="auto">
          <a:xfrm>
            <a:off x="4286232" y="4055828"/>
            <a:ext cx="3619535" cy="2571750"/>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66800" y="1463040"/>
            <a:ext cx="10058400" cy="3931920"/>
          </a:xfrm>
        </p:spPr>
        <p:txBody>
          <a:bodyPr/>
          <a:lstStyle/>
          <a:p>
            <a:pPr algn="just">
              <a:buNone/>
            </a:pPr>
            <a:r>
              <a:rPr lang="es-MX" sz="2000" b="1" dirty="0"/>
              <a:t>Mantenimiento Menor o Sistemático.</a:t>
            </a:r>
          </a:p>
          <a:p>
            <a:pPr algn="just">
              <a:buNone/>
            </a:pPr>
            <a:endParaRPr lang="es-MX" sz="2000" dirty="0"/>
          </a:p>
          <a:p>
            <a:pPr algn="just">
              <a:buNone/>
            </a:pPr>
            <a:r>
              <a:rPr lang="es-MX" sz="2000" dirty="0"/>
              <a:t>Los trenes son  intervenidos después de recorrer 10 mil km o 30 días de servicio continuo. Reciben:  </a:t>
            </a:r>
          </a:p>
          <a:p>
            <a:pPr algn="just">
              <a:buNone/>
            </a:pPr>
            <a:endParaRPr lang="es-MX" sz="2000" dirty="0"/>
          </a:p>
          <a:p>
            <a:pPr algn="just"/>
            <a:r>
              <a:rPr lang="es-MX" sz="2000" dirty="0"/>
              <a:t> limpieza general.</a:t>
            </a:r>
          </a:p>
          <a:p>
            <a:pPr algn="just"/>
            <a:r>
              <a:rPr lang="es-MX" sz="2000" dirty="0"/>
              <a:t>Ajuste mecánico.</a:t>
            </a:r>
          </a:p>
          <a:p>
            <a:pPr algn="just"/>
            <a:r>
              <a:rPr lang="es-MX" sz="2000" dirty="0"/>
              <a:t>Lubricación.</a:t>
            </a:r>
          </a:p>
          <a:p>
            <a:pPr algn="just"/>
            <a:r>
              <a:rPr lang="es-MX" sz="2000" dirty="0"/>
              <a:t>Cambio de piezas.</a:t>
            </a:r>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D54F10-863B-43A0-91E6-243F3911D60C}"/>
              </a:ext>
            </a:extLst>
          </p:cNvPr>
          <p:cNvSpPr>
            <a:spLocks noGrp="1"/>
          </p:cNvSpPr>
          <p:nvPr>
            <p:ph type="title"/>
          </p:nvPr>
        </p:nvSpPr>
        <p:spPr/>
        <p:txBody>
          <a:bodyPr/>
          <a:lstStyle/>
          <a:p>
            <a:endParaRPr lang="es-MX"/>
          </a:p>
        </p:txBody>
      </p:sp>
      <p:sp>
        <p:nvSpPr>
          <p:cNvPr id="3" name="2 Marcador de contenido"/>
          <p:cNvSpPr>
            <a:spLocks noGrp="1"/>
          </p:cNvSpPr>
          <p:nvPr>
            <p:ph idx="1"/>
          </p:nvPr>
        </p:nvSpPr>
        <p:spPr>
          <a:xfrm>
            <a:off x="1066800" y="1463040"/>
            <a:ext cx="10058400" cy="3931920"/>
          </a:xfrm>
        </p:spPr>
        <p:txBody>
          <a:bodyPr/>
          <a:lstStyle/>
          <a:p>
            <a:pPr algn="just">
              <a:buNone/>
            </a:pPr>
            <a:r>
              <a:rPr lang="es-MX" sz="2000" b="1" dirty="0"/>
              <a:t>Mantenimiento Mayor.</a:t>
            </a:r>
          </a:p>
          <a:p>
            <a:pPr algn="just">
              <a:buFont typeface="Arial" charset="0"/>
              <a:buChar char="•"/>
            </a:pPr>
            <a:endParaRPr lang="es-MX" sz="2000" b="1" dirty="0"/>
          </a:p>
          <a:p>
            <a:pPr algn="just">
              <a:buNone/>
            </a:pPr>
            <a:r>
              <a:rPr lang="es-MX" sz="2000" dirty="0"/>
              <a:t>Los trenes se desarman completamente para revisar sus sistemas: (cada 54 semanas o 500 000 km).</a:t>
            </a:r>
          </a:p>
          <a:p>
            <a:pPr algn="just">
              <a:buNone/>
            </a:pPr>
            <a:endParaRPr lang="es-MX" sz="2000" dirty="0"/>
          </a:p>
          <a:p>
            <a:pPr algn="just"/>
            <a:r>
              <a:rPr lang="es-MX" sz="2000" dirty="0"/>
              <a:t>Mecánico.</a:t>
            </a:r>
          </a:p>
          <a:p>
            <a:pPr algn="just"/>
            <a:r>
              <a:rPr lang="es-MX" sz="2000" dirty="0"/>
              <a:t>Eléctrico.</a:t>
            </a:r>
          </a:p>
          <a:p>
            <a:pPr algn="just"/>
            <a:r>
              <a:rPr lang="es-MX" sz="2000" dirty="0"/>
              <a:t>Electrónico. </a:t>
            </a:r>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60174" y="311289"/>
            <a:ext cx="10058400" cy="1371600"/>
          </a:xfrm>
        </p:spPr>
        <p:txBody>
          <a:bodyPr>
            <a:normAutofit fontScale="90000"/>
          </a:bodyPr>
          <a:lstStyle/>
          <a:p>
            <a:pPr algn="ctr"/>
            <a:r>
              <a:rPr lang="es-ES" b="1" dirty="0"/>
              <a:t>MANTENIMIENTO PREVENTIVO</a:t>
            </a:r>
            <a:br>
              <a:rPr lang="es-MX" dirty="0"/>
            </a:br>
            <a:endParaRPr lang="es-MX" dirty="0"/>
          </a:p>
        </p:txBody>
      </p:sp>
      <p:sp>
        <p:nvSpPr>
          <p:cNvPr id="3" name="2 Marcador de contenido"/>
          <p:cNvSpPr>
            <a:spLocks noGrp="1"/>
          </p:cNvSpPr>
          <p:nvPr>
            <p:ph idx="1"/>
          </p:nvPr>
        </p:nvSpPr>
        <p:spPr>
          <a:xfrm>
            <a:off x="225287" y="1285461"/>
            <a:ext cx="11728174" cy="5446643"/>
          </a:xfrm>
        </p:spPr>
        <p:txBody>
          <a:bodyPr>
            <a:normAutofit fontScale="92500" lnSpcReduction="10000"/>
          </a:bodyPr>
          <a:lstStyle/>
          <a:p>
            <a:pPr algn="just">
              <a:buNone/>
            </a:pPr>
            <a:r>
              <a:rPr lang="es-ES" dirty="0"/>
              <a:t>Es la conservación planeada en fábrica y equipos en el cual se hacen inspecciones periódicas para descubrir condiciones defectuosas y reducir al mínimo las interrupciones y la depreciación excesiva resultante de negligencias. Este se toma de las especificaciones de los fabricantes. Las ventajas son las siguientes:</a:t>
            </a:r>
            <a:endParaRPr lang="es-MX" dirty="0"/>
          </a:p>
          <a:p>
            <a:pPr algn="just">
              <a:buNone/>
            </a:pPr>
            <a:r>
              <a:rPr lang="es-ES" dirty="0"/>
              <a:t> </a:t>
            </a:r>
            <a:endParaRPr lang="es-MX" dirty="0"/>
          </a:p>
          <a:p>
            <a:pPr lvl="0" algn="just"/>
            <a:r>
              <a:rPr lang="es-ES" dirty="0"/>
              <a:t>Mejor conservación y duración de las máquinas.</a:t>
            </a:r>
            <a:endParaRPr lang="es-MX" dirty="0"/>
          </a:p>
          <a:p>
            <a:pPr lvl="0" algn="just"/>
            <a:r>
              <a:rPr lang="es-ES" dirty="0"/>
              <a:t>Mejor condiciones de seguridad.</a:t>
            </a:r>
            <a:endParaRPr lang="es-MX" dirty="0"/>
          </a:p>
          <a:p>
            <a:pPr lvl="0" algn="just"/>
            <a:r>
              <a:rPr lang="es-ES" dirty="0"/>
              <a:t>Menos costos por conceptos de horas </a:t>
            </a:r>
            <a:endParaRPr lang="es-MX" dirty="0"/>
          </a:p>
          <a:p>
            <a:pPr lvl="0" algn="just"/>
            <a:r>
              <a:rPr lang="es-ES" dirty="0"/>
              <a:t>Menor perdida de tiempo</a:t>
            </a:r>
            <a:endParaRPr lang="es-MX" dirty="0"/>
          </a:p>
          <a:p>
            <a:pPr algn="just">
              <a:buNone/>
            </a:pPr>
            <a:r>
              <a:rPr lang="es-ES" dirty="0"/>
              <a:t> </a:t>
            </a:r>
            <a:endParaRPr lang="es-MX" dirty="0"/>
          </a:p>
          <a:p>
            <a:pPr algn="just">
              <a:buNone/>
            </a:pPr>
            <a:r>
              <a:rPr lang="es-ES" dirty="0"/>
              <a:t>El mantenimiento preventivo se divide en 4 tipos que son:</a:t>
            </a:r>
            <a:endParaRPr lang="es-MX" dirty="0"/>
          </a:p>
          <a:p>
            <a:pPr algn="just"/>
            <a:r>
              <a:rPr lang="es-MX" dirty="0"/>
              <a:t>PERIÓDICO: </a:t>
            </a:r>
            <a:r>
              <a:rPr lang="es-ES" dirty="0"/>
              <a:t>Son los trabajos a efectuar al arregla de fallas o cambios derivados de un itinerario</a:t>
            </a:r>
            <a:endParaRPr lang="es-MX" dirty="0"/>
          </a:p>
          <a:p>
            <a:pPr algn="just"/>
            <a:r>
              <a:rPr lang="es-ES" dirty="0"/>
              <a:t>ANALÍTICO: Son los trabajos a efectuar debido al análisis de las estadísticas de falla.</a:t>
            </a:r>
            <a:endParaRPr lang="es-MX" dirty="0"/>
          </a:p>
          <a:p>
            <a:pPr algn="just"/>
            <a:r>
              <a:rPr lang="es-ES" dirty="0"/>
              <a:t>SINTOMÁTICO: Son los trabajos a efectuar al arregla de fallas de síntomas observadas por el comportamiento</a:t>
            </a:r>
            <a:endParaRPr lang="es-MX" dirty="0"/>
          </a:p>
          <a:p>
            <a:pPr algn="just"/>
            <a:r>
              <a:rPr lang="es-ES" dirty="0"/>
              <a:t>PREDICTIVO: Son los trabajos a efectuar al arregla de fallas en una maquina de síntomas anteriores que allá tenido.</a:t>
            </a:r>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a:t>MANTENIMIENTO CORRECTIVO.</a:t>
            </a:r>
            <a:br>
              <a:rPr lang="es-MX" dirty="0"/>
            </a:br>
            <a:endParaRPr lang="es-MX" dirty="0"/>
          </a:p>
        </p:txBody>
      </p:sp>
      <p:sp>
        <p:nvSpPr>
          <p:cNvPr id="3" name="2 Marcador de contenido"/>
          <p:cNvSpPr>
            <a:spLocks noGrp="1"/>
          </p:cNvSpPr>
          <p:nvPr>
            <p:ph idx="1"/>
          </p:nvPr>
        </p:nvSpPr>
        <p:spPr/>
        <p:txBody>
          <a:bodyPr>
            <a:normAutofit/>
          </a:bodyPr>
          <a:lstStyle/>
          <a:p>
            <a:pPr algn="just">
              <a:buNone/>
            </a:pPr>
            <a:r>
              <a:rPr lang="es-ES" sz="2000" dirty="0"/>
              <a:t>Se define de una manera apropiada que servirá para disminuir el costo de mantenimiento mediante con resolución, con mejores diseños, de los problemas reiterados, y será de gran ayuda para la producción al reducir al mínimo los paros. Es examinar los registros de máquina para precisar la frecuencia de las inspecciones, Significa evitar la reiteración de una pieza o unidad de maquinaria.</a:t>
            </a:r>
            <a:endParaRPr lang="es-MX" sz="2000" dirty="0"/>
          </a:p>
          <a:p>
            <a:pPr algn="just">
              <a:buNone/>
            </a:pPr>
            <a:r>
              <a:rPr lang="es-ES" dirty="0"/>
              <a:t> </a:t>
            </a:r>
            <a:endParaRPr lang="es-MX" dirty="0"/>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a:t>MANTENIMIENTO PREDICTIVO.</a:t>
            </a:r>
            <a:br>
              <a:rPr lang="es-MX" dirty="0"/>
            </a:br>
            <a:endParaRPr lang="es-MX" dirty="0"/>
          </a:p>
        </p:txBody>
      </p:sp>
      <p:sp>
        <p:nvSpPr>
          <p:cNvPr id="3" name="2 Marcador de contenido"/>
          <p:cNvSpPr>
            <a:spLocks noGrp="1"/>
          </p:cNvSpPr>
          <p:nvPr>
            <p:ph idx="1"/>
          </p:nvPr>
        </p:nvSpPr>
        <p:spPr/>
        <p:txBody>
          <a:bodyPr>
            <a:normAutofit/>
          </a:bodyPr>
          <a:lstStyle/>
          <a:p>
            <a:pPr algn="just">
              <a:buNone/>
            </a:pPr>
            <a:r>
              <a:rPr lang="es-ES" sz="2000" dirty="0"/>
              <a:t>Este mantenimiento se hace mediante el estudio o análisis del diseño, fabricación, montaje y operación, para determinar el tipo de mantenimiento previo a las fallas. La detección puede ser indirecta del departamento de ingeniería para emitir y enviar la información oportuna para detectar la falla o se puede supervisar directa: con base en el empleo de censores que reemplazarán los sentidos del hombre.</a:t>
            </a:r>
            <a:endParaRPr lang="es-MX" sz="2000" dirty="0"/>
          </a:p>
          <a:p>
            <a:endParaRPr lang="es-MX" dirty="0"/>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b="1" dirty="0"/>
              <a:t>TALLER DE REVISIÓN GENERAL.</a:t>
            </a:r>
            <a:br>
              <a:rPr lang="es-MX" dirty="0"/>
            </a:br>
            <a:endParaRPr lang="es-MX" dirty="0"/>
          </a:p>
        </p:txBody>
      </p:sp>
      <p:sp>
        <p:nvSpPr>
          <p:cNvPr id="3" name="2 Marcador de contenido"/>
          <p:cNvSpPr>
            <a:spLocks noGrp="1"/>
          </p:cNvSpPr>
          <p:nvPr>
            <p:ph idx="1"/>
          </p:nvPr>
        </p:nvSpPr>
        <p:spPr>
          <a:xfrm>
            <a:off x="1066800" y="1463040"/>
            <a:ext cx="10058400" cy="3931920"/>
          </a:xfrm>
        </p:spPr>
        <p:txBody>
          <a:bodyPr>
            <a:normAutofit/>
          </a:bodyPr>
          <a:lstStyle/>
          <a:p>
            <a:pPr algn="just">
              <a:buNone/>
            </a:pPr>
            <a:r>
              <a:rPr lang="es-ES" sz="2000" dirty="0"/>
              <a:t>En este taller se realiza el servicio de mantenimiento mayor a los trenes que han alcanzado un recorrido de 250 000 km; estas instalaciones cuenta con equipo especializado que permite procesar diez carros por semana.</a:t>
            </a:r>
            <a:endParaRPr lang="es-MX" sz="2000" dirty="0"/>
          </a:p>
          <a:p>
            <a:pPr algn="just">
              <a:buNone/>
            </a:pPr>
            <a:r>
              <a:rPr lang="es-ES" sz="2000" dirty="0"/>
              <a:t>Estas instalaciones cuenta con un puente trasbordador, que le da una gran eficiencia de distribución de los carros a las distintas fosas y vía de trabajo. También cuanta con varias grúas viajeras de cinco toneladas de capacidad cada una, para el manejo de conjuntos pesados y una vía de pruebas de 600 m de longitud, para garantizar la eficiencia del mantenimiento, antes de que los carros entren en servicio.</a:t>
            </a:r>
            <a:endParaRPr lang="es-MX" sz="2000" dirty="0"/>
          </a:p>
          <a:p>
            <a:endParaRPr lang="es-MX" dirty="0"/>
          </a:p>
          <a:p>
            <a:endParaRPr lang="es-MX" dirty="0"/>
          </a:p>
        </p:txBody>
      </p:sp>
      <p:pic>
        <p:nvPicPr>
          <p:cNvPr id="4" name="3 Imagen" descr="CAR"/>
          <p:cNvPicPr/>
          <p:nvPr/>
        </p:nvPicPr>
        <p:blipFill>
          <a:blip r:embed="rId2">
            <a:extLst>
              <a:ext uri="{28A0092B-C50C-407E-A947-70E740481C1C}">
                <a14:useLocalDpi xmlns:a14="http://schemas.microsoft.com/office/drawing/2010/main" val="0"/>
              </a:ext>
            </a:extLst>
          </a:blip>
          <a:srcRect/>
          <a:stretch>
            <a:fillRect/>
          </a:stretch>
        </p:blipFill>
        <p:spPr bwMode="auto">
          <a:xfrm>
            <a:off x="6553200" y="4251960"/>
            <a:ext cx="4572000" cy="2286000"/>
          </a:xfrm>
          <a:prstGeom prst="rect">
            <a:avLst/>
          </a:prstGeom>
          <a:noFill/>
          <a:ln>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68017" y="583096"/>
            <a:ext cx="10058400" cy="6061408"/>
          </a:xfrm>
        </p:spPr>
        <p:txBody>
          <a:bodyPr>
            <a:noAutofit/>
          </a:bodyPr>
          <a:lstStyle/>
          <a:p>
            <a:pPr algn="just">
              <a:buNone/>
            </a:pPr>
            <a:r>
              <a:rPr lang="es-MX" sz="2000" b="1" dirty="0"/>
              <a:t>DEPÓSITO DE TRENES EN OPERACIÓN. </a:t>
            </a:r>
            <a:endParaRPr lang="es-MX" sz="2000" dirty="0"/>
          </a:p>
          <a:p>
            <a:pPr algn="just">
              <a:buNone/>
            </a:pPr>
            <a:r>
              <a:rPr lang="es-MX" sz="2000" dirty="0"/>
              <a:t>Lugar donde se almacenan los trenes durante las horas de suspensión del servicio, se tienen naves para 20 trenes de nueve carros, con 10 vías, de 325 metros de largo.</a:t>
            </a:r>
          </a:p>
          <a:p>
            <a:pPr algn="just">
              <a:buNone/>
            </a:pPr>
            <a:r>
              <a:rPr lang="es-MX" sz="2000" dirty="0"/>
              <a:t> </a:t>
            </a:r>
          </a:p>
          <a:p>
            <a:pPr algn="just">
              <a:buNone/>
            </a:pPr>
            <a:r>
              <a:rPr lang="es-MX" sz="2000" dirty="0"/>
              <a:t> </a:t>
            </a:r>
          </a:p>
          <a:p>
            <a:pPr algn="just">
              <a:buNone/>
            </a:pPr>
            <a:r>
              <a:rPr lang="es-MX" sz="2000" dirty="0"/>
              <a:t> </a:t>
            </a:r>
          </a:p>
          <a:p>
            <a:pPr algn="just">
              <a:buNone/>
            </a:pPr>
            <a:r>
              <a:rPr lang="es-MX" sz="2000" dirty="0"/>
              <a:t> </a:t>
            </a:r>
          </a:p>
          <a:p>
            <a:pPr algn="just">
              <a:buNone/>
            </a:pPr>
            <a:endParaRPr lang="es-MX" sz="2000" dirty="0"/>
          </a:p>
          <a:p>
            <a:pPr algn="just">
              <a:buNone/>
            </a:pPr>
            <a:r>
              <a:rPr lang="es-MX" sz="2000" dirty="0"/>
              <a:t> </a:t>
            </a:r>
          </a:p>
          <a:p>
            <a:pPr algn="just">
              <a:buNone/>
            </a:pPr>
            <a:br>
              <a:rPr lang="es-MX" sz="2000" dirty="0"/>
            </a:br>
            <a:r>
              <a:rPr lang="es-MX" sz="2000" b="1" dirty="0"/>
              <a:t>TALLER DE SERVICIO DE SUBESTACIONES. </a:t>
            </a:r>
            <a:endParaRPr lang="es-MX" sz="2000" dirty="0"/>
          </a:p>
          <a:p>
            <a:pPr algn="just">
              <a:buNone/>
            </a:pPr>
            <a:r>
              <a:rPr lang="es-MX" sz="2000" dirty="0"/>
              <a:t>En este taller se repara y prueba el equipo eléctrico y electrónico, como el material rodante, o el de puestos de rectificación, el de las subestaciones de alumbrado y fuerza, de acuerdo a las normas con las que se basan.</a:t>
            </a:r>
          </a:p>
        </p:txBody>
      </p:sp>
      <p:graphicFrame>
        <p:nvGraphicFramePr>
          <p:cNvPr id="1026" name="Object 2"/>
          <p:cNvGraphicFramePr>
            <a:graphicFrameLocks noChangeAspect="1"/>
          </p:cNvGraphicFramePr>
          <p:nvPr>
            <p:extLst>
              <p:ext uri="{D42A27DB-BD31-4B8C-83A1-F6EECF244321}">
                <p14:modId xmlns:p14="http://schemas.microsoft.com/office/powerpoint/2010/main" val="1107950025"/>
              </p:ext>
            </p:extLst>
          </p:nvPr>
        </p:nvGraphicFramePr>
        <p:xfrm>
          <a:off x="4114800" y="2571750"/>
          <a:ext cx="3962400" cy="1714500"/>
        </p:xfrm>
        <a:graphic>
          <a:graphicData uri="http://schemas.openxmlformats.org/presentationml/2006/ole">
            <mc:AlternateContent xmlns:mc="http://schemas.openxmlformats.org/markup-compatibility/2006">
              <mc:Choice xmlns:v="urn:schemas-microsoft-com:vml" Requires="v">
                <p:oleObj spid="_x0000_s2055" r:id="rId3" imgW="10752381" imgH="7020905" progId="">
                  <p:embed/>
                </p:oleObj>
              </mc:Choice>
              <mc:Fallback>
                <p:oleObj r:id="rId3" imgW="10752381" imgH="7020905" progId="">
                  <p:embed/>
                  <p:pic>
                    <p:nvPicPr>
                      <p:cNvPr id="10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571750"/>
                        <a:ext cx="3962400" cy="1714500"/>
                      </a:xfrm>
                      <a:prstGeom prst="rect">
                        <a:avLst/>
                      </a:prstGeom>
                      <a:noFill/>
                      <a:extLst>
                        <a:ext uri="{909E8E84-426E-40DD-AFC4-6F175D3DCCD1}">
                          <a14:hiddenFill xmlns:a14="http://schemas.microsoft.com/office/drawing/2010/main">
                            <a:solidFill>
                              <a:srgbClr val="BBE0E3"/>
                            </a:solidFill>
                          </a14:hiddenFill>
                        </a:ext>
                      </a:extLst>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04799" y="254137"/>
            <a:ext cx="11661913" cy="6146663"/>
          </a:xfrm>
        </p:spPr>
        <p:txBody>
          <a:bodyPr>
            <a:normAutofit/>
          </a:bodyPr>
          <a:lstStyle/>
          <a:p>
            <a:pPr algn="just">
              <a:buNone/>
            </a:pPr>
            <a:r>
              <a:rPr lang="es-MX" sz="1700" b="1" dirty="0"/>
              <a:t>TALLER DE VÍA.</a:t>
            </a:r>
            <a:endParaRPr lang="es-MX" sz="1700" dirty="0"/>
          </a:p>
          <a:p>
            <a:pPr algn="just">
              <a:buNone/>
            </a:pPr>
            <a:r>
              <a:rPr lang="es-MX" sz="1700" dirty="0"/>
              <a:t>Este taller en sus instalaciones cuenta con el equipo  para el mantenimiento a las vías del sistema para que esta actividad debe llevarse a cabo, exclusivamente durante el tiempo en que se suspende el servicio.</a:t>
            </a:r>
          </a:p>
          <a:p>
            <a:pPr algn="just">
              <a:buNone/>
            </a:pPr>
            <a:r>
              <a:rPr lang="es-ES" sz="1700" dirty="0"/>
              <a:t>Sabemos que el </a:t>
            </a:r>
            <a:r>
              <a:rPr lang="es-MX" sz="1700" dirty="0"/>
              <a:t>metro utiliza una vía formada por tres partes o rieles de acero, paralelos</a:t>
            </a:r>
            <a:r>
              <a:rPr lang="es-ES" sz="1700" dirty="0"/>
              <a:t> los cuales son:</a:t>
            </a:r>
            <a:endParaRPr lang="es-MX" sz="1700" dirty="0"/>
          </a:p>
          <a:p>
            <a:pPr algn="just"/>
            <a:r>
              <a:rPr lang="es-MX" sz="1700" dirty="0"/>
              <a:t>Barra de rodamientos sobre los que se apoyan las llantas neumáticas de carga.</a:t>
            </a:r>
          </a:p>
          <a:p>
            <a:pPr algn="just"/>
            <a:r>
              <a:rPr lang="es-MX" sz="1700" dirty="0"/>
              <a:t>Barra guía ubicados a los lados de la pista, en donde se apoyan las llantas neumáticas horizontales de menor diámetro.</a:t>
            </a:r>
          </a:p>
          <a:p>
            <a:pPr algn="just"/>
            <a:r>
              <a:rPr lang="es-MX" sz="1700" dirty="0"/>
              <a:t> Barra guía de seguridad, sobre la que se apoyan las ruedas metálicas adicionales.</a:t>
            </a:r>
          </a:p>
          <a:p>
            <a:pPr algn="just">
              <a:buNone/>
            </a:pPr>
            <a:r>
              <a:rPr lang="es-MX" sz="1700" dirty="0"/>
              <a:t>En este mismo taller se encuentra el</a:t>
            </a:r>
            <a:r>
              <a:rPr lang="es-MX" sz="1700" b="1" dirty="0"/>
              <a:t>  taller de maquinado de durmientes y </a:t>
            </a:r>
            <a:r>
              <a:rPr lang="es-MX" sz="1700" b="1" dirty="0" err="1"/>
              <a:t>roladora</a:t>
            </a:r>
            <a:r>
              <a:rPr lang="es-MX" sz="1700" b="1" dirty="0"/>
              <a:t> de pistas. </a:t>
            </a:r>
            <a:r>
              <a:rPr lang="es-MX" sz="1700" dirty="0"/>
              <a:t>Los durmientes de la vía son de madera de </a:t>
            </a:r>
            <a:r>
              <a:rPr lang="es-MX" sz="1700" dirty="0" err="1"/>
              <a:t>azobe</a:t>
            </a:r>
            <a:r>
              <a:rPr lang="es-MX" sz="1700" dirty="0"/>
              <a:t>, de gran dureza y resistencia. El taller tiene un capacidad instalada para habilitar 750 durmiente por día.</a:t>
            </a:r>
          </a:p>
          <a:p>
            <a:pPr algn="just">
              <a:buNone/>
            </a:pPr>
            <a:r>
              <a:rPr lang="es-ES" sz="1700" dirty="0"/>
              <a:t> </a:t>
            </a:r>
            <a:endParaRPr lang="es-MX" sz="1700" dirty="0"/>
          </a:p>
          <a:p>
            <a:pPr algn="just">
              <a:buNone/>
            </a:pPr>
            <a:r>
              <a:rPr lang="es-MX" sz="1700" b="1" dirty="0"/>
              <a:t>TALLER DE FRENOS. </a:t>
            </a:r>
            <a:endParaRPr lang="es-MX" sz="1700" dirty="0"/>
          </a:p>
          <a:p>
            <a:pPr algn="just">
              <a:buNone/>
            </a:pPr>
            <a:r>
              <a:rPr lang="es-MX" sz="1700" dirty="0"/>
              <a:t>Este taller es destinado a procesar la madera que se emplea en las zapatas de los frenos, por medio de máquinas y herramientas especiales, está equipado con los elementos necesarios para el tratamiento de impregnación de dichas zapatas.</a:t>
            </a:r>
          </a:p>
        </p:txBody>
      </p:sp>
      <p:graphicFrame>
        <p:nvGraphicFramePr>
          <p:cNvPr id="2050" name="Object 2"/>
          <p:cNvGraphicFramePr>
            <a:graphicFrameLocks noChangeAspect="1"/>
          </p:cNvGraphicFramePr>
          <p:nvPr>
            <p:extLst>
              <p:ext uri="{D42A27DB-BD31-4B8C-83A1-F6EECF244321}">
                <p14:modId xmlns:p14="http://schemas.microsoft.com/office/powerpoint/2010/main" val="2703545559"/>
              </p:ext>
            </p:extLst>
          </p:nvPr>
        </p:nvGraphicFramePr>
        <p:xfrm>
          <a:off x="4705343" y="5327375"/>
          <a:ext cx="2781314" cy="1422263"/>
        </p:xfrm>
        <a:graphic>
          <a:graphicData uri="http://schemas.openxmlformats.org/presentationml/2006/ole">
            <mc:AlternateContent xmlns:mc="http://schemas.openxmlformats.org/markup-compatibility/2006">
              <mc:Choice xmlns:v="urn:schemas-microsoft-com:vml" Requires="v">
                <p:oleObj spid="_x0000_s3079" r:id="rId3" imgW="10790476" imgH="6942857" progId="">
                  <p:embed/>
                </p:oleObj>
              </mc:Choice>
              <mc:Fallback>
                <p:oleObj r:id="rId3" imgW="10790476" imgH="6942857" progId="">
                  <p:embed/>
                  <p:pic>
                    <p:nvPicPr>
                      <p:cNvPr id="20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343" y="5327375"/>
                        <a:ext cx="2781314" cy="1422263"/>
                      </a:xfrm>
                      <a:prstGeom prst="rect">
                        <a:avLst/>
                      </a:prstGeom>
                      <a:noFill/>
                      <a:extLst>
                        <a:ext uri="{909E8E84-426E-40DD-AFC4-6F175D3DCCD1}">
                          <a14:hiddenFill xmlns:a14="http://schemas.microsoft.com/office/drawing/2010/main">
                            <a:solidFill>
                              <a:srgbClr val="BBE0E3"/>
                            </a:solidFill>
                          </a14:hiddenFill>
                        </a:ext>
                      </a:extLst>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4800" y="188181"/>
            <a:ext cx="10058400" cy="1371600"/>
          </a:xfrm>
        </p:spPr>
        <p:txBody>
          <a:bodyPr>
            <a:normAutofit fontScale="90000"/>
          </a:bodyPr>
          <a:lstStyle/>
          <a:p>
            <a:r>
              <a:rPr lang="es-MX" dirty="0"/>
              <a:t>PUESTO DE CONTROL.</a:t>
            </a:r>
            <a:br>
              <a:rPr lang="es-MX" dirty="0"/>
            </a:br>
            <a:endParaRPr lang="es-MX" dirty="0"/>
          </a:p>
        </p:txBody>
      </p:sp>
      <p:sp>
        <p:nvSpPr>
          <p:cNvPr id="3" name="2 Marcador de contenido"/>
          <p:cNvSpPr>
            <a:spLocks noGrp="1"/>
          </p:cNvSpPr>
          <p:nvPr>
            <p:ph idx="1"/>
          </p:nvPr>
        </p:nvSpPr>
        <p:spPr>
          <a:xfrm>
            <a:off x="198783" y="837538"/>
            <a:ext cx="8183217" cy="6020462"/>
          </a:xfrm>
        </p:spPr>
        <p:txBody>
          <a:bodyPr>
            <a:normAutofit/>
          </a:bodyPr>
          <a:lstStyle/>
          <a:p>
            <a:pPr algn="just">
              <a:buNone/>
            </a:pPr>
            <a:r>
              <a:rPr lang="es-MX" b="1" dirty="0"/>
              <a:t>Puesto Central de Control (PCC):</a:t>
            </a:r>
            <a:r>
              <a:rPr lang="es-MX" dirty="0"/>
              <a:t>Aquí se supervisa la circulación de los trenes de las 10 líneas neumáticas por medio de tableros de control óptico. Para garantizar el funcionamiento óptimo de los trenes se mantiene comunicación directa con los conductores de los trenes. En esta sala con capacidad para seis líneas tiene un tablero de control óptico por cada una de ellas, que permite observar el desplazamiento de los trenes en las vías, ajustar los intervalos entre ellos y establecer comunicación directa y constante entre los operadores de estos tableros y los conductores de los trenes, auxiliándose con la utilización de computadoras que aseguran una coordinación eficiente este tiene otras instalaciones que son:</a:t>
            </a:r>
          </a:p>
          <a:p>
            <a:pPr algn="just">
              <a:buNone/>
            </a:pPr>
            <a:r>
              <a:rPr lang="es-MX" b="1" dirty="0"/>
              <a:t>Puesto de Control de Línea (PCL):</a:t>
            </a:r>
            <a:r>
              <a:rPr lang="es-MX" dirty="0"/>
              <a:t>En esta sala se supervisa la circulación de los trenes de la línea "A" que es férrea, por medio de tableros de control óptico. Se mantiene comunicación directa con los conductores de los trenes, auxiliándose de computadoras que aseguran una coordinación eficiente. </a:t>
            </a:r>
          </a:p>
          <a:p>
            <a:pPr algn="just">
              <a:buNone/>
            </a:pPr>
            <a:r>
              <a:rPr lang="es-MX" b="1" dirty="0"/>
              <a:t>Puesto de Despacho de Carga (PDC):</a:t>
            </a:r>
            <a:r>
              <a:rPr lang="es-MX" dirty="0"/>
              <a:t>En esta área se encuentra el sistema que permite controlar la distribución de la corriente eléctrica que suministra la Comisión Federal de Electricidad.</a:t>
            </a:r>
          </a:p>
          <a:p>
            <a:endParaRPr lang="es-MX" dirty="0"/>
          </a:p>
        </p:txBody>
      </p:sp>
      <p:pic>
        <p:nvPicPr>
          <p:cNvPr id="4" name="3 Imagen" descr="visitasg2"/>
          <p:cNvPicPr/>
          <p:nvPr/>
        </p:nvPicPr>
        <p:blipFill>
          <a:blip r:embed="rId3">
            <a:extLst>
              <a:ext uri="{28A0092B-C50C-407E-A947-70E740481C1C}">
                <a14:useLocalDpi xmlns:a14="http://schemas.microsoft.com/office/drawing/2010/main" val="0"/>
              </a:ext>
            </a:extLst>
          </a:blip>
          <a:srcRect/>
          <a:stretch>
            <a:fillRect/>
          </a:stretch>
        </p:blipFill>
        <p:spPr bwMode="auto">
          <a:xfrm>
            <a:off x="8382000" y="759681"/>
            <a:ext cx="3505200" cy="1600200"/>
          </a:xfrm>
          <a:prstGeom prst="rect">
            <a:avLst/>
          </a:prstGeom>
          <a:noFill/>
          <a:ln>
            <a:noFill/>
          </a:ln>
        </p:spPr>
      </p:pic>
      <p:pic>
        <p:nvPicPr>
          <p:cNvPr id="5" name="4 Imagen" descr="Imagen00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2000" y="4118747"/>
            <a:ext cx="3733800" cy="2247900"/>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71669" y="367747"/>
            <a:ext cx="11648661" cy="6122505"/>
          </a:xfrm>
        </p:spPr>
        <p:txBody>
          <a:bodyPr>
            <a:normAutofit lnSpcReduction="10000"/>
          </a:bodyPr>
          <a:lstStyle/>
          <a:p>
            <a:pPr algn="just">
              <a:buNone/>
            </a:pPr>
            <a:r>
              <a:rPr lang="es-MX" sz="2000" b="1" dirty="0"/>
              <a:t>Mando Centralizado: </a:t>
            </a:r>
            <a:r>
              <a:rPr lang="es-MX" sz="2000" dirty="0"/>
              <a:t>En esta área se encuentra el sistema automatizado que conforma el Pilotaje Automático, este envia y recibe información que emiten los trenes y señales electrónicas en vías; así se puede tener control y registro sobre las condiciones de tráfico en la Red.</a:t>
            </a:r>
          </a:p>
          <a:p>
            <a:pPr algn="just">
              <a:buNone/>
            </a:pPr>
            <a:r>
              <a:rPr lang="es-ES" sz="2000" dirty="0"/>
              <a:t>Allí mismo está el "Centro de Comunicaciones" encargado de canalizar las comunicaciones, anomalías en las instalaciones, eventualidades sucedidas con usuarios y de la solicitud en su caso de los servicios de emergencia, en cualquier lugar de la red.</a:t>
            </a:r>
            <a:endParaRPr lang="es-MX" sz="2000" dirty="0"/>
          </a:p>
          <a:p>
            <a:pPr algn="just">
              <a:buNone/>
            </a:pPr>
            <a:r>
              <a:rPr lang="es-MX" sz="2000" dirty="0"/>
              <a:t>En las plantas restantes se localizan equipos eléctricos y electrónicos que permiten llevar a cabo la operación del sistema con los mayores rangos de seguridad, así como permanencias y laboratorios del personal encargado de realizar el mantenimiento de estos antes mencionados.</a:t>
            </a:r>
          </a:p>
          <a:p>
            <a:pPr algn="just">
              <a:buNone/>
            </a:pPr>
            <a:r>
              <a:rPr lang="es-MX" sz="2000" b="1" dirty="0"/>
              <a:t>Mando centralizado de tráfico</a:t>
            </a:r>
            <a:r>
              <a:rPr lang="es-MX" sz="2000" dirty="0"/>
              <a:t>. Se cuenta con un sistema computarizado, que programa la regulación del tráfico, permitiendo el paso de los trenes en forma constante, con un intervalo mínimo de 105 segundos, independientemente del tiempo de las paradas  en las estaciones o cualquier incidencia que se presente en la línea.</a:t>
            </a:r>
          </a:p>
          <a:p>
            <a:pPr algn="just">
              <a:buNone/>
            </a:pPr>
            <a:r>
              <a:rPr lang="es-MX" sz="2000" b="1" dirty="0"/>
              <a:t>Mando centralizado de tracción</a:t>
            </a:r>
            <a:r>
              <a:rPr lang="es-MX" sz="2000" dirty="0"/>
              <a:t>. En la parte inferior del propio tablero de control óptico de tráfico se tiene desplegada la información de la distribución de la energía, dando la posibilidad al regulador de cortar o puentear, en caso de una falla, alguna subestación de rectificación con objeto de garantizar el servicio total o parcial de la línea.</a:t>
            </a:r>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66800" y="669897"/>
            <a:ext cx="10058400" cy="5518205"/>
          </a:xfrm>
        </p:spPr>
        <p:txBody>
          <a:bodyPr>
            <a:normAutofit/>
          </a:bodyPr>
          <a:lstStyle/>
          <a:p>
            <a:pPr algn="just">
              <a:buNone/>
            </a:pPr>
            <a:r>
              <a:rPr lang="es-MX" sz="2000" b="1" dirty="0"/>
              <a:t>Telecomunicaciones.</a:t>
            </a:r>
            <a:r>
              <a:rPr lang="es-MX" sz="2000" dirty="0"/>
              <a:t> Se ha diseñado una red de telecomunicaciones que comprende la telefonía automática centralizada por un conmutador principal y sus diferentes equipos periféricos.</a:t>
            </a:r>
          </a:p>
          <a:p>
            <a:pPr algn="just">
              <a:buNone/>
            </a:pPr>
            <a:r>
              <a:rPr lang="es-MX" sz="2000" b="1" dirty="0"/>
              <a:t>Telefonía automática</a:t>
            </a:r>
            <a:r>
              <a:rPr lang="es-MX" sz="2000" dirty="0"/>
              <a:t>. En cada uno de los locales siguientes: taquilla, oficina, local de mantenimiento, talleres, cabecera de andén, nicho de tracción, local técnico, subestación de rectificación y subestación de alumbrado y fuerza, existe una extensión telefónica del conmutador principal de la red interna del Metro.</a:t>
            </a:r>
          </a:p>
          <a:p>
            <a:pPr algn="just">
              <a:buNone/>
            </a:pPr>
            <a:r>
              <a:rPr lang="es-MX" sz="2000" b="1" dirty="0"/>
              <a:t>   Telefonía directa</a:t>
            </a:r>
            <a:r>
              <a:rPr lang="es-MX" sz="2000" dirty="0"/>
              <a:t>. Esta comunicación, se tiene al centro de ambos andenes de todas las estaciones y tiene como característica importante que con sólo levantar al articular, se logra la comunicación con el Puesto Central de Control.</a:t>
            </a:r>
          </a:p>
          <a:p>
            <a:pPr algn="just">
              <a:buNone/>
            </a:pPr>
            <a:r>
              <a:rPr lang="es-MX" sz="2000" b="1" dirty="0"/>
              <a:t>  Telefonía de trenes</a:t>
            </a:r>
            <a:r>
              <a:rPr lang="es-MX" sz="2000" dirty="0"/>
              <a:t>. Se utiliza la barra guía como elemento común, tanto para proporcionar la corriente positiva para alimentar los trenes, como para la transmisión de voz, que permite la comunicación con los operadores de los mismos.</a:t>
            </a:r>
          </a:p>
          <a:p>
            <a:endParaRPr lang="es-MX"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359</TotalTime>
  <Words>9076</Words>
  <Application>Microsoft Office PowerPoint</Application>
  <PresentationFormat>Panorámica</PresentationFormat>
  <Paragraphs>599</Paragraphs>
  <Slides>85</Slides>
  <Notes>1</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85</vt:i4>
      </vt:variant>
    </vt:vector>
  </HeadingPairs>
  <TitlesOfParts>
    <vt:vector size="93" baseType="lpstr">
      <vt:lpstr>Arial</vt:lpstr>
      <vt:lpstr>Calibri</vt:lpstr>
      <vt:lpstr>Century Gothic</vt:lpstr>
      <vt:lpstr>Garamond</vt:lpstr>
      <vt:lpstr>Times New Roman</vt:lpstr>
      <vt:lpstr>Wingdings</vt:lpstr>
      <vt:lpstr>Savon</vt:lpstr>
      <vt:lpstr>Unknown</vt:lpstr>
      <vt:lpstr>Etapas de Construcción de la red del STC Metro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Red del Sistema de Transporte Colectivo Metro</vt:lpstr>
      <vt:lpstr>Presentación de PowerPoint</vt:lpstr>
      <vt:lpstr>Presentación de PowerPoint</vt:lpstr>
      <vt:lpstr>Presentación de PowerPoint</vt:lpstr>
      <vt:lpstr>Presentación de PowerPoint</vt:lpstr>
      <vt:lpstr>Presentación de PowerPoint</vt:lpstr>
      <vt:lpstr>Infraestructura General del S.T.C.</vt:lpstr>
      <vt:lpstr>Presentación de PowerPoint</vt:lpstr>
      <vt:lpstr>Presentación de PowerPoint</vt:lpstr>
      <vt:lpstr>PARQUE VEHICULAR DEL STC METRO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CONFIGURACION DE LOS TRENES NEUMÁTICOS </vt:lpstr>
      <vt:lpstr>Presentación de PowerPoint</vt:lpstr>
      <vt:lpstr>ALIMENTACIÓN DE ENERGÍA ELÉCTRICA</vt:lpstr>
      <vt:lpstr>SUBESTACION RECEPTORA S.T.C. (PRINCIPAL 140 MVA). </vt:lpstr>
      <vt:lpstr>Presentación de PowerPoint</vt:lpstr>
      <vt:lpstr>DISTRIBUCION DE ENERGIA </vt:lpstr>
      <vt:lpstr>SUBESTACIONES RECTIFICADORAS. </vt:lpstr>
      <vt:lpstr>Presentación de PowerPoint</vt:lpstr>
      <vt:lpstr>ALIMENTACIÓN PARA LA TRACCIÓN A LOS TRENES. </vt:lpstr>
      <vt:lpstr>ALUMBRADO EN LOS TRENES. </vt:lpstr>
      <vt:lpstr>  SUBESTACIONES DE ALUMBRADO Y FUERZA. </vt:lpstr>
      <vt:lpstr>NIVELES DE ILUMINACION EN AREAS </vt:lpstr>
      <vt:lpstr>FUERZA </vt:lpstr>
      <vt:lpstr>SISTEMAS DE VENTILACIÓN </vt:lpstr>
      <vt:lpstr>COMPOSICION DE LOS TRENES </vt:lpstr>
      <vt:lpstr>Presentación de PowerPoint</vt:lpstr>
      <vt:lpstr>DESCRIPCION DE LOS CARRROS. </vt:lpstr>
      <vt:lpstr>Presentación de PowerPoint</vt:lpstr>
      <vt:lpstr>Presentación de PowerPoint</vt:lpstr>
      <vt:lpstr>Presentación de PowerPoint</vt:lpstr>
      <vt:lpstr>Presentación de PowerPoint</vt:lpstr>
      <vt:lpstr>Presentación de PowerPoint</vt:lpstr>
      <vt:lpstr>Presentación de PowerPoint</vt:lpstr>
      <vt:lpstr>TIPO DE ACOPLAMIENTOS.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frenado.</vt:lpstr>
      <vt:lpstr>Presentación de PowerPoint</vt:lpstr>
      <vt:lpstr>Presentación de PowerPoint</vt:lpstr>
      <vt:lpstr>Señalización.   </vt:lpstr>
      <vt:lpstr>Presentación de PowerPoint</vt:lpstr>
      <vt:lpstr>Presentación de PowerPoint</vt:lpstr>
      <vt:lpstr>Presentación de PowerPoint</vt:lpstr>
      <vt:lpstr>Talleres</vt:lpstr>
      <vt:lpstr>Presentación de PowerPoint</vt:lpstr>
      <vt:lpstr>Presentación de PowerPoint</vt:lpstr>
      <vt:lpstr>MANTENIMIENTO PREVENTIVO </vt:lpstr>
      <vt:lpstr>MANTENIMIENTO CORRECTIVO. </vt:lpstr>
      <vt:lpstr>MANTENIMIENTO PREDICTIVO. </vt:lpstr>
      <vt:lpstr>TALLER DE REVISIÓN GENERAL. </vt:lpstr>
      <vt:lpstr>Presentación de PowerPoint</vt:lpstr>
      <vt:lpstr>Presentación de PowerPoint</vt:lpstr>
      <vt:lpstr>PUESTO DE CONTROL.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Politécnico Nacional Escuela Superior de Ingeniería Mecánica y Eléctrica Unidad Zacatenco  Sistemas de Tracción Eléctrica  “Sistema de Transporte Colectivo Metro”</dc:title>
  <dc:creator>Jani Mtz Hdz</dc:creator>
  <cp:lastModifiedBy>OSCAR CH</cp:lastModifiedBy>
  <cp:revision>37</cp:revision>
  <dcterms:created xsi:type="dcterms:W3CDTF">2018-11-13T04:59:56Z</dcterms:created>
  <dcterms:modified xsi:type="dcterms:W3CDTF">2020-12-03T19:35:38Z</dcterms:modified>
</cp:coreProperties>
</file>